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老师好！我们是大连理工大学「你们说的对」团队，我是本场答辩代表。我们的作品叫声盾，一句话定位：在接起电话的那一刻，给普通人一个验真声音的办法——边通话、边检测、边存证。待会儿的演示环节，欢迎各位评委任意给一段文本，我们当场合成、当场检出。它是怎么做到的？请看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一通电话说起。「妈，是我啊，手机摔坏了，急需八千块周转」——声音、语气、口头禅都对，这通电话里唯一的假货，就是声音本身。威胁不是未来时：2024年香港深伪视频会议诈骗，职员被AI仿冒的高管骗走2亿港元；今天克隆一个声音只要分钟级采样，几秒公开音频就能复刻声纹，商业服务已经消费级化；而纯语音伪装在电话里没有任何肉眼可查的痕印。可在通话进行中，普通人可用的验真手段是0个——这就是我们要补的位置。三类高发话术——冒充亲友、公检法、领导——平台现场合成挑战都已预置。政策框架已经就位，用户侧工具仍然缺位。反诈的最后一公里，就卡在接听的那几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命题念出来：这一通电话里的声音，到底是不是AI合成的？声盾只回答这一个问题——不做通用鉴伪、不做换脸检测、也不做训练隐私；正因为是一个判断题，才敢把准确率、时延、证据链三件事同时交给用户。命题拆解是一条流水线：通话音频流、逐窗判决、整段结论加置信度、证据链固定入库。选题上，我们用大连理工大学2022到2024年九件全国获奖作品、含两件国家一等奖的获奖规律校准过，评委三秒就能懂。下面四条取向各一句：一件小事做穿，题目即卖点；指标可算，每个数字都能复现；风口之上，反诈法与深度合成治理双支点；三两人闭环，小团队也能交付完整作品。收一句：单点深挖不是保守，是把一件对的事做到能被检验的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五层，从下往上过一遍：L1采集，把麦克风实时流、文件导入和现场合成统一成16kHz单声道标准输入；L2是全片最厚的检测引擎，纯TypeScript零依赖，八维特征加2秒窗、1秒步进的滑窗，DSP基座是FFT加Hann窗加自相关基音；L3用中值滤波、指数平滑、能量加权融合出整段判决，检出阈值0.72，四级风险分级的线在0.35、0.55、0.75；L4做SHA-256证据固定、SS-日期-序号案件编号、WAV证据下载和八章核验报告；L5单页展示零跳转。重点是同构引擎：浏览器和服务端跑同一份代码，检测结束还会自动POST服务端复核、两遍一致才入库——这是证据链成立的前提。为什么敢说能落地？纯CPU、一套语言栈、SQLite本地落盘可审计，四个接口都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先亮立场：不追黑盒精度，追可审计——这是反诈取证的刚性要求。主角是自研的高频周期性：掩蔽谱IFFT取高频段信号，在基音周期处做自相关；声码器把谐波延展到4到8kHz，自然人声那里几乎只有气息噪声，这道生理天花板很难伪装，类间分离度1.28、拟合权重0.289。其余七维都在刻画同一件事：自然发声的生理抖动，对上声码器的机器稳定——谐波规整度、基音微扰、谱通量波动都是这个逻辑。判决融合是一条显式公式链：z标准化、加权逻辑回归、中值滤波加EMA加能量加权，静音窗提前排除；宽带八维、窄带五维随信道自适应。被数据证伪的高频谱平坦度，也诚实保留在列表里。可解释的含义是：每个判决都能拆到物理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权重从哪儿来，四步：构造样本——自然五种公开人声、TTS七音色×三文本，再造窄带版，共50条；按信道拟合自然先验——宽带窄带各一套均值方差；类加权逻辑回归定权——自然类加权四倍，防止把自然人声错杀；混淆矩阵加留一法双重验证，权重过零的特征自动出局。最有意思的是证伪这件事，我讲慢一点：高频谱平坦度，文献和直觉都说该有效，实测分离度只有 0.10，权重自动归零；自研的高频周期性反而拿到 1.28，在数据上站住了。所以我认一个理——先拟合、后信任。校准之后又扩了自然鲁棒变体和合成退化变体，共105文件×双信道210条判决，下一页见。校准脚本随作品提交，样本扩展后可一键重拟合。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六个指标先念：宽带合成检出 20/20，自然放行 4/5，扩展集 F1 0.917，纯 CPU 实时因子 0.003 到 0.015，单窗 P99 九点一亳秒，时延不超过 1 秒。分组明细也摆出来：自然原始 0.80、自然鲁棒变体 0.80、合成校准集 0.90、合成退化变体 0.783——最难的是退化变体。两条边界主动摆出来：窄带 16/20，是电话带宽直接抹掉高频信息，退化如实标注不藏着；有声书 10/50 误判，棚级自然音太干净与轻量特征耦合，这正是启动深度引擎的动机，不靠调参掩盖。指标分三层口径，不把计划中的 EER 包装成已有结果。RTF 分布 p50 0.0064、p95 0.0082，210 条判决测试报告可查。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创新先讲：既有研究和同方向获奖作品做的都是事后检测一段文件，声盾把检测搬进通话里——滑窗流式管线边通话、边判决、检出即告警，提前一分钟的告警可能直接拦下一笔转账。快不是堆算力堆出来的：零依赖纯TS引擎在普通CPU上就留足余量，实测 RTF 中位数 0.0064，能进手机、进浏览器、进电话风控链路。四个副点各一句：可解释引擎加数据校准，让结论可信；检测到报告的闭环，结论无须二次加工即可进入举报协查，让结论可用；双哈希锚定证明音频确由现场生成、无法事后构造，让演示可验；四级合成链逐级降级、限流也不中断、界面如实标注，让演示永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就三步：先现场合成——评委任意输入文本，服务端当场合成诈骗话术语音，原始WAV和分析副本分别SHA-256入库，证明音频确系现场生成；再实时鉴听——波形滚动、逐窗置信度刷新，高置信片段红色告警加提示音，可以随时叫停追问时间戳；最后存证报告——SHA-256固定、生成SS-日期-序号案件编号、案例库当场调出、导出八章核验报告。容错也交代一句：四级合成链逐级降级，限流时自动回放预置样本且界面如实标注——演示永不中断，诚实的降级也是产品的一部分。全程不依赖预置素材：文本评委给、音频现场生成、双哈希无法事后构造。欢迎各位亲手出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致敬：谛听、白泽都是值得尊敬的作品，差异不在高下、在切入点——它们做事后的文件，声盾做进行中的通话。对照表七个维度逐行念关键差异：对象上它们是离线文件和深伪视频，我们是实时通话语音流；核心上谛听是三个深度网络集成、白泽是联邦学习，我们是可解释轻量引擎加流式滑窗加双端复核；实时性上我们边通话边判决、RTF小于0.015；可解释上八维特征逐窗可溯、判决可拆到物理层；形态上我们把检测、告警、存证、报告做成闭环；口径上报 RTF 实测与校准集检出率，EER 留给深度引擎阶段；部署上普通 CPU、浏览器即可。我们不在更低 EER 上正面竞争，而在实时性、闭环、可解释上补位；十二周计划会把谛听验证过的 AASIST、RawGAT-ST 集成进来——站在肩膀上，而非替代。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众侧我想用一位具体用户来讲：王阿姨接到儿子电话，声音一模一样、开口就要钱。若她手机里装着声盾，接通几秒界面就亮起黄色提示，挂断前证据已固定、编号已生成，报告可一键转发给子女或反诈专线。适老化不是缩小版：大字号、高对比、语音播报提示，子女可为父母预装。机构侧有三个接入位：银行电话渠道大额转账的附加风控信号、反诈中心举报材料的标准化载体、内容平台语音内容的实时审核；治理侧对应反诈法与深度合成管理规定；推广三步走：校园演示、社区适老预装、机构风控嵌入。最后主动念边界：声盾定位辅助验真，结论附带置信度与不确定性说明，不构成执法结论——这句我必须说，这是诚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先说态度：轻量可解释引擎是我们第一阶段的诚实交付，深度引擎不是推翻它，而是把有声书误判、窄带退化这两个已知边界补上。为什么十二周走得完？三个理由：底座全部开源，AASIST、RawGAT-ST、Rawboost 都有官方复现流程；接口已预留，业务层只认引擎接口不认实现，ONNX替换后检测、存证、报告零改动；每两周一个可检验交付物，进度可验收。算力边界也说死：全程以 CPU 推理为硬约束，量化不达标就用蒸馏兜底，不上 GPU。五段各一句：W01–02 按官方流程复现 AASIST 基线、交付 EER 同量级基线；W03–05 RawGAT-ST 训练加软投票集成，交付消融表；W06–07 ONNX 动态量化做 CPU 推理，交付 RTF 小于 1 的实测；W10 跨信道评测，自建 8kHz 窄带子集；W11–12 联调与答辩定稿。开源底座都是现成项目，架构已预留 ONNX 替换接口、业务层零改动。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十五秒收尾，我念一句收束语：下一次接到熟人来电，希望几秒钟后，你能有一个可以相信的答案。再提醒各位评委三件事：现场演示随时可以出题、证据链与案件库可以当场复核、引擎与测试代码随作品提交。全套材料也在仓库里：可运行平台、引擎源码与测试套件、校准数据、24页技术报告和21页测试报告，210条判决全量可复核。谢谢聆听，恳请各位评委批评指正——也诚挚邀请大家现在就出题，我们当场合成、当场检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57175"/>
            <a:ext cx="7524043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42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全国大学生信息安全竞赛 · 作品赛 · 应用安全（内容安全）</a:t>
            </a:r>
            <a:endParaRPr lang="en-US" sz="703" dirty="0"/>
          </a:p>
        </p:txBody>
      </p:sp>
      <p:sp>
        <p:nvSpPr>
          <p:cNvPr id="3" name="Text 1"/>
          <p:cNvSpPr/>
          <p:nvPr/>
        </p:nvSpPr>
        <p:spPr>
          <a:xfrm>
            <a:off x="8109831" y="264319"/>
            <a:ext cx="68616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98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2026.10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325" y="442913"/>
            <a:ext cx="3114675" cy="1000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29325" y="442913"/>
            <a:ext cx="3114675" cy="10001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29325" y="1443038"/>
            <a:ext cx="3114675" cy="500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1500" y="1200150"/>
            <a:ext cx="6161484" cy="18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spc="422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SHIELDEAR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571500" y="1530883"/>
            <a:ext cx="6572250" cy="81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67"/>
              </a:lnSpc>
              <a:buNone/>
            </a:pPr>
            <a:r>
              <a:rPr lang="en-US" sz="5850" b="1" spc="234" kern="0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声盾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571500" y="2502991"/>
            <a:ext cx="514350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71500" y="2724448"/>
            <a:ext cx="4436269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294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接起电话的那一刻，普通人也需要一个验真声音的办法。</a:t>
            </a:r>
            <a:endParaRPr lang="en-US" sz="1294" dirty="0"/>
          </a:p>
        </p:txBody>
      </p:sp>
      <p:sp>
        <p:nvSpPr>
          <p:cNvPr id="11" name="Text 8"/>
          <p:cNvSpPr/>
          <p:nvPr/>
        </p:nvSpPr>
        <p:spPr>
          <a:xfrm>
            <a:off x="571500" y="3132311"/>
            <a:ext cx="4436269" cy="18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spc="17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</a:t>
            </a:r>
            <a:pPr algn="l" indent="0" marL="0">
              <a:lnSpc>
                <a:spcPts val="1367"/>
              </a:lnSpc>
              <a:buNone/>
            </a:pPr>
            <a:r>
              <a:rPr lang="en-US" sz="844" spc="17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1367"/>
              </a:lnSpc>
              <a:buNone/>
            </a:pPr>
            <a:r>
              <a:rPr lang="en-US" sz="844" spc="17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语音克隆诈骗的实时鉴伪平台 —— 边通话、边检测、边存证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571500" y="3555913"/>
            <a:ext cx="80154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7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28837" y="3548769"/>
            <a:ext cx="3450320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问题与背景 · 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技术方案 · 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实测结果 · 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演示与对比 · 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前景与路线</a:t>
            </a:r>
            <a:endParaRPr lang="en-US" sz="703" dirty="0"/>
          </a:p>
        </p:txBody>
      </p:sp>
      <p:sp>
        <p:nvSpPr>
          <p:cNvPr id="14" name="Text 11"/>
          <p:cNvSpPr/>
          <p:nvPr/>
        </p:nvSpPr>
        <p:spPr>
          <a:xfrm>
            <a:off x="5760720" y="952686"/>
            <a:ext cx="281178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现场合成 · 现场检出 · 现场存证</a:t>
            </a:r>
            <a:endParaRPr lang="en-US" sz="703" dirty="0"/>
          </a:p>
        </p:txBody>
      </p:sp>
      <p:sp>
        <p:nvSpPr>
          <p:cNvPr id="15" name="Text 12"/>
          <p:cNvSpPr/>
          <p:nvPr/>
        </p:nvSpPr>
        <p:spPr>
          <a:xfrm>
            <a:off x="5657850" y="1290228"/>
            <a:ext cx="2914650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 / 20</a:t>
            </a:r>
            <a:endParaRPr lang="en-US" sz="3038" dirty="0"/>
          </a:p>
        </p:txBody>
      </p:sp>
      <p:sp>
        <p:nvSpPr>
          <p:cNvPr id="16" name="Text 13"/>
          <p:cNvSpPr/>
          <p:nvPr/>
        </p:nvSpPr>
        <p:spPr>
          <a:xfrm>
            <a:off x="5996464" y="1718853"/>
            <a:ext cx="2576036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宽带盲测 · </a:t>
            </a:r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合成检出满分</a:t>
            </a:r>
            <a:endParaRPr lang="en-US" sz="703" dirty="0"/>
          </a:p>
        </p:txBody>
      </p:sp>
      <p:sp>
        <p:nvSpPr>
          <p:cNvPr id="17" name="Shape 14"/>
          <p:cNvSpPr/>
          <p:nvPr/>
        </p:nvSpPr>
        <p:spPr>
          <a:xfrm>
            <a:off x="6429375" y="1959955"/>
            <a:ext cx="2143125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49605" y="2056395"/>
            <a:ext cx="1468752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0.015</a:t>
            </a:r>
            <a:endParaRPr lang="en-US" sz="3038" dirty="0"/>
          </a:p>
        </p:txBody>
      </p:sp>
      <p:sp>
        <p:nvSpPr>
          <p:cNvPr id="19" name="Text 16"/>
          <p:cNvSpPr/>
          <p:nvPr/>
        </p:nvSpPr>
        <p:spPr>
          <a:xfrm>
            <a:off x="7904620" y="2242133"/>
            <a:ext cx="667880" cy="21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9"/>
              </a:lnSpc>
              <a:buNone/>
            </a:pPr>
            <a:r>
              <a:rPr lang="en-US" sz="956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RTF峰值</a:t>
            </a:r>
            <a:endParaRPr lang="en-US" sz="956" dirty="0"/>
          </a:p>
        </p:txBody>
      </p:sp>
      <p:sp>
        <p:nvSpPr>
          <p:cNvPr id="20" name="Text 17"/>
          <p:cNvSpPr/>
          <p:nvPr/>
        </p:nvSpPr>
        <p:spPr>
          <a:xfrm>
            <a:off x="5765006" y="2485020"/>
            <a:ext cx="2807494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</a:t>
            </a:r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实时因子</a:t>
            </a:r>
            <a:endParaRPr lang="en-US" sz="703" dirty="0"/>
          </a:p>
        </p:txBody>
      </p:sp>
      <p:sp>
        <p:nvSpPr>
          <p:cNvPr id="21" name="Shape 18"/>
          <p:cNvSpPr/>
          <p:nvPr/>
        </p:nvSpPr>
        <p:spPr>
          <a:xfrm>
            <a:off x="6429375" y="2726122"/>
            <a:ext cx="2143125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5454" y="2979725"/>
            <a:ext cx="113943" cy="24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22"/>
              </a:lnSpc>
              <a:buNone/>
            </a:pPr>
            <a:r>
              <a:rPr lang="en-US" sz="1125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8096502" y="2822563"/>
            <a:ext cx="417241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3038" dirty="0"/>
          </a:p>
        </p:txBody>
      </p:sp>
      <p:sp>
        <p:nvSpPr>
          <p:cNvPr id="24" name="Text 21"/>
          <p:cNvSpPr/>
          <p:nvPr/>
        </p:nvSpPr>
        <p:spPr>
          <a:xfrm>
            <a:off x="8461026" y="2979725"/>
            <a:ext cx="137674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22"/>
              </a:lnSpc>
              <a:buNone/>
            </a:pPr>
            <a:r>
              <a:rPr lang="en-US" sz="1125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5765006" y="3253978"/>
            <a:ext cx="2807494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端到端判决时延</a:t>
            </a:r>
            <a:endParaRPr lang="en-US" sz="703" dirty="0"/>
          </a:p>
        </p:txBody>
      </p:sp>
      <p:sp>
        <p:nvSpPr>
          <p:cNvPr id="26" name="Shape 23"/>
          <p:cNvSpPr/>
          <p:nvPr/>
        </p:nvSpPr>
        <p:spPr>
          <a:xfrm>
            <a:off x="6429375" y="3402211"/>
            <a:ext cx="2143125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82972" y="3498652"/>
            <a:ext cx="981688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210</a:t>
            </a:r>
            <a:endParaRPr lang="en-US" sz="3038" dirty="0"/>
          </a:p>
        </p:txBody>
      </p:sp>
      <p:sp>
        <p:nvSpPr>
          <p:cNvPr id="28" name="Text 25"/>
          <p:cNvSpPr/>
          <p:nvPr/>
        </p:nvSpPr>
        <p:spPr>
          <a:xfrm>
            <a:off x="7996857" y="3684389"/>
            <a:ext cx="575643" cy="21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49"/>
              </a:lnSpc>
              <a:buNone/>
            </a:pPr>
            <a:r>
              <a:rPr lang="en-US" sz="956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条判决</a:t>
            </a:r>
            <a:endParaRPr lang="en-US" sz="956" dirty="0"/>
          </a:p>
        </p:txBody>
      </p:sp>
      <p:sp>
        <p:nvSpPr>
          <p:cNvPr id="29" name="Text 26"/>
          <p:cNvSpPr/>
          <p:nvPr/>
        </p:nvSpPr>
        <p:spPr>
          <a:xfrm>
            <a:off x="5996464" y="3927277"/>
            <a:ext cx="2576036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扩展测试集 · </a:t>
            </a:r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105</a:t>
            </a:r>
            <a:pPr algn="r" indent="0" marL="0">
              <a:lnSpc>
                <a:spcPts val="1139"/>
              </a:lnSpc>
              <a:buNone/>
            </a:pPr>
            <a:r>
              <a:rPr lang="en-US" sz="703" spc="21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文件 × 双信道</a:t>
            </a:r>
            <a:endParaRPr lang="en-US" sz="703" dirty="0"/>
          </a:p>
        </p:txBody>
      </p:sp>
      <p:sp>
        <p:nvSpPr>
          <p:cNvPr id="30" name="Shape 27"/>
          <p:cNvSpPr/>
          <p:nvPr/>
        </p:nvSpPr>
        <p:spPr>
          <a:xfrm>
            <a:off x="571500" y="4523445"/>
            <a:ext cx="8001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1500" y="4655604"/>
            <a:ext cx="7315200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参赛团队：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你们说的对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团队成员：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谭畅 等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人</a:t>
            </a:r>
            <a:endParaRPr lang="en-US" sz="844" dirty="0"/>
          </a:p>
        </p:txBody>
      </p:sp>
      <p:sp>
        <p:nvSpPr>
          <p:cNvPr id="32" name="Text 29"/>
          <p:cNvSpPr/>
          <p:nvPr/>
        </p:nvSpPr>
        <p:spPr>
          <a:xfrm>
            <a:off x="7940725" y="4677035"/>
            <a:ext cx="663476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56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大连理工大学</a:t>
            </a:r>
            <a:endParaRPr lang="en-US" sz="70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1371600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521494"/>
            <a:ext cx="476343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一通熟悉的声音，可能是 </a:t>
            </a:r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的表演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4382244" y="685800"/>
            <a:ext cx="4304556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7916" y="1056382"/>
            <a:ext cx="0" cy="3324411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369" y="1056382"/>
            <a:ext cx="4565972" cy="65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3"/>
              </a:lnSpc>
              <a:buNone/>
            </a:pPr>
            <a:r>
              <a:rPr lang="en-US" sz="1294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「妈，是我啊，手机摔坏了，这是同学的号。</a:t>
            </a:r>
            <a:endParaRPr lang="en-US" sz="1294" dirty="0"/>
          </a:p>
          <a:p>
            <a:pPr algn="l" indent="0" marL="0">
              <a:lnSpc>
                <a:spcPts val="2393"/>
              </a:lnSpc>
              <a:buNone/>
            </a:pPr>
            <a:r>
              <a:rPr lang="en-US" sz="1294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急需八千块周转，先别告诉我爸……」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664369" y="1821433"/>
            <a:ext cx="4565972" cy="47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声音、语气、口头禅都对——这通电话里唯一的假货，是声音本身。我们防备陌生人，却对熟悉的声音天然卸下防备。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664369" y="2344713"/>
            <a:ext cx="4565972" cy="708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而攻击成本正在坍塌：几秒公开音频即可复刻声纹，商业克隆服务按分钟计价；同步换脸尚需视频破绽可挑，纯语音伪装在电话里没有任何肉眼可查的痕印——验真这件事，耳朵靠不住，只能交给物理量。</a:t>
            </a:r>
            <a:endParaRPr lang="en-US" sz="984" dirty="0"/>
          </a:p>
        </p:txBody>
      </p:sp>
      <p:sp>
        <p:nvSpPr>
          <p:cNvPr id="25" name="Text 23"/>
          <p:cNvSpPr/>
          <p:nvPr/>
        </p:nvSpPr>
        <p:spPr>
          <a:xfrm>
            <a:off x="664369" y="4198627"/>
            <a:ext cx="46757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此为诈骗话术示例；声盾现场合成挑战即用此类文本演示鉴伪，三类高发话术均已预置。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5573241" y="1214103"/>
            <a:ext cx="357075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亿港元</a:t>
            </a:r>
            <a:endParaRPr lang="en-US" sz="2138" dirty="0"/>
          </a:p>
        </p:txBody>
      </p:sp>
      <p:sp>
        <p:nvSpPr>
          <p:cNvPr id="27" name="Text 25"/>
          <p:cNvSpPr/>
          <p:nvPr/>
        </p:nvSpPr>
        <p:spPr>
          <a:xfrm>
            <a:off x="5573241" y="1576983"/>
            <a:ext cx="3113559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2024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香港深伪视频会议诈骗案，职员被 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仿冒高管骗走转账</a:t>
            </a:r>
            <a:endParaRPr lang="en-US" sz="703" dirty="0"/>
          </a:p>
        </p:txBody>
      </p:sp>
      <p:sp>
        <p:nvSpPr>
          <p:cNvPr id="28" name="Shape 26"/>
          <p:cNvSpPr/>
          <p:nvPr/>
        </p:nvSpPr>
        <p:spPr>
          <a:xfrm>
            <a:off x="5573241" y="1885727"/>
            <a:ext cx="3113559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3241" y="2047019"/>
            <a:ext cx="357075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分钟级</a:t>
            </a:r>
            <a:endParaRPr lang="en-US" sz="2138" dirty="0"/>
          </a:p>
        </p:txBody>
      </p:sp>
      <p:sp>
        <p:nvSpPr>
          <p:cNvPr id="30" name="Text 28"/>
          <p:cNvSpPr/>
          <p:nvPr/>
        </p:nvSpPr>
        <p:spPr>
          <a:xfrm>
            <a:off x="5573241" y="2409899"/>
            <a:ext cx="3113559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克隆一个声音所需采样时长，开源工具与商业服务均已消费级化</a:t>
            </a:r>
            <a:endParaRPr lang="en-US" sz="703" dirty="0"/>
          </a:p>
        </p:txBody>
      </p:sp>
      <p:sp>
        <p:nvSpPr>
          <p:cNvPr id="31" name="Shape 29"/>
          <p:cNvSpPr/>
          <p:nvPr/>
        </p:nvSpPr>
        <p:spPr>
          <a:xfrm>
            <a:off x="5573241" y="2718643"/>
            <a:ext cx="3113559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3241" y="2879936"/>
            <a:ext cx="3570759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pPr algn="l" indent="0" marL="0">
              <a:lnSpc>
                <a:spcPts val="2351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个</a:t>
            </a:r>
            <a:endParaRPr lang="en-US" sz="2138" dirty="0"/>
          </a:p>
        </p:txBody>
      </p:sp>
      <p:sp>
        <p:nvSpPr>
          <p:cNvPr id="33" name="Text 31"/>
          <p:cNvSpPr/>
          <p:nvPr/>
        </p:nvSpPr>
        <p:spPr>
          <a:xfrm>
            <a:off x="5573241" y="3242816"/>
            <a:ext cx="3113559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通话进行中，普通人可用的验真手段——这就是我们要补上的位置</a:t>
            </a:r>
            <a:endParaRPr lang="en-US" sz="703" dirty="0"/>
          </a:p>
        </p:txBody>
      </p:sp>
      <p:sp>
        <p:nvSpPr>
          <p:cNvPr id="34" name="Shape 32"/>
          <p:cNvSpPr/>
          <p:nvPr/>
        </p:nvSpPr>
        <p:spPr>
          <a:xfrm>
            <a:off x="5573241" y="3551560"/>
            <a:ext cx="3113559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3241" y="3684947"/>
            <a:ext cx="3570759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三类高发话术 · 平台已预置</a:t>
            </a:r>
            <a:endParaRPr lang="en-US" sz="703" dirty="0"/>
          </a:p>
        </p:txBody>
      </p:sp>
      <p:sp>
        <p:nvSpPr>
          <p:cNvPr id="36" name="Text 34"/>
          <p:cNvSpPr/>
          <p:nvPr/>
        </p:nvSpPr>
        <p:spPr>
          <a:xfrm>
            <a:off x="5573241" y="3886758"/>
            <a:ext cx="3113559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冒充亲友急周转 · 冒充公检法施压 · 冒充领导交办——现场合成挑战即取这三类文本当场验证</a:t>
            </a:r>
            <a:endParaRPr lang="en-US" sz="844" dirty="0"/>
          </a:p>
        </p:txBody>
      </p:sp>
      <p:sp>
        <p:nvSpPr>
          <p:cNvPr id="37" name="Shape 35"/>
          <p:cNvSpPr/>
          <p:nvPr/>
        </p:nvSpPr>
        <p:spPr>
          <a:xfrm>
            <a:off x="457200" y="4527240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02262"/>
            <a:ext cx="570037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《反电信网络诈骗法》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2022.12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施行 · 《互联网信息服务深度合成管理规定》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2023.01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施行——治理框架已就位，用户侧工具仍缺位</a:t>
            </a:r>
            <a:endParaRPr lang="en-US" sz="703" dirty="0"/>
          </a:p>
        </p:txBody>
      </p:sp>
      <p:sp>
        <p:nvSpPr>
          <p:cNvPr id="39" name="Text 37"/>
          <p:cNvSpPr/>
          <p:nvPr/>
        </p:nvSpPr>
        <p:spPr>
          <a:xfrm>
            <a:off x="6243303" y="4637968"/>
            <a:ext cx="2443497" cy="2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反诈的最后一公里，就在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接听的那几秒</a:t>
            </a:r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。</a:t>
            </a:r>
            <a:endParaRPr lang="en-US" sz="10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6" name="Text 4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2103053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507206"/>
            <a:ext cx="194310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定位与命题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785938" y="671513"/>
            <a:ext cx="690086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1013520"/>
            <a:ext cx="7072313" cy="108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2813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这一通电话里的声音，</a:t>
            </a:r>
            <a:endParaRPr lang="en-US" sz="2813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2813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到底是不是 </a:t>
            </a:r>
            <a:pPr algn="l" indent="0" marL="0">
              <a:lnSpc>
                <a:spcPts val="3938"/>
              </a:lnSpc>
              <a:buNone/>
            </a:pPr>
            <a:r>
              <a:rPr lang="en-US" sz="2813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3938"/>
              </a:lnSpc>
              <a:buNone/>
            </a:pPr>
            <a:r>
              <a:rPr lang="en-US" sz="2813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合成的</a:t>
            </a:r>
            <a:pPr algn="l" indent="0" marL="0">
              <a:lnSpc>
                <a:spcPts val="3938"/>
              </a:lnSpc>
              <a:buNone/>
            </a:pPr>
            <a:r>
              <a:rPr lang="en-US" sz="2813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2813" dirty="0"/>
          </a:p>
        </p:txBody>
      </p:sp>
      <p:sp>
        <p:nvSpPr>
          <p:cNvPr id="22" name="Text 20"/>
          <p:cNvSpPr/>
          <p:nvPr/>
        </p:nvSpPr>
        <p:spPr>
          <a:xfrm>
            <a:off x="457200" y="2170807"/>
            <a:ext cx="8229600" cy="22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声盾只回答这一个问题——不做通用鉴伪，不做换脸检测，不做训练隐私；一个判断题，才敢把准确率、时延、证据链三件事同时交给用户。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57200" y="2447627"/>
            <a:ext cx="8229600" cy="22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选题以大连理工大学 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2022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2024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年九件全国获奖作品（含国家一等奖 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件）的获奖规律校准，评委三秒能懂。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457200" y="2724448"/>
            <a:ext cx="8229600" cy="22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差异化三件套：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实时流式 · 轻量可解释 · 反诈存证闭环</a:t>
            </a:r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——分别对应「来得及、讲得清、用得上」三个验收维度。</a:t>
            </a:r>
            <a:endParaRPr lang="en-US" sz="984" dirty="0"/>
          </a:p>
        </p:txBody>
      </p:sp>
      <p:sp>
        <p:nvSpPr>
          <p:cNvPr id="25" name="Shape 23"/>
          <p:cNvSpPr/>
          <p:nvPr/>
        </p:nvSpPr>
        <p:spPr>
          <a:xfrm>
            <a:off x="457200" y="3069134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01293"/>
            <a:ext cx="685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13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命题拆解</a:t>
            </a:r>
            <a:endParaRPr lang="en-US" sz="703" dirty="0"/>
          </a:p>
        </p:txBody>
      </p:sp>
      <p:sp>
        <p:nvSpPr>
          <p:cNvPr id="27" name="Text 25"/>
          <p:cNvSpPr/>
          <p:nvPr/>
        </p:nvSpPr>
        <p:spPr>
          <a:xfrm>
            <a:off x="971550" y="3172718"/>
            <a:ext cx="7715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通话音频流（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16kHz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单声道） → 逐窗判决（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窗 ·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步进） → 整段结论 + 置信度 → 证据链固定入库——每一环都在下一页展开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57200" y="3474541"/>
            <a:ext cx="2388468" cy="99499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7200" y="3485257"/>
            <a:ext cx="2388468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42096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465960"/>
            <a:ext cx="2388468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0772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219" y="3590404"/>
            <a:ext cx="2088431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一件小事做穿</a:t>
            </a:r>
            <a:endParaRPr lang="en-US" sz="1069" dirty="0"/>
          </a:p>
        </p:txBody>
      </p:sp>
      <p:sp>
        <p:nvSpPr>
          <p:cNvPr id="34" name="Text 32"/>
          <p:cNvSpPr/>
          <p:nvPr/>
        </p:nvSpPr>
        <p:spPr>
          <a:xfrm>
            <a:off x="607219" y="3837533"/>
            <a:ext cx="2088431" cy="51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题目即卖点，通话级实时鉴伪一条主线贯穿检测、告警、存证——不把战线拉宽，把一口井打穿。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2945681" y="3474541"/>
            <a:ext cx="1846994" cy="99499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945681" y="3485257"/>
            <a:ext cx="1846994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9103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45681" y="4465960"/>
            <a:ext cx="1846994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49253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95699" y="3590404"/>
            <a:ext cx="1546957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指标可算</a:t>
            </a:r>
            <a:endParaRPr lang="en-US" sz="1069" dirty="0"/>
          </a:p>
        </p:txBody>
      </p:sp>
      <p:sp>
        <p:nvSpPr>
          <p:cNvPr id="41" name="Text 39"/>
          <p:cNvSpPr/>
          <p:nvPr/>
        </p:nvSpPr>
        <p:spPr>
          <a:xfrm>
            <a:off x="3095699" y="3837533"/>
            <a:ext cx="1546957" cy="51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用公开数据集与实测口径说话，不靠演示效果自证；每个数字都能复现。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4892687" y="3474541"/>
            <a:ext cx="1846994" cy="99499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92687" y="3485257"/>
            <a:ext cx="1846994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36110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687" y="4465960"/>
            <a:ext cx="1846994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6259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2706" y="3678808"/>
            <a:ext cx="1546957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风口之上</a:t>
            </a:r>
            <a:endParaRPr lang="en-US" sz="1069" dirty="0"/>
          </a:p>
        </p:txBody>
      </p:sp>
      <p:sp>
        <p:nvSpPr>
          <p:cNvPr id="48" name="Text 46"/>
          <p:cNvSpPr/>
          <p:nvPr/>
        </p:nvSpPr>
        <p:spPr>
          <a:xfrm>
            <a:off x="5042706" y="3925937"/>
            <a:ext cx="1546957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反诈法与深度合成治理双支点，属应用安全·内容安全正题。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6839694" y="3474541"/>
            <a:ext cx="1846994" cy="99499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839694" y="3485257"/>
            <a:ext cx="1846994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3117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39694" y="4465960"/>
            <a:ext cx="1846994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43266" y="3474541"/>
            <a:ext cx="0" cy="9949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89713" y="3678808"/>
            <a:ext cx="1546957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三两人闭环</a:t>
            </a:r>
            <a:endParaRPr lang="en-US" sz="1069" dirty="0"/>
          </a:p>
        </p:txBody>
      </p:sp>
      <p:sp>
        <p:nvSpPr>
          <p:cNvPr id="55" name="Text 53"/>
          <p:cNvSpPr/>
          <p:nvPr/>
        </p:nvSpPr>
        <p:spPr>
          <a:xfrm>
            <a:off x="6989713" y="3925937"/>
            <a:ext cx="1546957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轻量架构让小团队也能交付可运行的完整作品。</a:t>
            </a:r>
            <a:endParaRPr lang="en-US" sz="844" dirty="0"/>
          </a:p>
        </p:txBody>
      </p:sp>
      <p:sp>
        <p:nvSpPr>
          <p:cNvPr id="56" name="Shape 54"/>
          <p:cNvSpPr/>
          <p:nvPr/>
        </p:nvSpPr>
        <p:spPr>
          <a:xfrm>
            <a:off x="457200" y="4587404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19908" y="4748138"/>
            <a:ext cx="4904184" cy="108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703" spc="42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单点深挖不是保守，是把一件对的事做到能被检验的深度——检测得快、讲得明白、证据落得住，三样缺一不可。</a:t>
            </a:r>
            <a:endParaRPr lang="en-US" sz="70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30251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2834618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92919"/>
            <a:ext cx="155448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总体架构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543050" y="657225"/>
            <a:ext cx="4643326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43526" y="585788"/>
            <a:ext cx="2565438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一份引擎，跑在两端——谁也糊弄不了谁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913507"/>
            <a:ext cx="8001000" cy="43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浏览器先判一遍、服务端再核一遍，跑的是同一份 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引擎：录音文件与实时通话的结论完全一致，客户端结果可被独立复核。检测不快不行、存证不严不行——这两个要求决定了下面五层；而每一层都有对应的服务端接口与数据落盘位置，不是纸面架构。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57200" y="1447056"/>
            <a:ext cx="5102312" cy="53779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1457771"/>
            <a:ext cx="510231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5940" y="1447056"/>
            <a:ext cx="0" cy="5377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981274"/>
            <a:ext cx="510231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772" y="1447056"/>
            <a:ext cx="0" cy="5377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931" y="1512354"/>
            <a:ext cx="4830849" cy="39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800" spc="42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L1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采集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麦克风实时流（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AudioWorklet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16kHz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）· 文件导入 ·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现场合成，统一为单声道标准输入</a:t>
            </a:r>
            <a:endParaRPr lang="en-US" sz="984" dirty="0"/>
          </a:p>
        </p:txBody>
      </p:sp>
      <p:sp>
        <p:nvSpPr>
          <p:cNvPr id="29" name="Text 27"/>
          <p:cNvSpPr/>
          <p:nvPr/>
        </p:nvSpPr>
        <p:spPr>
          <a:xfrm>
            <a:off x="457200" y="2049140"/>
            <a:ext cx="5102312" cy="934269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7200" y="2059856"/>
            <a:ext cx="5102312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5940" y="2049140"/>
            <a:ext cx="0" cy="934269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979837"/>
            <a:ext cx="510231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0772" y="2049140"/>
            <a:ext cx="0" cy="934269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219" y="2172481"/>
            <a:ext cx="188774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42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2352" y="2101044"/>
            <a:ext cx="4627141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检测引擎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607219" y="2356545"/>
            <a:ext cx="4912002" cy="179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零依赖，八维特征 +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窗 /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步进 /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50%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重叠滑窗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07219" y="2563713"/>
            <a:ext cx="4802274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基座：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512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点 ·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窗 · 自相关基音（抛物线精化）· 抗混叠重采样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607219" y="2752130"/>
            <a:ext cx="480227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6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「全片最厚的一层——左右两端跑同一份代码」</a:t>
            </a:r>
            <a:endParaRPr lang="en-US" sz="984" dirty="0"/>
          </a:p>
        </p:txBody>
      </p:sp>
      <p:sp>
        <p:nvSpPr>
          <p:cNvPr id="39" name="Text 37"/>
          <p:cNvSpPr/>
          <p:nvPr/>
        </p:nvSpPr>
        <p:spPr>
          <a:xfrm>
            <a:off x="457200" y="3047702"/>
            <a:ext cx="5102312" cy="53779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57200" y="3058418"/>
            <a:ext cx="510231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55940" y="3047702"/>
            <a:ext cx="0" cy="5377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581921"/>
            <a:ext cx="510231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772" y="3047702"/>
            <a:ext cx="0" cy="53779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931" y="3113001"/>
            <a:ext cx="4830849" cy="393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800" spc="42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L3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判决融合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中值滤波 + 指数平滑 + 能量加权整段判决，静音窗显式排除；检出阈值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0.72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可疑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0.50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，四级风险分级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0.35 / 0.55 / 0.75</a:t>
            </a:r>
            <a:endParaRPr lang="en-US" sz="984" dirty="0"/>
          </a:p>
        </p:txBody>
      </p:sp>
      <p:sp>
        <p:nvSpPr>
          <p:cNvPr id="45" name="Text 43"/>
          <p:cNvSpPr/>
          <p:nvPr/>
        </p:nvSpPr>
        <p:spPr>
          <a:xfrm>
            <a:off x="457200" y="3649787"/>
            <a:ext cx="5102312" cy="370136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57200" y="3660502"/>
            <a:ext cx="510231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55940" y="3649787"/>
            <a:ext cx="0" cy="37013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016350"/>
            <a:ext cx="510231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0772" y="3649787"/>
            <a:ext cx="0" cy="37013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931" y="3727698"/>
            <a:ext cx="4830849" cy="2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800" spc="42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L4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业务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证据固定 · 案件编号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-日期-序号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证据下载 · 八章可打印核验报告</a:t>
            </a:r>
            <a:endParaRPr lang="en-US" sz="984" dirty="0"/>
          </a:p>
        </p:txBody>
      </p:sp>
      <p:sp>
        <p:nvSpPr>
          <p:cNvPr id="51" name="Text 49"/>
          <p:cNvSpPr/>
          <p:nvPr/>
        </p:nvSpPr>
        <p:spPr>
          <a:xfrm>
            <a:off x="457200" y="4084216"/>
            <a:ext cx="5102312" cy="363885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57200" y="4094931"/>
            <a:ext cx="510231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5940" y="4084216"/>
            <a:ext cx="0" cy="36388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444529"/>
            <a:ext cx="510231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0772" y="4084216"/>
            <a:ext cx="0" cy="36388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2931" y="4162574"/>
            <a:ext cx="4837993" cy="20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800" spc="42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L5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展示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pPr algn="l" indent="0" marL="0">
              <a:lnSpc>
                <a:spcPts val="1710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71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单页应用零跳转，答辩演示全程不切屏</a:t>
            </a:r>
            <a:endParaRPr lang="en-US" sz="984" dirty="0"/>
          </a:p>
        </p:txBody>
      </p:sp>
      <p:sp>
        <p:nvSpPr>
          <p:cNvPr id="57" name="Text 55"/>
          <p:cNvSpPr/>
          <p:nvPr/>
        </p:nvSpPr>
        <p:spPr>
          <a:xfrm>
            <a:off x="5959562" y="1447056"/>
            <a:ext cx="2727238" cy="2322388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5959562" y="1457771"/>
            <a:ext cx="2727238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83228" y="1447056"/>
            <a:ext cx="0" cy="2322388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59562" y="3765872"/>
            <a:ext cx="2727238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63134" y="1447056"/>
            <a:ext cx="0" cy="2322388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3868" y="1582787"/>
            <a:ext cx="2398626" cy="206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为什么敢说能落地</a:t>
            </a:r>
            <a:endParaRPr lang="en-US" sz="1069" dirty="0"/>
          </a:p>
        </p:txBody>
      </p:sp>
      <p:sp>
        <p:nvSpPr>
          <p:cNvPr id="63" name="Text 61"/>
          <p:cNvSpPr/>
          <p:nvPr/>
        </p:nvSpPr>
        <p:spPr>
          <a:xfrm>
            <a:off x="6123868" y="1851682"/>
            <a:ext cx="2398626" cy="19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 CPU</a:t>
            </a:r>
            <a:endParaRPr lang="en-US" sz="984" dirty="0"/>
          </a:p>
        </p:txBody>
      </p:sp>
      <p:sp>
        <p:nvSpPr>
          <p:cNvPr id="64" name="Text 62"/>
          <p:cNvSpPr/>
          <p:nvPr/>
        </p:nvSpPr>
        <p:spPr>
          <a:xfrm>
            <a:off x="6123868" y="2075594"/>
            <a:ext cx="239862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，浏览器与服务端皆可跑</a:t>
            </a:r>
            <a:endParaRPr lang="en-US" sz="844" dirty="0"/>
          </a:p>
        </p:txBody>
      </p:sp>
      <p:sp>
        <p:nvSpPr>
          <p:cNvPr id="65" name="Shape 63"/>
          <p:cNvSpPr/>
          <p:nvPr/>
        </p:nvSpPr>
        <p:spPr>
          <a:xfrm>
            <a:off x="6123868" y="2280084"/>
            <a:ext cx="2398626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3868" y="2318482"/>
            <a:ext cx="2398626" cy="19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TS</a:t>
            </a:r>
            <a:endParaRPr lang="en-US" sz="984" dirty="0"/>
          </a:p>
        </p:txBody>
      </p:sp>
      <p:sp>
        <p:nvSpPr>
          <p:cNvPr id="67" name="Text 65"/>
          <p:cNvSpPr/>
          <p:nvPr/>
        </p:nvSpPr>
        <p:spPr>
          <a:xfrm>
            <a:off x="6123868" y="2542394"/>
            <a:ext cx="239862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一套语言栈贯穿前后端与引擎</a:t>
            </a:r>
            <a:endParaRPr lang="en-US" sz="844" dirty="0"/>
          </a:p>
        </p:txBody>
      </p:sp>
      <p:sp>
        <p:nvSpPr>
          <p:cNvPr id="68" name="Shape 66"/>
          <p:cNvSpPr/>
          <p:nvPr/>
        </p:nvSpPr>
        <p:spPr>
          <a:xfrm>
            <a:off x="6123868" y="2746883"/>
            <a:ext cx="2398626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3868" y="2785281"/>
            <a:ext cx="2398626" cy="19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84" dirty="0"/>
          </a:p>
        </p:txBody>
      </p:sp>
      <p:sp>
        <p:nvSpPr>
          <p:cNvPr id="70" name="Text 68"/>
          <p:cNvSpPr/>
          <p:nvPr/>
        </p:nvSpPr>
        <p:spPr>
          <a:xfrm>
            <a:off x="6123868" y="3009193"/>
            <a:ext cx="2398626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案件与证据链本地落盘，可审计</a:t>
            </a:r>
            <a:endParaRPr lang="en-US" sz="844" dirty="0"/>
          </a:p>
        </p:txBody>
      </p:sp>
      <p:sp>
        <p:nvSpPr>
          <p:cNvPr id="71" name="Shape 69"/>
          <p:cNvSpPr/>
          <p:nvPr/>
        </p:nvSpPr>
        <p:spPr>
          <a:xfrm>
            <a:off x="6123868" y="3213683"/>
            <a:ext cx="2398626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3868" y="3252081"/>
            <a:ext cx="2398626" cy="1675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b="1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双端复核</a:t>
            </a:r>
            <a:endParaRPr lang="en-US" sz="844" dirty="0"/>
          </a:p>
        </p:txBody>
      </p:sp>
      <p:sp>
        <p:nvSpPr>
          <p:cNvPr id="73" name="Text 71"/>
          <p:cNvSpPr/>
          <p:nvPr/>
        </p:nvSpPr>
        <p:spPr>
          <a:xfrm>
            <a:off x="6123868" y="3447083"/>
            <a:ext cx="2508354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检测结束自动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服务端复核，两遍一致才入库</a:t>
            </a:r>
            <a:endParaRPr lang="en-US" sz="844" dirty="0"/>
          </a:p>
        </p:txBody>
      </p:sp>
      <p:sp>
        <p:nvSpPr>
          <p:cNvPr id="74" name="Text 72"/>
          <p:cNvSpPr/>
          <p:nvPr/>
        </p:nvSpPr>
        <p:spPr>
          <a:xfrm>
            <a:off x="5959562" y="3833738"/>
            <a:ext cx="2727238" cy="297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 · TypeScript · Prisma/SQLite · Web Audio API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959562" y="4158779"/>
            <a:ext cx="2727238" cy="35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4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/api/analyze · /api/tts-challenge · /api/cases · /api/evidence/[caseNo]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7200" y="4580260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666454" y="4705276"/>
            <a:ext cx="3811092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844" spc="25" kern="0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同构引擎的价值：检测结论不因端而异——这是证据链成立的技术前提。</a:t>
            </a:r>
            <a:endParaRPr lang="en-US" sz="8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30251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3474653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92919"/>
            <a:ext cx="155448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检测引擎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543050" y="657225"/>
            <a:ext cx="505052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ENGINE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50720" y="585788"/>
            <a:ext cx="2137884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八个特征，每一个都能回答为什么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899220"/>
            <a:ext cx="822960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每一维都锚定人怎么发声、声码器怎么生成的物理差异——判决依据逐特征可追溯，第三方可复算，不依赖黑盒打分；八维特征经统一管线汇成整段判决，每一步都有显式公式。</a:t>
            </a:r>
            <a:endParaRPr lang="en-US" sz="984" dirty="0"/>
          </a:p>
        </p:txBody>
      </p:sp>
      <p:sp>
        <p:nvSpPr>
          <p:cNvPr id="23" name="Text 21"/>
          <p:cNvSpPr/>
          <p:nvPr/>
        </p:nvSpPr>
        <p:spPr>
          <a:xfrm>
            <a:off x="457200" y="1427857"/>
            <a:ext cx="3291818" cy="2430884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7200" y="1438573"/>
            <a:ext cx="3291818" cy="0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5446" y="1427857"/>
            <a:ext cx="0" cy="2430884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55169"/>
            <a:ext cx="3291818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772" y="1427857"/>
            <a:ext cx="0" cy="2430884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369" y="1620738"/>
            <a:ext cx="287748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自研 · 分离度最高的一维</a:t>
            </a:r>
            <a:endParaRPr lang="en-US" sz="703" dirty="0"/>
          </a:p>
        </p:txBody>
      </p:sp>
      <p:sp>
        <p:nvSpPr>
          <p:cNvPr id="29" name="Text 27"/>
          <p:cNvSpPr/>
          <p:nvPr/>
        </p:nvSpPr>
        <p:spPr>
          <a:xfrm>
            <a:off x="664369" y="1836837"/>
            <a:ext cx="2877480" cy="230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29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高频周期性</a:t>
            </a:r>
            <a:endParaRPr lang="en-US" sz="1294" dirty="0"/>
          </a:p>
        </p:txBody>
      </p:sp>
      <p:sp>
        <p:nvSpPr>
          <p:cNvPr id="30" name="Text 28"/>
          <p:cNvSpPr/>
          <p:nvPr/>
        </p:nvSpPr>
        <p:spPr>
          <a:xfrm>
            <a:off x="664369" y="2121805"/>
            <a:ext cx="2877480" cy="576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掩蔽谱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取高频段信号，在基音周期处做自相关——声码器把谐波结构延展到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8kHz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，而自然人声的高频几乎只有气息噪声，这道生理天花板合成器很难伪装。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664369" y="2725452"/>
            <a:ext cx="2877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基音轨迹由自相关 + 抛物线精化求得，避免倍频/半频误判拉偏周期峰值</a:t>
            </a:r>
            <a:endParaRPr lang="en-US" sz="703" dirty="0"/>
          </a:p>
        </p:txBody>
      </p:sp>
      <p:sp>
        <p:nvSpPr>
          <p:cNvPr id="32" name="Shape 30"/>
          <p:cNvSpPr/>
          <p:nvPr/>
        </p:nvSpPr>
        <p:spPr>
          <a:xfrm>
            <a:off x="664369" y="3111215"/>
            <a:ext cx="287748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149" y="3214799"/>
            <a:ext cx="834964" cy="293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1.28</a:t>
            </a:r>
            <a:endParaRPr lang="en-US" sz="2138" dirty="0"/>
          </a:p>
        </p:txBody>
      </p:sp>
      <p:sp>
        <p:nvSpPr>
          <p:cNvPr id="34" name="Text 32"/>
          <p:cNvSpPr/>
          <p:nvPr/>
        </p:nvSpPr>
        <p:spPr>
          <a:xfrm>
            <a:off x="664369" y="3535487"/>
            <a:ext cx="77652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类间分离度</a:t>
            </a:r>
            <a:endParaRPr lang="en-US" sz="703" dirty="0"/>
          </a:p>
        </p:txBody>
      </p:sp>
      <p:sp>
        <p:nvSpPr>
          <p:cNvPr id="35" name="Text 33"/>
          <p:cNvSpPr/>
          <p:nvPr/>
        </p:nvSpPr>
        <p:spPr>
          <a:xfrm>
            <a:off x="1464022" y="3214799"/>
            <a:ext cx="1287840" cy="2932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138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0.289</a:t>
            </a:r>
            <a:endParaRPr lang="en-US" sz="2138" dirty="0"/>
          </a:p>
        </p:txBody>
      </p:sp>
      <p:sp>
        <p:nvSpPr>
          <p:cNvPr id="36" name="Text 34"/>
          <p:cNvSpPr/>
          <p:nvPr/>
        </p:nvSpPr>
        <p:spPr>
          <a:xfrm>
            <a:off x="1464022" y="3535487"/>
            <a:ext cx="106246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拟合权重·显著贡献</a:t>
            </a:r>
            <a:endParaRPr lang="en-US" sz="703" dirty="0"/>
          </a:p>
        </p:txBody>
      </p:sp>
      <p:sp>
        <p:nvSpPr>
          <p:cNvPr id="37" name="Text 35"/>
          <p:cNvSpPr/>
          <p:nvPr/>
        </p:nvSpPr>
        <p:spPr>
          <a:xfrm>
            <a:off x="4006193" y="1526865"/>
            <a:ext cx="10726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高频能量占比</a:t>
            </a:r>
            <a:endParaRPr lang="en-US" sz="984" dirty="0"/>
          </a:p>
        </p:txBody>
      </p:sp>
      <p:sp>
        <p:nvSpPr>
          <p:cNvPr id="38" name="Text 36"/>
          <p:cNvSpPr/>
          <p:nvPr/>
        </p:nvSpPr>
        <p:spPr>
          <a:xfrm>
            <a:off x="4820580" y="1584015"/>
            <a:ext cx="139727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28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&gt;3.25kHz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06193" y="1765064"/>
            <a:ext cx="232224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梅尔谱声码器的高频能量分布系统性偏移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6475028" y="1441140"/>
            <a:ext cx="1000125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谐波规整度</a:t>
            </a:r>
            <a:endParaRPr lang="en-US" sz="984" dirty="0"/>
          </a:p>
        </p:txBody>
      </p:sp>
      <p:sp>
        <p:nvSpPr>
          <p:cNvPr id="41" name="Text 39"/>
          <p:cNvSpPr/>
          <p:nvPr/>
        </p:nvSpPr>
        <p:spPr>
          <a:xfrm>
            <a:off x="7164400" y="1498290"/>
            <a:ext cx="15224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全带</a:t>
            </a:r>
            <a:endParaRPr lang="en-US" sz="703" dirty="0"/>
          </a:p>
        </p:txBody>
      </p:sp>
      <p:sp>
        <p:nvSpPr>
          <p:cNvPr id="42" name="Text 40"/>
          <p:cNvSpPr/>
          <p:nvPr/>
        </p:nvSpPr>
        <p:spPr>
          <a:xfrm>
            <a:off x="6475028" y="1679339"/>
            <a:ext cx="221177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自然嗓音的谐波纯度随生理动态起伏，合成语音异常规整</a:t>
            </a:r>
            <a:endParaRPr lang="en-US" sz="844" dirty="0"/>
          </a:p>
        </p:txBody>
      </p:sp>
      <p:sp>
        <p:nvSpPr>
          <p:cNvPr id="43" name="Shape 41"/>
          <p:cNvSpPr/>
          <p:nvPr/>
        </p:nvSpPr>
        <p:spPr>
          <a:xfrm>
            <a:off x="4006193" y="2039094"/>
            <a:ext cx="221166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6193" y="2138102"/>
            <a:ext cx="800100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基音微扰</a:t>
            </a:r>
            <a:endParaRPr lang="en-US" sz="984" dirty="0"/>
          </a:p>
        </p:txBody>
      </p:sp>
      <p:sp>
        <p:nvSpPr>
          <p:cNvPr id="45" name="Text 43"/>
          <p:cNvSpPr/>
          <p:nvPr/>
        </p:nvSpPr>
        <p:spPr>
          <a:xfrm>
            <a:off x="4570549" y="2195252"/>
            <a:ext cx="1647304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基音</a:t>
            </a:r>
            <a:endParaRPr lang="en-US" sz="703" dirty="0"/>
          </a:p>
        </p:txBody>
      </p:sp>
      <p:sp>
        <p:nvSpPr>
          <p:cNvPr id="46" name="Text 44"/>
          <p:cNvSpPr/>
          <p:nvPr/>
        </p:nvSpPr>
        <p:spPr>
          <a:xfrm>
            <a:off x="4006193" y="2376301"/>
            <a:ext cx="22116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自然声带的生理性抖动对声码器的周期稳定度</a:t>
            </a:r>
            <a:endParaRPr lang="en-US" sz="844" dirty="0"/>
          </a:p>
        </p:txBody>
      </p:sp>
      <p:sp>
        <p:nvSpPr>
          <p:cNvPr id="47" name="Shape 45"/>
          <p:cNvSpPr/>
          <p:nvPr/>
        </p:nvSpPr>
        <p:spPr>
          <a:xfrm>
            <a:off x="6475028" y="2039094"/>
            <a:ext cx="221177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5028" y="2138102"/>
            <a:ext cx="10726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过零率波动度</a:t>
            </a:r>
            <a:endParaRPr lang="en-US" sz="984" dirty="0"/>
          </a:p>
        </p:txBody>
      </p:sp>
      <p:sp>
        <p:nvSpPr>
          <p:cNvPr id="49" name="Text 47"/>
          <p:cNvSpPr/>
          <p:nvPr/>
        </p:nvSpPr>
        <p:spPr>
          <a:xfrm>
            <a:off x="7289416" y="2195252"/>
            <a:ext cx="1397384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全带</a:t>
            </a:r>
            <a:endParaRPr lang="en-US" sz="703" dirty="0"/>
          </a:p>
        </p:txBody>
      </p:sp>
      <p:sp>
        <p:nvSpPr>
          <p:cNvPr id="50" name="Text 48"/>
          <p:cNvSpPr/>
          <p:nvPr/>
        </p:nvSpPr>
        <p:spPr>
          <a:xfrm>
            <a:off x="6475028" y="2376301"/>
            <a:ext cx="221177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辅音元音交替的自然波动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合成稳定性</a:t>
            </a:r>
            <a:endParaRPr lang="en-US" sz="844" dirty="0"/>
          </a:p>
        </p:txBody>
      </p:sp>
      <p:sp>
        <p:nvSpPr>
          <p:cNvPr id="51" name="Shape 49"/>
          <p:cNvSpPr/>
          <p:nvPr/>
        </p:nvSpPr>
        <p:spPr>
          <a:xfrm>
            <a:off x="4006193" y="2646871"/>
            <a:ext cx="221166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06193" y="2745879"/>
            <a:ext cx="10726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嗓音动力波动</a:t>
            </a:r>
            <a:endParaRPr lang="en-US" sz="984" dirty="0"/>
          </a:p>
        </p:txBody>
      </p:sp>
      <p:sp>
        <p:nvSpPr>
          <p:cNvPr id="53" name="Text 51"/>
          <p:cNvSpPr/>
          <p:nvPr/>
        </p:nvSpPr>
        <p:spPr>
          <a:xfrm>
            <a:off x="4820580" y="2803029"/>
            <a:ext cx="139727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全带</a:t>
            </a:r>
            <a:endParaRPr lang="en-US" sz="703" dirty="0"/>
          </a:p>
        </p:txBody>
      </p:sp>
      <p:sp>
        <p:nvSpPr>
          <p:cNvPr id="54" name="Text 52"/>
          <p:cNvSpPr/>
          <p:nvPr/>
        </p:nvSpPr>
        <p:spPr>
          <a:xfrm>
            <a:off x="4006193" y="2984078"/>
            <a:ext cx="22116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重音与气息的动力变化对合成的均匀性</a:t>
            </a:r>
            <a:endParaRPr lang="en-US" sz="844" dirty="0"/>
          </a:p>
        </p:txBody>
      </p:sp>
      <p:sp>
        <p:nvSpPr>
          <p:cNvPr id="55" name="Shape 53"/>
          <p:cNvSpPr/>
          <p:nvPr/>
        </p:nvSpPr>
        <p:spPr>
          <a:xfrm>
            <a:off x="6475028" y="2646871"/>
            <a:ext cx="221177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75028" y="2745879"/>
            <a:ext cx="10726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谱通量波动度</a:t>
            </a:r>
            <a:endParaRPr lang="en-US" sz="984" dirty="0"/>
          </a:p>
        </p:txBody>
      </p:sp>
      <p:sp>
        <p:nvSpPr>
          <p:cNvPr id="57" name="Text 55"/>
          <p:cNvSpPr/>
          <p:nvPr/>
        </p:nvSpPr>
        <p:spPr>
          <a:xfrm>
            <a:off x="7289416" y="2803029"/>
            <a:ext cx="1397384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全带</a:t>
            </a:r>
            <a:endParaRPr lang="en-US" sz="703" dirty="0"/>
          </a:p>
        </p:txBody>
      </p:sp>
      <p:sp>
        <p:nvSpPr>
          <p:cNvPr id="58" name="Text 56"/>
          <p:cNvSpPr/>
          <p:nvPr/>
        </p:nvSpPr>
        <p:spPr>
          <a:xfrm>
            <a:off x="6475028" y="2984078"/>
            <a:ext cx="221177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神经声码器帧边界的微观不连续指纹</a:t>
            </a:r>
            <a:endParaRPr lang="en-US" sz="844" dirty="0"/>
          </a:p>
        </p:txBody>
      </p:sp>
      <p:sp>
        <p:nvSpPr>
          <p:cNvPr id="59" name="Shape 57"/>
          <p:cNvSpPr/>
          <p:nvPr/>
        </p:nvSpPr>
        <p:spPr>
          <a:xfrm>
            <a:off x="4006193" y="3254536"/>
            <a:ext cx="221166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06193" y="3353544"/>
            <a:ext cx="1072634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高频谱平坦度</a:t>
            </a:r>
            <a:endParaRPr lang="en-US" sz="984" dirty="0"/>
          </a:p>
        </p:txBody>
      </p:sp>
      <p:sp>
        <p:nvSpPr>
          <p:cNvPr id="61" name="Text 59"/>
          <p:cNvSpPr/>
          <p:nvPr/>
        </p:nvSpPr>
        <p:spPr>
          <a:xfrm>
            <a:off x="4820580" y="3410694"/>
            <a:ext cx="451114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28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4–8kHz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27886" y="3410694"/>
            <a:ext cx="989967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56" kern="0" dirty="0">
                <a:solidFill>
                  <a:srgbClr val="CF6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已证伪·诚实保留</a:t>
            </a:r>
            <a:endParaRPr lang="en-US" sz="703" dirty="0"/>
          </a:p>
        </p:txBody>
      </p:sp>
      <p:sp>
        <p:nvSpPr>
          <p:cNvPr id="63" name="Text 61"/>
          <p:cNvSpPr/>
          <p:nvPr/>
        </p:nvSpPr>
        <p:spPr>
          <a:xfrm>
            <a:off x="4006193" y="3591744"/>
            <a:ext cx="221166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直觉上有效，实测被数据证伪（见下一页）</a:t>
            </a:r>
            <a:endParaRPr lang="en-US" sz="844" dirty="0"/>
          </a:p>
        </p:txBody>
      </p:sp>
      <p:sp>
        <p:nvSpPr>
          <p:cNvPr id="64" name="Shape 62"/>
          <p:cNvSpPr/>
          <p:nvPr/>
        </p:nvSpPr>
        <p:spPr>
          <a:xfrm>
            <a:off x="6475028" y="3254536"/>
            <a:ext cx="221177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75028" y="3402099"/>
            <a:ext cx="2211772" cy="33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全部先验按信道分别拟合：宽带与 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300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3400Hz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窄带各自一套参数。</a:t>
            </a:r>
            <a:endParaRPr lang="en-US" sz="703" dirty="0"/>
          </a:p>
        </p:txBody>
      </p:sp>
      <p:sp>
        <p:nvSpPr>
          <p:cNvPr id="66" name="Text 64"/>
          <p:cNvSpPr/>
          <p:nvPr/>
        </p:nvSpPr>
        <p:spPr>
          <a:xfrm>
            <a:off x="457200" y="3958754"/>
            <a:ext cx="8229600" cy="532209"/>
          </a:xfrm>
          <a:prstGeom prst="rect">
            <a:avLst/>
          </a:prstGeom>
          <a:solidFill>
            <a:srgbClr val="F0EBDD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457200" y="3962326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3228" y="3958754"/>
            <a:ext cx="0" cy="532209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4487391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1488" y="3958754"/>
            <a:ext cx="0" cy="532209"/>
          </a:xfrm>
          <a:prstGeom prst="line">
            <a:avLst/>
          </a:prstGeom>
          <a:noFill/>
          <a:ln w="28575">
            <a:solidFill>
              <a:srgbClr val="C9A22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8650" y="4115916"/>
            <a:ext cx="6858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13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判决融合</a:t>
            </a:r>
            <a:endParaRPr lang="en-US" sz="703" dirty="0"/>
          </a:p>
        </p:txBody>
      </p:sp>
      <p:sp>
        <p:nvSpPr>
          <p:cNvPr id="72" name="Text 70"/>
          <p:cNvSpPr/>
          <p:nvPr/>
        </p:nvSpPr>
        <p:spPr>
          <a:xfrm>
            <a:off x="1214438" y="4065910"/>
            <a:ext cx="4182219" cy="218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algn="l" indent="0" marL="0">
              <a:lnSpc>
                <a:spcPts val="1595"/>
              </a:lnSpc>
              <a:buNone/>
            </a:pPr>
            <a:r>
              <a:rPr lang="en-US" sz="800" baseline="-400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(x</a:t>
            </a:r>
            <a:pPr algn="l" indent="0" marL="0">
              <a:lnSpc>
                <a:spcPts val="1595"/>
              </a:lnSpc>
              <a:buNone/>
            </a:pPr>
            <a:r>
              <a:rPr lang="en-US" sz="800" baseline="-400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μ</a:t>
            </a:r>
            <a:pPr algn="l" indent="0" marL="0">
              <a:lnSpc>
                <a:spcPts val="1595"/>
              </a:lnSpc>
              <a:buNone/>
            </a:pPr>
            <a:r>
              <a:rPr lang="en-US" sz="800" baseline="-400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σ</a:t>
            </a:r>
            <a:pPr algn="l" indent="0" marL="0">
              <a:lnSpc>
                <a:spcPts val="1595"/>
              </a:lnSpc>
              <a:buNone/>
            </a:pPr>
            <a:r>
              <a:rPr lang="en-US" sz="800" baseline="-400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 = σ(Σ w</a:t>
            </a:r>
            <a:pPr algn="l" indent="0" marL="0">
              <a:lnSpc>
                <a:spcPts val="1595"/>
              </a:lnSpc>
              <a:buNone/>
            </a:pPr>
            <a:r>
              <a:rPr lang="en-US" sz="800" baseline="-400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·z</a:t>
            </a:r>
            <a:pPr algn="l" indent="0" marL="0">
              <a:lnSpc>
                <a:spcPts val="1595"/>
              </a:lnSpc>
              <a:buNone/>
            </a:pPr>
            <a:r>
              <a:rPr lang="en-US" sz="800" baseline="-40000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中值滤波 + EMA + 能量加权 → 整段判决</a:t>
            </a:r>
            <a:endParaRPr lang="en-US" sz="984" dirty="0"/>
          </a:p>
        </p:txBody>
      </p:sp>
      <p:sp>
        <p:nvSpPr>
          <p:cNvPr id="73" name="Text 71"/>
          <p:cNvSpPr/>
          <p:nvPr/>
        </p:nvSpPr>
        <p:spPr>
          <a:xfrm>
            <a:off x="5475238" y="4115916"/>
            <a:ext cx="306154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μ、σ 取自然类先验（分宽带/窄带两套）；w 为下一页逻辑回归拟合权重；静音窗在加权前排除</a:t>
            </a:r>
            <a:endParaRPr lang="en-US" sz="703" dirty="0"/>
          </a:p>
        </p:txBody>
      </p:sp>
      <p:sp>
        <p:nvSpPr>
          <p:cNvPr id="74" name="Shape 72"/>
          <p:cNvSpPr/>
          <p:nvPr/>
        </p:nvSpPr>
        <p:spPr>
          <a:xfrm>
            <a:off x="457200" y="4594547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056829" y="4705276"/>
            <a:ext cx="5030343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844" spc="25" kern="0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同一特征集宽带 </a:t>
            </a:r>
            <a:pPr algn="ctr" indent="0" marL="0">
              <a:lnSpc>
                <a:spcPts val="1367"/>
              </a:lnSpc>
              <a:buNone/>
            </a:pPr>
            <a:r>
              <a:rPr lang="en-US" sz="844" spc="25" kern="0" dirty="0">
                <a:solidFill>
                  <a:srgbClr val="F0EB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pPr algn="ctr" indent="0" marL="0">
              <a:lnSpc>
                <a:spcPts val="1367"/>
              </a:lnSpc>
              <a:buNone/>
            </a:pPr>
            <a:r>
              <a:rPr lang="en-US" sz="844" spc="25" kern="0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维 / 窄带 </a:t>
            </a:r>
            <a:pPr algn="ctr" indent="0" marL="0">
              <a:lnSpc>
                <a:spcPts val="1367"/>
              </a:lnSpc>
              <a:buNone/>
            </a:pPr>
            <a:r>
              <a:rPr lang="en-US" sz="844" spc="25" kern="0" dirty="0">
                <a:solidFill>
                  <a:srgbClr val="F0EB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pPr algn="ctr" indent="0" marL="0">
              <a:lnSpc>
                <a:spcPts val="1367"/>
              </a:lnSpc>
              <a:buNone/>
            </a:pPr>
            <a:r>
              <a:rPr lang="en-US" sz="844" spc="25" kern="0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维随信道自适应——可解释不是口号：每个判决都能拆到物理层。</a:t>
            </a:r>
            <a:endParaRPr lang="en-US" sz="8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30251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9" name="Text 7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4206218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92919"/>
            <a:ext cx="2083975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数据驱动校准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2028825" y="657225"/>
            <a:ext cx="334316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29138" y="585788"/>
            <a:ext cx="3518275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权重不是拍的，是拟合出来的——还被数据推翻过一次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942082"/>
            <a:ext cx="2003822" cy="141636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952798"/>
            <a:ext cx="200382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7450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354870"/>
            <a:ext cx="200382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772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219" y="1077813"/>
            <a:ext cx="1703784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13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7219" y="1279624"/>
            <a:ext cx="1703784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构造样本</a:t>
            </a:r>
            <a:endParaRPr lang="en-US" sz="1069" dirty="0"/>
          </a:p>
        </p:txBody>
      </p:sp>
      <p:sp>
        <p:nvSpPr>
          <p:cNvPr id="29" name="Text 27"/>
          <p:cNvSpPr/>
          <p:nvPr/>
        </p:nvSpPr>
        <p:spPr>
          <a:xfrm>
            <a:off x="607219" y="1526753"/>
            <a:ext cx="1703784" cy="548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自然类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种公开人声（含有声书）·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音色 ×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文本，均再造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300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3400Hz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窄带版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607219" y="2103053"/>
            <a:ext cx="170378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25</a:t>
            </a:r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段 × 双信道 = </a:t>
            </a:r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</a:t>
            </a:r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条</a:t>
            </a:r>
            <a:endParaRPr lang="en-US" sz="703" dirty="0"/>
          </a:p>
        </p:txBody>
      </p:sp>
      <p:sp>
        <p:nvSpPr>
          <p:cNvPr id="31" name="Text 29"/>
          <p:cNvSpPr/>
          <p:nvPr/>
        </p:nvSpPr>
        <p:spPr>
          <a:xfrm>
            <a:off x="2532459" y="942082"/>
            <a:ext cx="2003822" cy="141636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532459" y="952798"/>
            <a:ext cx="200382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2709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2459" y="2354870"/>
            <a:ext cx="200382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6031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82478" y="1077813"/>
            <a:ext cx="1703784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13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82478" y="1279624"/>
            <a:ext cx="1703784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拟合自然先验</a:t>
            </a:r>
            <a:endParaRPr lang="en-US" sz="1069" dirty="0"/>
          </a:p>
        </p:txBody>
      </p:sp>
      <p:sp>
        <p:nvSpPr>
          <p:cNvPr id="38" name="Text 36"/>
          <p:cNvSpPr/>
          <p:nvPr/>
        </p:nvSpPr>
        <p:spPr>
          <a:xfrm>
            <a:off x="2682478" y="1526753"/>
            <a:ext cx="1703784" cy="37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按信道取自然类各特征均值/标准差，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分数即偏离自然语音的程度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2682478" y="1925241"/>
            <a:ext cx="170378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宽带 / 窄带各一套 μ、σ</a:t>
            </a:r>
            <a:endParaRPr lang="en-US" sz="703" dirty="0"/>
          </a:p>
        </p:txBody>
      </p:sp>
      <p:sp>
        <p:nvSpPr>
          <p:cNvPr id="40" name="Text 38"/>
          <p:cNvSpPr/>
          <p:nvPr/>
        </p:nvSpPr>
        <p:spPr>
          <a:xfrm>
            <a:off x="4607719" y="942082"/>
            <a:ext cx="2003822" cy="141636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07719" y="952798"/>
            <a:ext cx="200382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7969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7719" y="2354870"/>
            <a:ext cx="200382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1291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7738" y="1077813"/>
            <a:ext cx="1703784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13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7738" y="1279624"/>
            <a:ext cx="1703784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逻辑回归定权</a:t>
            </a:r>
            <a:endParaRPr lang="en-US" sz="1069" dirty="0"/>
          </a:p>
        </p:txBody>
      </p:sp>
      <p:sp>
        <p:nvSpPr>
          <p:cNvPr id="47" name="Text 45"/>
          <p:cNvSpPr/>
          <p:nvPr/>
        </p:nvSpPr>
        <p:spPr>
          <a:xfrm>
            <a:off x="4757738" y="1526753"/>
            <a:ext cx="1703784" cy="37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类加权（自然 ×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）的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L2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正则，梯度下降 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4000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轮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4757738" y="1925241"/>
            <a:ext cx="170378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自然类误判代价 ↑，防「宁错杀」</a:t>
            </a:r>
            <a:endParaRPr lang="en-US" sz="703" dirty="0"/>
          </a:p>
        </p:txBody>
      </p:sp>
      <p:sp>
        <p:nvSpPr>
          <p:cNvPr id="49" name="Text 47"/>
          <p:cNvSpPr/>
          <p:nvPr/>
        </p:nvSpPr>
        <p:spPr>
          <a:xfrm>
            <a:off x="6682978" y="942082"/>
            <a:ext cx="2003822" cy="1416360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682978" y="952798"/>
            <a:ext cx="2003822" cy="0"/>
          </a:xfrm>
          <a:prstGeom prst="line">
            <a:avLst/>
          </a:prstGeom>
          <a:noFill/>
          <a:ln w="21431">
            <a:solidFill>
              <a:srgbClr val="C9D3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83228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82978" y="2354870"/>
            <a:ext cx="2003822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86550" y="942082"/>
            <a:ext cx="0" cy="141636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2997" y="1077813"/>
            <a:ext cx="1703784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13" kern="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STEP 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32997" y="1279624"/>
            <a:ext cx="1703784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两重验证</a:t>
            </a:r>
            <a:endParaRPr lang="en-US" sz="1069" dirty="0"/>
          </a:p>
        </p:txBody>
      </p:sp>
      <p:sp>
        <p:nvSpPr>
          <p:cNvPr id="56" name="Text 54"/>
          <p:cNvSpPr/>
          <p:nvPr/>
        </p:nvSpPr>
        <p:spPr>
          <a:xfrm>
            <a:off x="6832997" y="1526753"/>
            <a:ext cx="1703784" cy="37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混淆矩阵 + 自然类留一法（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</a:t>
            </a:r>
            <a:pPr algn="l" indent="0" marL="0">
              <a:lnSpc>
                <a:spcPts val="1401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）稳定性检验</a:t>
            </a:r>
            <a:endParaRPr lang="en-US" sz="844" dirty="0"/>
          </a:p>
        </p:txBody>
      </p:sp>
      <p:sp>
        <p:nvSpPr>
          <p:cNvPr id="57" name="Text 55"/>
          <p:cNvSpPr/>
          <p:nvPr/>
        </p:nvSpPr>
        <p:spPr>
          <a:xfrm>
            <a:off x="6832997" y="1925241"/>
            <a:ext cx="170378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权重过零特征自动出局</a:t>
            </a:r>
            <a:endParaRPr lang="en-US" sz="703" dirty="0"/>
          </a:p>
        </p:txBody>
      </p:sp>
      <p:sp>
        <p:nvSpPr>
          <p:cNvPr id="58" name="Shape 56"/>
          <p:cNvSpPr/>
          <p:nvPr/>
        </p:nvSpPr>
        <p:spPr>
          <a:xfrm>
            <a:off x="0" y="2462026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2551323"/>
            <a:ext cx="685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13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样本全景</a:t>
            </a:r>
            <a:endParaRPr lang="en-US" sz="703" dirty="0"/>
          </a:p>
        </p:txBody>
      </p:sp>
      <p:sp>
        <p:nvSpPr>
          <p:cNvPr id="60" name="Text 58"/>
          <p:cNvSpPr/>
          <p:nvPr/>
        </p:nvSpPr>
        <p:spPr>
          <a:xfrm>
            <a:off x="957263" y="2544180"/>
            <a:ext cx="7729538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条之上，再扩自然鲁棒变体（±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6dB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变速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1.05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20dB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加噪，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段）与合成退化变体（加噪 ·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MP3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64kbps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变速，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60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段）——共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105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文件 × 双信道 =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210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条判决，见下一页</a:t>
            </a:r>
            <a:endParaRPr lang="en-US" sz="703" dirty="0"/>
          </a:p>
        </p:txBody>
      </p:sp>
      <p:sp>
        <p:nvSpPr>
          <p:cNvPr id="61" name="Text 59"/>
          <p:cNvSpPr/>
          <p:nvPr/>
        </p:nvSpPr>
        <p:spPr>
          <a:xfrm>
            <a:off x="457200" y="2838859"/>
            <a:ext cx="8636000" cy="248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1"/>
              </a:lnSpc>
              <a:buNone/>
            </a:pPr>
            <a:r>
              <a:rPr lang="en-US" sz="1294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校准中最有意思的一件事：直觉被数据否决了</a:t>
            </a:r>
            <a:endParaRPr lang="en-US" sz="1294" dirty="0"/>
          </a:p>
        </p:txBody>
      </p:sp>
      <p:sp>
        <p:nvSpPr>
          <p:cNvPr id="62" name="Text 60"/>
          <p:cNvSpPr/>
          <p:nvPr/>
        </p:nvSpPr>
        <p:spPr>
          <a:xfrm>
            <a:off x="457200" y="3168811"/>
            <a:ext cx="3857625" cy="1080046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457200" y="3179527"/>
            <a:ext cx="3857625" cy="0"/>
          </a:xfrm>
          <a:prstGeom prst="line">
            <a:avLst/>
          </a:prstGeom>
          <a:noFill/>
          <a:ln w="21431">
            <a:solidFill>
              <a:srgbClr val="CF655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11253" y="3168811"/>
            <a:ext cx="0" cy="108004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4245285"/>
            <a:ext cx="3857625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0772" y="3168811"/>
            <a:ext cx="0" cy="108004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081" y="3318830"/>
            <a:ext cx="347186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84" kern="0" dirty="0">
                <a:solidFill>
                  <a:srgbClr val="CF6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被证伪 · 高频谱平坦度</a:t>
            </a:r>
            <a:endParaRPr lang="en-US" sz="703" dirty="0"/>
          </a:p>
        </p:txBody>
      </p:sp>
      <p:sp>
        <p:nvSpPr>
          <p:cNvPr id="68" name="Text 66"/>
          <p:cNvSpPr/>
          <p:nvPr/>
        </p:nvSpPr>
        <p:spPr>
          <a:xfrm>
            <a:off x="650081" y="3577791"/>
            <a:ext cx="203454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dirty="0">
                <a:solidFill>
                  <a:srgbClr val="CF6553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0.10</a:t>
            </a:r>
            <a:endParaRPr lang="en-US" sz="2475" dirty="0"/>
          </a:p>
        </p:txBody>
      </p:sp>
      <p:sp>
        <p:nvSpPr>
          <p:cNvPr id="69" name="Text 67"/>
          <p:cNvSpPr/>
          <p:nvPr/>
        </p:nvSpPr>
        <p:spPr>
          <a:xfrm>
            <a:off x="650081" y="3964893"/>
            <a:ext cx="200910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类间分离度</a:t>
            </a:r>
            <a:endParaRPr lang="en-US" sz="703" dirty="0"/>
          </a:p>
        </p:txBody>
      </p:sp>
      <p:sp>
        <p:nvSpPr>
          <p:cNvPr id="70" name="Text 68"/>
          <p:cNvSpPr/>
          <p:nvPr/>
        </p:nvSpPr>
        <p:spPr>
          <a:xfrm>
            <a:off x="2107406" y="3647666"/>
            <a:ext cx="2014538" cy="41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文献与直觉都说它有效，实测分不开自然与合成——拟合权重自动归零</a:t>
            </a:r>
            <a:endParaRPr lang="en-US" sz="844" dirty="0"/>
          </a:p>
        </p:txBody>
      </p:sp>
      <p:sp>
        <p:nvSpPr>
          <p:cNvPr id="71" name="Text 69"/>
          <p:cNvSpPr/>
          <p:nvPr/>
        </p:nvSpPr>
        <p:spPr>
          <a:xfrm>
            <a:off x="4314825" y="3168811"/>
            <a:ext cx="514350" cy="1080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098"/>
              </a:lnSpc>
              <a:buNone/>
            </a:pPr>
            <a:r>
              <a:rPr lang="en-US" sz="1913" b="1" dirty="0">
                <a:solidFill>
                  <a:srgbClr val="C9A22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对</a:t>
            </a:r>
            <a:endParaRPr lang="en-US" sz="1913" dirty="0"/>
          </a:p>
        </p:txBody>
      </p:sp>
      <p:sp>
        <p:nvSpPr>
          <p:cNvPr id="72" name="Text 70"/>
          <p:cNvSpPr/>
          <p:nvPr/>
        </p:nvSpPr>
        <p:spPr>
          <a:xfrm>
            <a:off x="4829175" y="3168811"/>
            <a:ext cx="3857625" cy="1080046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829175" y="3179527"/>
            <a:ext cx="3857625" cy="0"/>
          </a:xfrm>
          <a:prstGeom prst="line">
            <a:avLst/>
          </a:prstGeom>
          <a:noFill/>
          <a:ln w="21431">
            <a:solidFill>
              <a:srgbClr val="5EA88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83228" y="3168811"/>
            <a:ext cx="0" cy="108004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29175" y="4245285"/>
            <a:ext cx="3857625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32747" y="3168811"/>
            <a:ext cx="0" cy="108004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2056" y="3318830"/>
            <a:ext cx="347186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84" kern="0" dirty="0">
                <a:solidFill>
                  <a:srgbClr val="5EA8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被验证 · 高频周期性（自研）</a:t>
            </a:r>
            <a:endParaRPr lang="en-US" sz="703" dirty="0"/>
          </a:p>
        </p:txBody>
      </p:sp>
      <p:sp>
        <p:nvSpPr>
          <p:cNvPr id="78" name="Text 76"/>
          <p:cNvSpPr/>
          <p:nvPr/>
        </p:nvSpPr>
        <p:spPr>
          <a:xfrm>
            <a:off x="5022056" y="3577791"/>
            <a:ext cx="203454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1.28</a:t>
            </a:r>
            <a:endParaRPr lang="en-US" sz="2475" dirty="0"/>
          </a:p>
        </p:txBody>
      </p:sp>
      <p:sp>
        <p:nvSpPr>
          <p:cNvPr id="79" name="Text 77"/>
          <p:cNvSpPr/>
          <p:nvPr/>
        </p:nvSpPr>
        <p:spPr>
          <a:xfrm>
            <a:off x="5022056" y="3964893"/>
            <a:ext cx="149030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类间分离度 → 权重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0.289</a:t>
            </a:r>
            <a:endParaRPr lang="en-US" sz="703" dirty="0"/>
          </a:p>
        </p:txBody>
      </p:sp>
      <p:sp>
        <p:nvSpPr>
          <p:cNvPr id="80" name="Text 78"/>
          <p:cNvSpPr/>
          <p:nvPr/>
        </p:nvSpPr>
        <p:spPr>
          <a:xfrm>
            <a:off x="6479381" y="3647666"/>
            <a:ext cx="2014538" cy="41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自研特征反而在数据上站住了——这就是先拟合后信任的理由。</a:t>
            </a:r>
            <a:endParaRPr lang="en-US" sz="844" dirty="0"/>
          </a:p>
        </p:txBody>
      </p:sp>
      <p:sp>
        <p:nvSpPr>
          <p:cNvPr id="81" name="Shape 79"/>
          <p:cNvSpPr/>
          <p:nvPr/>
        </p:nvSpPr>
        <p:spPr>
          <a:xfrm>
            <a:off x="457200" y="4652367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4648795"/>
            <a:ext cx="8229600" cy="271963"/>
          </a:xfrm>
          <a:prstGeom prst="rect">
            <a:avLst/>
          </a:prstGeom>
          <a:noFill/>
          <a:ln/>
        </p:spPr>
        <p:txBody>
          <a:bodyPr wrap="square" lIns="0" tIns="92869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校准全流程脚本化，样本扩展后可一键重拟合 ·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scripts/calibrate-engine.ts</a:t>
            </a:r>
            <a:pPr algn="l" indent="0" marL="0">
              <a:lnSpc>
                <a:spcPts val="1296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fit-weights.ts</a:t>
            </a:r>
            <a:pPr algn="l" indent="0" marL="0">
              <a:lnSpc>
                <a:spcPts val="1296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随作品提交。</a:t>
            </a:r>
            <a:endParaRPr lang="en-US" sz="70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8" name="Text 6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60502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4937671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78631"/>
            <a:ext cx="155448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实测结果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543050" y="642938"/>
            <a:ext cx="5186251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86451" y="571500"/>
            <a:ext cx="2357549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能检出的、检不出的，都摆出来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927795"/>
            <a:ext cx="1853625" cy="254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3"/>
              </a:lnSpc>
              <a:buNone/>
            </a:pPr>
            <a:r>
              <a:rPr lang="en-US" sz="1744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20/20</a:t>
            </a:r>
            <a:endParaRPr lang="en-US" sz="1744" dirty="0"/>
          </a:p>
        </p:txBody>
      </p:sp>
      <p:sp>
        <p:nvSpPr>
          <p:cNvPr id="23" name="Text 21"/>
          <p:cNvSpPr/>
          <p:nvPr/>
        </p:nvSpPr>
        <p:spPr>
          <a:xfrm>
            <a:off x="457200" y="1209749"/>
            <a:ext cx="1357780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宽带合成检出 · 校准集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</a:t>
            </a:r>
            <a:endParaRPr lang="en-US" sz="703" dirty="0"/>
          </a:p>
        </p:txBody>
      </p:sp>
      <p:sp>
        <p:nvSpPr>
          <p:cNvPr id="24" name="Shape 22"/>
          <p:cNvSpPr/>
          <p:nvPr/>
        </p:nvSpPr>
        <p:spPr>
          <a:xfrm>
            <a:off x="1719300" y="913507"/>
            <a:ext cx="0" cy="55520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51459" y="927795"/>
            <a:ext cx="1158515" cy="254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3"/>
              </a:lnSpc>
              <a:buNone/>
            </a:pPr>
            <a:r>
              <a:rPr lang="en-US" sz="1744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4/5</a:t>
            </a:r>
            <a:endParaRPr lang="en-US" sz="1744" dirty="0"/>
          </a:p>
        </p:txBody>
      </p:sp>
      <p:sp>
        <p:nvSpPr>
          <p:cNvPr id="26" name="Text 24"/>
          <p:cNvSpPr/>
          <p:nvPr/>
        </p:nvSpPr>
        <p:spPr>
          <a:xfrm>
            <a:off x="1851459" y="1209749"/>
            <a:ext cx="1158515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自然语音放行 · 自然源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703" dirty="0"/>
          </a:p>
        </p:txBody>
      </p:sp>
      <p:sp>
        <p:nvSpPr>
          <p:cNvPr id="27" name="Shape 25"/>
          <p:cNvSpPr/>
          <p:nvPr/>
        </p:nvSpPr>
        <p:spPr>
          <a:xfrm>
            <a:off x="3113559" y="913507"/>
            <a:ext cx="0" cy="55520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5718" y="927795"/>
            <a:ext cx="1158515" cy="254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3"/>
              </a:lnSpc>
              <a:buNone/>
            </a:pPr>
            <a:r>
              <a:rPr lang="en-US" sz="1744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0.917</a:t>
            </a:r>
            <a:endParaRPr lang="en-US" sz="1744" dirty="0"/>
          </a:p>
        </p:txBody>
      </p:sp>
      <p:sp>
        <p:nvSpPr>
          <p:cNvPr id="29" name="Text 27"/>
          <p:cNvSpPr/>
          <p:nvPr/>
        </p:nvSpPr>
        <p:spPr>
          <a:xfrm>
            <a:off x="3245718" y="1209749"/>
            <a:ext cx="1158515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F1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扩展集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105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文件</a:t>
            </a:r>
            <a:endParaRPr lang="en-US" sz="703" dirty="0"/>
          </a:p>
        </p:txBody>
      </p:sp>
      <p:sp>
        <p:nvSpPr>
          <p:cNvPr id="30" name="Shape 28"/>
          <p:cNvSpPr/>
          <p:nvPr/>
        </p:nvSpPr>
        <p:spPr>
          <a:xfrm>
            <a:off x="4507818" y="913507"/>
            <a:ext cx="0" cy="55520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6021" y="927795"/>
            <a:ext cx="1726429" cy="254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3"/>
              </a:lnSpc>
              <a:buNone/>
            </a:pPr>
            <a:r>
              <a:rPr lang="en-US" sz="1744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0.003–0.015</a:t>
            </a:r>
            <a:endParaRPr lang="en-US" sz="1744" dirty="0"/>
          </a:p>
        </p:txBody>
      </p:sp>
      <p:sp>
        <p:nvSpPr>
          <p:cNvPr id="32" name="Text 30"/>
          <p:cNvSpPr/>
          <p:nvPr/>
        </p:nvSpPr>
        <p:spPr>
          <a:xfrm>
            <a:off x="4639977" y="1209749"/>
            <a:ext cx="1158515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实时因子 · 纯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703" dirty="0"/>
          </a:p>
        </p:txBody>
      </p:sp>
      <p:sp>
        <p:nvSpPr>
          <p:cNvPr id="33" name="Shape 31"/>
          <p:cNvSpPr/>
          <p:nvPr/>
        </p:nvSpPr>
        <p:spPr>
          <a:xfrm>
            <a:off x="5902077" y="913507"/>
            <a:ext cx="0" cy="55520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4236" y="927795"/>
            <a:ext cx="1158515" cy="254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3"/>
              </a:lnSpc>
              <a:buNone/>
            </a:pPr>
            <a:r>
              <a:rPr lang="en-US" sz="1744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9.15ms</a:t>
            </a:r>
            <a:endParaRPr lang="en-US" sz="1744" dirty="0"/>
          </a:p>
        </p:txBody>
      </p:sp>
      <p:sp>
        <p:nvSpPr>
          <p:cNvPr id="35" name="Text 33"/>
          <p:cNvSpPr/>
          <p:nvPr/>
        </p:nvSpPr>
        <p:spPr>
          <a:xfrm>
            <a:off x="6034236" y="1209749"/>
            <a:ext cx="1158515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单窗耗时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P99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160</a:t>
            </a:r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窗微基准</a:t>
            </a:r>
            <a:endParaRPr lang="en-US" sz="703" dirty="0"/>
          </a:p>
        </p:txBody>
      </p:sp>
      <p:sp>
        <p:nvSpPr>
          <p:cNvPr id="36" name="Shape 34"/>
          <p:cNvSpPr/>
          <p:nvPr/>
        </p:nvSpPr>
        <p:spPr>
          <a:xfrm>
            <a:off x="7296336" y="913507"/>
            <a:ext cx="0" cy="55520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8495" y="927795"/>
            <a:ext cx="1158515" cy="254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3"/>
              </a:lnSpc>
              <a:buNone/>
            </a:pPr>
            <a:r>
              <a:rPr lang="en-US" sz="1744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≤1s</a:t>
            </a:r>
            <a:endParaRPr lang="en-US" sz="1744" dirty="0"/>
          </a:p>
        </p:txBody>
      </p:sp>
      <p:sp>
        <p:nvSpPr>
          <p:cNvPr id="38" name="Text 36"/>
          <p:cNvSpPr/>
          <p:nvPr/>
        </p:nvSpPr>
        <p:spPr>
          <a:xfrm>
            <a:off x="7412063" y="1209749"/>
            <a:ext cx="1191381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判决时延 · 窗口步进主导</a:t>
            </a:r>
            <a:endParaRPr lang="en-US" sz="703" dirty="0"/>
          </a:p>
        </p:txBody>
      </p:sp>
      <p:sp>
        <p:nvSpPr>
          <p:cNvPr id="39" name="Text 37"/>
          <p:cNvSpPr/>
          <p:nvPr/>
        </p:nvSpPr>
        <p:spPr>
          <a:xfrm>
            <a:off x="460772" y="1600870"/>
            <a:ext cx="4279106" cy="2774677"/>
          </a:xfrm>
          <a:prstGeom prst="rect">
            <a:avLst/>
          </a:prstGeom>
          <a:solidFill>
            <a:srgbClr val="FFFFFF"/>
          </a:solidFill>
          <a:ln w="7144">
            <a:solidFill>
              <a:srgbClr val="F0EB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0" descr="/tmp/h2p-fit-1793170383263-a7bcz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1604442"/>
            <a:ext cx="4271963" cy="2767533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57200" y="4443413"/>
            <a:ext cx="428625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· 逐文件整段合成置信度：自然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=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（左）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合成 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=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</a:t>
            </a:r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（右），宽带信道</a:t>
            </a:r>
            <a:endParaRPr lang="en-US" sz="703" dirty="0"/>
          </a:p>
        </p:txBody>
      </p:sp>
      <p:sp>
        <p:nvSpPr>
          <p:cNvPr id="42" name="Text 39"/>
          <p:cNvSpPr/>
          <p:nvPr/>
        </p:nvSpPr>
        <p:spPr>
          <a:xfrm>
            <a:off x="4929188" y="1597298"/>
            <a:ext cx="3757613" cy="762595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4929188" y="1608013"/>
            <a:ext cx="3757613" cy="0"/>
          </a:xfrm>
          <a:prstGeom prst="line">
            <a:avLst/>
          </a:prstGeom>
          <a:noFill/>
          <a:ln w="21431">
            <a:solidFill>
              <a:srgbClr val="CF655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83228" y="1597298"/>
            <a:ext cx="0" cy="76259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929188" y="2356321"/>
            <a:ext cx="3757613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32759" y="1597298"/>
            <a:ext cx="0" cy="76259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79206" y="1711598"/>
            <a:ext cx="34575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84" kern="0" dirty="0">
                <a:solidFill>
                  <a:srgbClr val="CF6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窄带电话信道</a:t>
            </a:r>
            <a:endParaRPr lang="en-US" sz="703" dirty="0"/>
          </a:p>
        </p:txBody>
      </p:sp>
      <p:sp>
        <p:nvSpPr>
          <p:cNvPr id="48" name="Text 45"/>
          <p:cNvSpPr/>
          <p:nvPr/>
        </p:nvSpPr>
        <p:spPr>
          <a:xfrm>
            <a:off x="5079206" y="1906265"/>
            <a:ext cx="3457575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16/20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检出——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300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3400Hz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带宽直接抹掉高频信息，退化如实标注、不藏着</a:t>
            </a:r>
            <a:endParaRPr lang="en-US" sz="844" dirty="0"/>
          </a:p>
        </p:txBody>
      </p:sp>
      <p:sp>
        <p:nvSpPr>
          <p:cNvPr id="49" name="Text 46"/>
          <p:cNvSpPr/>
          <p:nvPr/>
        </p:nvSpPr>
        <p:spPr>
          <a:xfrm>
            <a:off x="4929188" y="2445618"/>
            <a:ext cx="3757613" cy="762595"/>
          </a:xfrm>
          <a:prstGeom prst="rect">
            <a:avLst/>
          </a:prstGeom>
          <a:solidFill>
            <a:srgbClr val="F0EBDD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4929188" y="2456334"/>
            <a:ext cx="3757613" cy="0"/>
          </a:xfrm>
          <a:prstGeom prst="line">
            <a:avLst/>
          </a:prstGeom>
          <a:noFill/>
          <a:ln w="21431">
            <a:solidFill>
              <a:srgbClr val="CF655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683228" y="2445618"/>
            <a:ext cx="0" cy="76259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929188" y="3204642"/>
            <a:ext cx="3757613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932759" y="2445618"/>
            <a:ext cx="0" cy="76259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079206" y="2559918"/>
            <a:ext cx="3457575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84" kern="0" dirty="0">
                <a:solidFill>
                  <a:srgbClr val="CF65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有声书边界</a:t>
            </a:r>
            <a:endParaRPr lang="en-US" sz="703" dirty="0"/>
          </a:p>
        </p:txBody>
      </p:sp>
      <p:sp>
        <p:nvSpPr>
          <p:cNvPr id="55" name="Text 52"/>
          <p:cNvSpPr/>
          <p:nvPr/>
        </p:nvSpPr>
        <p:spPr>
          <a:xfrm>
            <a:off x="5079206" y="2754585"/>
            <a:ext cx="3457575" cy="353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10/50</a:t>
            </a:r>
            <a:pPr algn="l" indent="0" marL="0">
              <a:lnSpc>
                <a:spcPts val="1392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误判——录音棚级自然音的生产洁净度与轻量特征耦合，这正是启动深度引擎的直接动机，而非调参掩盖</a:t>
            </a:r>
            <a:endParaRPr lang="en-US" sz="844" dirty="0"/>
          </a:p>
        </p:txBody>
      </p:sp>
      <p:sp>
        <p:nvSpPr>
          <p:cNvPr id="56" name="Shape 53"/>
          <p:cNvSpPr/>
          <p:nvPr/>
        </p:nvSpPr>
        <p:spPr>
          <a:xfrm>
            <a:off x="4929188" y="3297510"/>
            <a:ext cx="3757613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929188" y="3372520"/>
            <a:ext cx="3757612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分组准确率 · </a:t>
            </a:r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703" dirty="0"/>
          </a:p>
        </p:txBody>
      </p:sp>
      <p:sp>
        <p:nvSpPr>
          <p:cNvPr id="58" name="Text 55"/>
          <p:cNvSpPr/>
          <p:nvPr/>
        </p:nvSpPr>
        <p:spPr>
          <a:xfrm>
            <a:off x="4929188" y="3567187"/>
            <a:ext cx="107899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N1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自然·原始</a:t>
            </a:r>
            <a:endParaRPr lang="en-US" sz="703" dirty="0"/>
          </a:p>
        </p:txBody>
      </p:sp>
      <p:sp>
        <p:nvSpPr>
          <p:cNvPr id="59" name="Text 56"/>
          <p:cNvSpPr/>
          <p:nvPr/>
        </p:nvSpPr>
        <p:spPr>
          <a:xfrm>
            <a:off x="5829300" y="3574331"/>
            <a:ext cx="26691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n=10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469605" y="3567187"/>
            <a:ext cx="2746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0.80</a:t>
            </a:r>
            <a:endParaRPr lang="en-US" sz="703" dirty="0"/>
          </a:p>
        </p:txBody>
      </p:sp>
      <p:sp>
        <p:nvSpPr>
          <p:cNvPr id="61" name="Text 58"/>
          <p:cNvSpPr/>
          <p:nvPr/>
        </p:nvSpPr>
        <p:spPr>
          <a:xfrm>
            <a:off x="4929188" y="3758282"/>
            <a:ext cx="98795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N2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自然·鲁棒变体</a:t>
            </a:r>
            <a:endParaRPr lang="en-US" sz="703" dirty="0"/>
          </a:p>
        </p:txBody>
      </p:sp>
      <p:sp>
        <p:nvSpPr>
          <p:cNvPr id="62" name="Text 59"/>
          <p:cNvSpPr/>
          <p:nvPr/>
        </p:nvSpPr>
        <p:spPr>
          <a:xfrm>
            <a:off x="5829300" y="3765426"/>
            <a:ext cx="26691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n=40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8469605" y="3758282"/>
            <a:ext cx="2746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0.80</a:t>
            </a:r>
            <a:endParaRPr lang="en-US" sz="703" dirty="0"/>
          </a:p>
        </p:txBody>
      </p:sp>
      <p:sp>
        <p:nvSpPr>
          <p:cNvPr id="64" name="Text 61"/>
          <p:cNvSpPr/>
          <p:nvPr/>
        </p:nvSpPr>
        <p:spPr>
          <a:xfrm>
            <a:off x="4929188" y="3949378"/>
            <a:ext cx="107899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T1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合成·校准集</a:t>
            </a:r>
            <a:endParaRPr lang="en-US" sz="703" dirty="0"/>
          </a:p>
        </p:txBody>
      </p:sp>
      <p:sp>
        <p:nvSpPr>
          <p:cNvPr id="65" name="Text 62"/>
          <p:cNvSpPr/>
          <p:nvPr/>
        </p:nvSpPr>
        <p:spPr>
          <a:xfrm>
            <a:off x="5829300" y="3956521"/>
            <a:ext cx="26691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n=40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8469605" y="3949378"/>
            <a:ext cx="2746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0.90</a:t>
            </a:r>
            <a:endParaRPr lang="en-US" sz="703" dirty="0"/>
          </a:p>
        </p:txBody>
      </p:sp>
      <p:sp>
        <p:nvSpPr>
          <p:cNvPr id="67" name="Text 64"/>
          <p:cNvSpPr/>
          <p:nvPr/>
        </p:nvSpPr>
        <p:spPr>
          <a:xfrm>
            <a:off x="4929188" y="4140473"/>
            <a:ext cx="987952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T3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合成·退化变体</a:t>
            </a:r>
            <a:endParaRPr lang="en-US" sz="703" dirty="0"/>
          </a:p>
        </p:txBody>
      </p:sp>
      <p:sp>
        <p:nvSpPr>
          <p:cNvPr id="68" name="Text 65"/>
          <p:cNvSpPr/>
          <p:nvPr/>
        </p:nvSpPr>
        <p:spPr>
          <a:xfrm>
            <a:off x="5829300" y="4147617"/>
            <a:ext cx="262398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n=120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414337" y="4140473"/>
            <a:ext cx="339989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0.783</a:t>
            </a:r>
            <a:endParaRPr lang="en-US" sz="703" dirty="0"/>
          </a:p>
        </p:txBody>
      </p:sp>
      <p:sp>
        <p:nvSpPr>
          <p:cNvPr id="70" name="Shape 67"/>
          <p:cNvSpPr/>
          <p:nvPr/>
        </p:nvSpPr>
        <p:spPr>
          <a:xfrm>
            <a:off x="4929188" y="4370859"/>
            <a:ext cx="3757613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929188" y="4481587"/>
            <a:ext cx="586931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权威基准</a:t>
            </a:r>
            <a:endParaRPr lang="en-US" sz="703" dirty="0"/>
          </a:p>
        </p:txBody>
      </p:sp>
      <p:sp>
        <p:nvSpPr>
          <p:cNvPr id="72" name="Text 69"/>
          <p:cNvSpPr/>
          <p:nvPr/>
        </p:nvSpPr>
        <p:spPr>
          <a:xfrm>
            <a:off x="5364956" y="4481587"/>
            <a:ext cx="3321844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t-DCF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2019/2021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，深度引擎阶段既定指标）</a:t>
            </a:r>
            <a:endParaRPr lang="en-US" sz="703" dirty="0"/>
          </a:p>
        </p:txBody>
      </p:sp>
      <p:sp>
        <p:nvSpPr>
          <p:cNvPr id="73" name="Text 70"/>
          <p:cNvSpPr/>
          <p:nvPr/>
        </p:nvSpPr>
        <p:spPr>
          <a:xfrm>
            <a:off x="4929188" y="4655716"/>
            <a:ext cx="733663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本阶段实测</a:t>
            </a:r>
            <a:endParaRPr lang="en-US" sz="703" dirty="0"/>
          </a:p>
        </p:txBody>
      </p:sp>
      <p:sp>
        <p:nvSpPr>
          <p:cNvPr id="74" name="Text 71"/>
          <p:cNvSpPr/>
          <p:nvPr/>
        </p:nvSpPr>
        <p:spPr>
          <a:xfrm>
            <a:off x="5457825" y="4655716"/>
            <a:ext cx="3228975" cy="14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——校准集检出率 +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时延 + 分组准确率</a:t>
            </a:r>
            <a:endParaRPr lang="en-US" sz="703" dirty="0"/>
          </a:p>
        </p:txBody>
      </p:sp>
      <p:sp>
        <p:nvSpPr>
          <p:cNvPr id="75" name="Text 72"/>
          <p:cNvSpPr/>
          <p:nvPr/>
        </p:nvSpPr>
        <p:spPr>
          <a:xfrm>
            <a:off x="4929188" y="4829845"/>
            <a:ext cx="733663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业务端到端</a:t>
            </a:r>
            <a:endParaRPr lang="en-US" sz="703" dirty="0"/>
          </a:p>
        </p:txBody>
      </p:sp>
      <p:sp>
        <p:nvSpPr>
          <p:cNvPr id="76" name="Text 73"/>
          <p:cNvSpPr/>
          <p:nvPr/>
        </p:nvSpPr>
        <p:spPr>
          <a:xfrm>
            <a:off x="5457825" y="4829845"/>
            <a:ext cx="3228975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——无头浏览器全流程通过</a:t>
            </a:r>
            <a:endParaRPr lang="en-US" sz="703" dirty="0"/>
          </a:p>
        </p:txBody>
      </p:sp>
      <p:sp>
        <p:nvSpPr>
          <p:cNvPr id="77" name="Shape 74"/>
          <p:cNvSpPr/>
          <p:nvPr/>
        </p:nvSpPr>
        <p:spPr>
          <a:xfrm>
            <a:off x="457200" y="4698802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57200" y="4695230"/>
            <a:ext cx="8229600" cy="237244"/>
          </a:xfrm>
          <a:prstGeom prst="rect">
            <a:avLst/>
          </a:prstGeom>
          <a:noFill/>
          <a:ln/>
        </p:spPr>
        <p:txBody>
          <a:bodyPr wrap="square" lIns="0" tIns="78581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扩展测试集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105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文件 × 双信道 =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条判决 · 宽带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0.876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0.935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0.900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分布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p50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0.0064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p95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0.0082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0.0118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详见《系统测试报告》</a:t>
            </a:r>
            <a:endParaRPr lang="en-US" sz="70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8" name="Text 6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60502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2" name="Text 10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5669235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78631"/>
            <a:ext cx="116586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创新点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300163" y="642938"/>
            <a:ext cx="5293407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50720" y="571500"/>
            <a:ext cx="2493280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最想说的一个：把检测搬进通话里</a:t>
            </a:r>
            <a:endParaRPr lang="en-US" sz="1069" dirty="0"/>
          </a:p>
        </p:txBody>
      </p:sp>
      <p:sp>
        <p:nvSpPr>
          <p:cNvPr id="22" name="Shape 20"/>
          <p:cNvSpPr/>
          <p:nvPr/>
        </p:nvSpPr>
        <p:spPr>
          <a:xfrm>
            <a:off x="467916" y="984945"/>
            <a:ext cx="0" cy="3544193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656" y="984945"/>
            <a:ext cx="3979069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从离线文件检测，到通话级实时流式</a:t>
            </a:r>
            <a:endParaRPr lang="en-US" sz="1463" dirty="0"/>
          </a:p>
        </p:txBody>
      </p:sp>
      <p:sp>
        <p:nvSpPr>
          <p:cNvPr id="24" name="Text 22"/>
          <p:cNvSpPr/>
          <p:nvPr/>
        </p:nvSpPr>
        <p:spPr>
          <a:xfrm>
            <a:off x="678656" y="1377851"/>
            <a:ext cx="3979069" cy="73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既有研究与同方向获奖作品做的都是事后检测一段文件；声盾的滑窗流式管线边通话、边判决、检出即告警——提前一分钟的告警，可能就直接拦下一笔转账。</a:t>
            </a:r>
            <a:endParaRPr lang="en-US" sz="984" dirty="0"/>
          </a:p>
        </p:txBody>
      </p:sp>
      <p:sp>
        <p:nvSpPr>
          <p:cNvPr id="25" name="Text 23"/>
          <p:cNvSpPr/>
          <p:nvPr/>
        </p:nvSpPr>
        <p:spPr>
          <a:xfrm>
            <a:off x="678656" y="2143125"/>
            <a:ext cx="3979069" cy="74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快不是堆算力堆出来的：零依赖纯 </a:t>
            </a:r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引擎在普通 </a:t>
            </a:r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上就留足余量，这决定了它能进手机、进浏览器、进电话渠道的风控链路，而不是停在实验室的 </a:t>
            </a:r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pPr algn="l" indent="0" marL="0">
              <a:lnSpc>
                <a:spcPts val="1821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服务器上。</a:t>
            </a:r>
            <a:endParaRPr lang="en-US" sz="984" dirty="0"/>
          </a:p>
        </p:txBody>
      </p:sp>
      <p:sp>
        <p:nvSpPr>
          <p:cNvPr id="26" name="Text 24"/>
          <p:cNvSpPr/>
          <p:nvPr/>
        </p:nvSpPr>
        <p:spPr>
          <a:xfrm>
            <a:off x="678656" y="3349749"/>
            <a:ext cx="397906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RTF &lt; 0.015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78656" y="3676910"/>
            <a:ext cx="397906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</a:t>
            </a:r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普通终端可部署（实测 </a:t>
            </a:r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p50</a:t>
            </a:r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0.0064</a:t>
            </a:r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703" dirty="0"/>
          </a:p>
        </p:txBody>
      </p:sp>
      <p:sp>
        <p:nvSpPr>
          <p:cNvPr id="28" name="Shape 26"/>
          <p:cNvSpPr/>
          <p:nvPr/>
        </p:nvSpPr>
        <p:spPr>
          <a:xfrm>
            <a:off x="678656" y="3939443"/>
            <a:ext cx="3979069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656" y="4057315"/>
            <a:ext cx="397906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2s</a:t>
            </a:r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窗 / </a:t>
            </a:r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1s</a:t>
            </a:r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步进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678656" y="4384477"/>
            <a:ext cx="397906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4" kern="0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逐窗置信度实时刷新 · 告警不等人</a:t>
            </a:r>
            <a:endParaRPr lang="en-US" sz="703" dirty="0"/>
          </a:p>
        </p:txBody>
      </p:sp>
      <p:sp>
        <p:nvSpPr>
          <p:cNvPr id="31" name="Text 29"/>
          <p:cNvSpPr/>
          <p:nvPr/>
        </p:nvSpPr>
        <p:spPr>
          <a:xfrm>
            <a:off x="4914900" y="1137196"/>
            <a:ext cx="4229100" cy="19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3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可解释引擎 + 数据校准</a:t>
            </a:r>
            <a:endParaRPr lang="en-US" sz="1069" dirty="0"/>
          </a:p>
        </p:txBody>
      </p:sp>
      <p:sp>
        <p:nvSpPr>
          <p:cNvPr id="32" name="Text 30"/>
          <p:cNvSpPr/>
          <p:nvPr/>
        </p:nvSpPr>
        <p:spPr>
          <a:xfrm>
            <a:off x="4914900" y="1370372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判决可展开为八维特征对自然先验的偏离；校准流程主动证伪无效特征，可随样本扩展重拟合</a:t>
            </a:r>
            <a:endParaRPr lang="en-US" sz="844" dirty="0"/>
          </a:p>
        </p:txBody>
      </p:sp>
      <p:sp>
        <p:nvSpPr>
          <p:cNvPr id="33" name="Shape 31"/>
          <p:cNvSpPr/>
          <p:nvPr/>
        </p:nvSpPr>
        <p:spPr>
          <a:xfrm>
            <a:off x="4914900" y="1869207"/>
            <a:ext cx="37719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4900" y="2025030"/>
            <a:ext cx="3757613" cy="19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3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检测—告警—存证—报告闭环</a:t>
            </a:r>
            <a:endParaRPr lang="en-US" sz="1069" dirty="0"/>
          </a:p>
        </p:txBody>
      </p:sp>
      <p:sp>
        <p:nvSpPr>
          <p:cNvPr id="35" name="Text 33"/>
          <p:cNvSpPr/>
          <p:nvPr/>
        </p:nvSpPr>
        <p:spPr>
          <a:xfrm>
            <a:off x="4914900" y="2258206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四级风险分级、可疑片段时间轴、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证据链、案件编号与可打印核验报告，结论无须二次加工即可进入举报协查</a:t>
            </a:r>
            <a:endParaRPr lang="en-US" sz="844" dirty="0"/>
          </a:p>
        </p:txBody>
      </p:sp>
      <p:sp>
        <p:nvSpPr>
          <p:cNvPr id="36" name="Shape 34"/>
          <p:cNvSpPr/>
          <p:nvPr/>
        </p:nvSpPr>
        <p:spPr>
          <a:xfrm>
            <a:off x="4914900" y="2757041"/>
            <a:ext cx="37719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4900" y="2912864"/>
            <a:ext cx="3757613" cy="19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3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现场自证的双哈希锚定</a:t>
            </a:r>
            <a:endParaRPr lang="en-US" sz="1069" dirty="0"/>
          </a:p>
        </p:txBody>
      </p:sp>
      <p:sp>
        <p:nvSpPr>
          <p:cNvPr id="38" name="Text 36"/>
          <p:cNvSpPr/>
          <p:nvPr/>
        </p:nvSpPr>
        <p:spPr>
          <a:xfrm>
            <a:off x="4914900" y="3146041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合成挑战把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原始输出与分析副本分别哈希入库：这份音频确由平台现场生成、无法事后构造</a:t>
            </a:r>
            <a:endParaRPr lang="en-US" sz="844" dirty="0"/>
          </a:p>
        </p:txBody>
      </p:sp>
      <p:sp>
        <p:nvSpPr>
          <p:cNvPr id="39" name="Shape 37"/>
          <p:cNvSpPr/>
          <p:nvPr/>
        </p:nvSpPr>
        <p:spPr>
          <a:xfrm>
            <a:off x="4914900" y="3644875"/>
            <a:ext cx="37719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4900" y="3800698"/>
            <a:ext cx="3757613" cy="19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3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演示永续的四级合成链</a:t>
            </a:r>
            <a:endParaRPr lang="en-US" sz="1069" dirty="0"/>
          </a:p>
        </p:txBody>
      </p:sp>
      <p:sp>
        <p:nvSpPr>
          <p:cNvPr id="41" name="Text 39"/>
          <p:cNvSpPr/>
          <p:nvPr/>
        </p:nvSpPr>
        <p:spPr>
          <a:xfrm>
            <a:off x="4914900" y="4033875"/>
            <a:ext cx="375761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神经合成 →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espeak-ng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本地 → 预置回放逐级降级，限流也不中断演示，且界面如实标注回退模式</a:t>
            </a:r>
            <a:endParaRPr lang="en-US" sz="844" dirty="0"/>
          </a:p>
        </p:txBody>
      </p:sp>
      <p:sp>
        <p:nvSpPr>
          <p:cNvPr id="42" name="Shape 40"/>
          <p:cNvSpPr/>
          <p:nvPr/>
        </p:nvSpPr>
        <p:spPr>
          <a:xfrm>
            <a:off x="457200" y="4659511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55939"/>
            <a:ext cx="8229600" cy="264247"/>
          </a:xfrm>
          <a:prstGeom prst="rect">
            <a:avLst/>
          </a:prstGeom>
          <a:noFill/>
          <a:ln/>
        </p:spPr>
        <p:txBody>
          <a:bodyPr wrap="square" lIns="0" tIns="92869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四个副点各服务主点：可解释让结论可信 · 闭环让结论可用 · 锚定让演示可验 · 四级链让演示永续。</a:t>
            </a:r>
            <a:endParaRPr lang="en-US" sz="70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8" name="Text 6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1" name="Text 9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90753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6309271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78631"/>
            <a:ext cx="155448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演示动线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543050" y="642938"/>
            <a:ext cx="5321982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22182" y="571500"/>
            <a:ext cx="2205772" cy="23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待会儿的现场演示，就这三步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60772" y="917079"/>
            <a:ext cx="8222456" cy="1935956"/>
          </a:xfrm>
          <a:prstGeom prst="rect">
            <a:avLst/>
          </a:prstGeom>
          <a:solidFill>
            <a:srgbClr val="FFFFFF"/>
          </a:solidFill>
          <a:ln w="7144">
            <a:solidFill>
              <a:srgbClr val="F0EBD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/tmp/h2p-fit-1793170390878-6da5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920651"/>
            <a:ext cx="8215313" cy="192881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2913757"/>
            <a:ext cx="82296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 </a:t>
            </a:r>
            <a:pPr algn="ct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pPr algn="ctr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 · 声盾单页工作台：实时鉴听 / 文件检测 / 合成挑战三种模式，全程零跳转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57200" y="3199507"/>
            <a:ext cx="38862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457200" y="3556695"/>
            <a:ext cx="3108960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现场合成挑战</a:t>
            </a:r>
            <a:endParaRPr lang="en-US" sz="1069" dirty="0"/>
          </a:p>
        </p:txBody>
      </p:sp>
      <p:sp>
        <p:nvSpPr>
          <p:cNvPr id="27" name="Text 24"/>
          <p:cNvSpPr/>
          <p:nvPr/>
        </p:nvSpPr>
        <p:spPr>
          <a:xfrm>
            <a:off x="457200" y="3796680"/>
            <a:ext cx="2428875" cy="56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评委任意输入文本，服务端当场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合成诈骗话术语音；原始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与分析副本分别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入库，证明音频确系现场生成</a:t>
            </a:r>
            <a:endParaRPr lang="en-US" sz="844" dirty="0"/>
          </a:p>
        </p:txBody>
      </p:sp>
      <p:sp>
        <p:nvSpPr>
          <p:cNvPr id="28" name="Shape 25"/>
          <p:cNvSpPr/>
          <p:nvPr/>
        </p:nvSpPr>
        <p:spPr>
          <a:xfrm>
            <a:off x="3075384" y="3185220"/>
            <a:ext cx="0" cy="113217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64694" y="3199507"/>
            <a:ext cx="24288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3264694" y="3556695"/>
            <a:ext cx="2428875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实时鉴听</a:t>
            </a:r>
            <a:endParaRPr lang="en-US" sz="1069" dirty="0"/>
          </a:p>
        </p:txBody>
      </p:sp>
      <p:sp>
        <p:nvSpPr>
          <p:cNvPr id="31" name="Text 28"/>
          <p:cNvSpPr/>
          <p:nvPr/>
        </p:nvSpPr>
        <p:spPr>
          <a:xfrm>
            <a:off x="3264694" y="3796680"/>
            <a:ext cx="2428875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外放同时开启鉴听：波形滚动、逐窗置信度刷新，高置信片段红色告警 + 提示音；可随时叫停追问可疑片段时间戳</a:t>
            </a:r>
            <a:endParaRPr lang="en-US" sz="844" dirty="0"/>
          </a:p>
        </p:txBody>
      </p:sp>
      <p:sp>
        <p:nvSpPr>
          <p:cNvPr id="32" name="Shape 29"/>
          <p:cNvSpPr/>
          <p:nvPr/>
        </p:nvSpPr>
        <p:spPr>
          <a:xfrm>
            <a:off x="5882878" y="3185220"/>
            <a:ext cx="0" cy="1132173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2188" y="3199507"/>
            <a:ext cx="24288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2250" dirty="0"/>
          </a:p>
        </p:txBody>
      </p:sp>
      <p:sp>
        <p:nvSpPr>
          <p:cNvPr id="34" name="Text 31"/>
          <p:cNvSpPr/>
          <p:nvPr/>
        </p:nvSpPr>
        <p:spPr>
          <a:xfrm>
            <a:off x="6072188" y="3556695"/>
            <a:ext cx="2428875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存证与报告</a:t>
            </a:r>
            <a:endParaRPr lang="en-US" sz="1069" dirty="0"/>
          </a:p>
        </p:txBody>
      </p:sp>
      <p:sp>
        <p:nvSpPr>
          <p:cNvPr id="35" name="Text 32"/>
          <p:cNvSpPr/>
          <p:nvPr/>
        </p:nvSpPr>
        <p:spPr>
          <a:xfrm>
            <a:off x="6072188" y="3796680"/>
            <a:ext cx="2428875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-256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自动固定，生成案件编号 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-日期-序号；案例库当场调出历史案件，导出含时间轴与逐窗明细的八章核验报告</a:t>
            </a:r>
            <a:endParaRPr lang="en-US" sz="844" dirty="0"/>
          </a:p>
        </p:txBody>
      </p:sp>
      <p:sp>
        <p:nvSpPr>
          <p:cNvPr id="36" name="Shape 33"/>
          <p:cNvSpPr/>
          <p:nvPr/>
        </p:nvSpPr>
        <p:spPr>
          <a:xfrm>
            <a:off x="0" y="4435264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517417"/>
            <a:ext cx="6858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113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容错设计</a:t>
            </a:r>
            <a:endParaRPr lang="en-US" sz="703" dirty="0"/>
          </a:p>
        </p:txBody>
      </p:sp>
      <p:sp>
        <p:nvSpPr>
          <p:cNvPr id="38" name="Text 35"/>
          <p:cNvSpPr/>
          <p:nvPr/>
        </p:nvSpPr>
        <p:spPr>
          <a:xfrm>
            <a:off x="957263" y="4517417"/>
            <a:ext cx="77295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四级合成链逐级降级：网关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神经合成 →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espeak-ng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本地 → 预置回放；限流时自动回退且界面如实标注「预置样本回放」徽标——演示永不中断，诚实的降级也是产品的一部分</a:t>
            </a:r>
            <a:endParaRPr lang="en-US" sz="703" dirty="0"/>
          </a:p>
        </p:txBody>
      </p:sp>
      <p:sp>
        <p:nvSpPr>
          <p:cNvPr id="39" name="Shape 36"/>
          <p:cNvSpPr/>
          <p:nvPr/>
        </p:nvSpPr>
        <p:spPr>
          <a:xfrm>
            <a:off x="457200" y="4623457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4727042"/>
            <a:ext cx="7036594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不依赖任何预置素材——文本是评委给的，音频是现场生成的</a:t>
            </a:r>
            <a:endParaRPr lang="en-US" sz="844" dirty="0"/>
          </a:p>
        </p:txBody>
      </p:sp>
      <p:sp>
        <p:nvSpPr>
          <p:cNvPr id="41" name="Text 38"/>
          <p:cNvSpPr/>
          <p:nvPr/>
        </p:nvSpPr>
        <p:spPr>
          <a:xfrm>
            <a:off x="7449592" y="4755617"/>
            <a:ext cx="1295698" cy="144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42" kern="0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欢迎各位亲手输入文本验证</a:t>
            </a:r>
            <a:endParaRPr lang="en-US" sz="70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8" name="Text 6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1" name="Text 9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90753" y="0"/>
            <a:ext cx="1830251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5" name="Text 13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7040835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92919"/>
            <a:ext cx="3036094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与同方向获奖作品对比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3000375" y="657225"/>
            <a:ext cx="568642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884932"/>
            <a:ext cx="86360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同一道题，我们选择先解决通话中的那几秒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1174254"/>
            <a:ext cx="8229600" cy="459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谛听、白泽都是值得尊敬的作品——差异不在高下，在切入点：它们做事后的文件，声盾做进行中的通话；七个维度逐项对齐，长处与补位都摆在明面上。</a:t>
            </a:r>
            <a:endParaRPr lang="en-US" sz="984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9320"/>
          <a:ext cx="8229600" cy="914400"/>
        </p:xfrm>
        <a:graphic>
          <a:graphicData uri="http://schemas.openxmlformats.org/drawingml/2006/table">
            <a:tbl>
              <a:tblPr/>
              <a:tblGrid>
                <a:gridCol w="857250"/>
                <a:gridCol w="2228850"/>
                <a:gridCol w="1743075"/>
                <a:gridCol w="34004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021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对照维度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114300" marT="114300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021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谛听 2023 · 国三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114300" marT="114300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1021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白泽 2022 · 国二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114300" marT="114300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2138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声盾（本作品）</a:t>
                      </a:r>
                      <a:endParaRPr lang="en-US" sz="9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71438" marR="114300" marT="114300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检测对象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离线音频文件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深度伪造视频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实时通话语音流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技术核心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RawGAT-ST + AASIST + SE-Res2Net 三网络集成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联邦学习训练范式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可解释轻量引擎 + 流式滑窗 + 双端复核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实时性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事后批处理，无实时约束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离线训练视角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边通话边判决 · RTF &lt; 0.015 · 时延 ≤1s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可解释性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网络集成，判决难逐层拆解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面向隐私保护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八维特征逐窗可溯 · 判决可拆到物理层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业务形态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事后检测，无业务闭环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训练隐私保护视角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检测→告警→存证→报告闭环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指标口径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 0.063%（ASVspoof 2019 LA）</a:t>
                      </a:r>
                      <a:endParaRPr lang="en-US" sz="844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论文级指标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RTF 实测 + 校准集检出率 + EER 路线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0EBDD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部署要求</a:t>
                      </a:r>
                      <a:endParaRPr lang="en-US" sz="844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服务器 GPU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3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多方训练环境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F0EBD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 CPU，浏览器即可</a:t>
                      </a:r>
                      <a:endParaRPr lang="en-US" sz="844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>
                        <a:alpha val="1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4575572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679156"/>
            <a:ext cx="822960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深度引擎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 / RawGAT-ST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已列入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周计划——站在这些作品的肩膀上，而非替代它们。</a:t>
            </a:r>
            <a:endParaRPr lang="en-US" sz="8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8" name="Text 6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1" name="Text 9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4" name="Text 12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21004" y="0"/>
            <a:ext cx="1823107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7772400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78631"/>
            <a:ext cx="155448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应用前景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543050" y="642938"/>
            <a:ext cx="714375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856357"/>
            <a:ext cx="86360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先想清楚一位具体用户：家里的老人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1174254"/>
            <a:ext cx="3614738" cy="1685300"/>
          </a:xfrm>
          <a:prstGeom prst="rect">
            <a:avLst/>
          </a:prstGeom>
          <a:noFill/>
          <a:ln/>
        </p:spPr>
        <p:txBody>
          <a:bodyPr wrap="square" lIns="185738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1294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王阿姨接到儿子的电话，声音一模一样，开口就要钱。如果她的手机里装着声盾——接通后几秒，界面亮起黄色提示：存在可疑片段；她挂断前，证据已固定、编号已生成，报告可一键转发给子女或反诈专线。」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457200" y="4132659"/>
            <a:ext cx="3614738" cy="428196"/>
          </a:xfrm>
          <a:prstGeom prst="rect">
            <a:avLst/>
          </a:prstGeom>
          <a:noFill/>
          <a:ln/>
        </p:spPr>
        <p:txBody>
          <a:bodyPr wrap="square" lIns="0" tIns="85725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适老化不是缩小版：大字号、高对比、语音播报提示；子女可为父母预装，收到异常提醒。</a:t>
            </a:r>
            <a:endParaRPr lang="en-US" sz="703" dirty="0"/>
          </a:p>
        </p:txBody>
      </p:sp>
      <p:sp>
        <p:nvSpPr>
          <p:cNvPr id="24" name="Text 22"/>
          <p:cNvSpPr/>
          <p:nvPr/>
        </p:nvSpPr>
        <p:spPr>
          <a:xfrm>
            <a:off x="4400550" y="1174254"/>
            <a:ext cx="4743450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机构侧 · 三个具体接入位</a:t>
            </a:r>
            <a:endParaRPr lang="en-US" sz="1069" dirty="0"/>
          </a:p>
        </p:txBody>
      </p:sp>
      <p:sp>
        <p:nvSpPr>
          <p:cNvPr id="25" name="Shape 23"/>
          <p:cNvSpPr/>
          <p:nvPr/>
        </p:nvSpPr>
        <p:spPr>
          <a:xfrm>
            <a:off x="4400550" y="1367805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0550" y="1364233"/>
            <a:ext cx="4286250" cy="465487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/ 支付机构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——电话渠道大额转账的附加风控信号，高风险通话触发人工复核或延迟到账</a:t>
            </a:r>
            <a:endParaRPr lang="en-US" sz="844" dirty="0"/>
          </a:p>
        </p:txBody>
      </p:sp>
      <p:sp>
        <p:nvSpPr>
          <p:cNvPr id="27" name="Shape 25"/>
          <p:cNvSpPr/>
          <p:nvPr/>
        </p:nvSpPr>
        <p:spPr>
          <a:xfrm>
            <a:off x="4400550" y="1860724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0550" y="1857152"/>
            <a:ext cx="4629150" cy="294037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反诈中心 / 派出所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——核验报告的哈希证据链，作为群众举报材料的标准化载体</a:t>
            </a:r>
            <a:endParaRPr lang="en-US" sz="844" dirty="0"/>
          </a:p>
        </p:txBody>
      </p:sp>
      <p:sp>
        <p:nvSpPr>
          <p:cNvPr id="29" name="Shape 27"/>
          <p:cNvSpPr/>
          <p:nvPr/>
        </p:nvSpPr>
        <p:spPr>
          <a:xfrm>
            <a:off x="4400550" y="2182192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0550" y="2178621"/>
            <a:ext cx="4629150" cy="347186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内容平台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——流式形态嵌入语音弹幕、语音评论的实时审核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4400550" y="2600102"/>
            <a:ext cx="4743450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治理侧 · 三条对应关系</a:t>
            </a:r>
            <a:endParaRPr lang="en-US" sz="1069" dirty="0"/>
          </a:p>
        </p:txBody>
      </p:sp>
      <p:sp>
        <p:nvSpPr>
          <p:cNvPr id="32" name="Shape 30"/>
          <p:cNvSpPr/>
          <p:nvPr/>
        </p:nvSpPr>
        <p:spPr>
          <a:xfrm>
            <a:off x="4400550" y="2793653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0550" y="2790081"/>
            <a:ext cx="4629150" cy="294037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《反电信网络诈骗法》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——全民反诈框架下的普惠工具落地</a:t>
            </a:r>
            <a:endParaRPr lang="en-US" sz="844" dirty="0"/>
          </a:p>
        </p:txBody>
      </p:sp>
      <p:sp>
        <p:nvSpPr>
          <p:cNvPr id="34" name="Shape 32"/>
          <p:cNvSpPr/>
          <p:nvPr/>
        </p:nvSpPr>
        <p:spPr>
          <a:xfrm>
            <a:off x="4400550" y="3115121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0550" y="3111550"/>
            <a:ext cx="4629150" cy="294037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《深度合成管理规定》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——内容治理的可审计检测实践</a:t>
            </a:r>
            <a:endParaRPr lang="en-US" sz="844" dirty="0"/>
          </a:p>
        </p:txBody>
      </p:sp>
      <p:sp>
        <p:nvSpPr>
          <p:cNvPr id="36" name="Shape 34"/>
          <p:cNvSpPr/>
          <p:nvPr/>
        </p:nvSpPr>
        <p:spPr>
          <a:xfrm>
            <a:off x="4400550" y="3436590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00550" y="3433018"/>
            <a:ext cx="4500563" cy="347186"/>
          </a:xfrm>
          <a:prstGeom prst="rect">
            <a:avLst/>
          </a:prstGeom>
          <a:noFill/>
          <a:ln/>
        </p:spPr>
        <p:txBody>
          <a:bodyPr wrap="none" lIns="0" tIns="57150" rIns="0" bIns="5715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证据链设计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——为涉诈电子材料规范化提供参考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4400550" y="3854500"/>
            <a:ext cx="4743450" cy="162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推广路径 · 三步走</a:t>
            </a:r>
            <a:endParaRPr lang="en-US" sz="1069" dirty="0"/>
          </a:p>
        </p:txBody>
      </p:sp>
      <p:sp>
        <p:nvSpPr>
          <p:cNvPr id="39" name="Shape 37"/>
          <p:cNvSpPr/>
          <p:nvPr/>
        </p:nvSpPr>
        <p:spPr>
          <a:xfrm>
            <a:off x="4400550" y="4048051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00550" y="4044479"/>
            <a:ext cx="4629150" cy="294037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——反诈宣传周现场演示，学生先用手里的浏览器验起来</a:t>
            </a:r>
            <a:endParaRPr lang="en-US" sz="844" dirty="0"/>
          </a:p>
        </p:txBody>
      </p:sp>
      <p:sp>
        <p:nvSpPr>
          <p:cNvPr id="41" name="Shape 39"/>
          <p:cNvSpPr/>
          <p:nvPr/>
        </p:nvSpPr>
        <p:spPr>
          <a:xfrm>
            <a:off x="4400550" y="4369519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0550" y="4365947"/>
            <a:ext cx="4629150" cy="294037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——适老预装 + 子女绑定提醒，覆盖最脆弱的人群</a:t>
            </a:r>
            <a:endParaRPr lang="en-US" sz="844" dirty="0"/>
          </a:p>
        </p:txBody>
      </p:sp>
      <p:sp>
        <p:nvSpPr>
          <p:cNvPr id="43" name="Shape 41"/>
          <p:cNvSpPr/>
          <p:nvPr/>
        </p:nvSpPr>
        <p:spPr>
          <a:xfrm>
            <a:off x="4400550" y="4690988"/>
            <a:ext cx="428625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00550" y="4687416"/>
            <a:ext cx="4629150" cy="347186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b="1" dirty="0">
                <a:solidFill>
                  <a:srgbClr val="D9BC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</a:t>
            </a:r>
            <a:pPr algn="l" indent="0" marL="0">
              <a:lnSpc>
                <a:spcPts val="1575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——以风控信号位嵌入电话渠道，从辅助信号做起</a:t>
            </a:r>
            <a:endParaRPr lang="en-US" sz="844" dirty="0"/>
          </a:p>
        </p:txBody>
      </p:sp>
      <p:sp>
        <p:nvSpPr>
          <p:cNvPr id="45" name="Shape 43"/>
          <p:cNvSpPr/>
          <p:nvPr/>
        </p:nvSpPr>
        <p:spPr>
          <a:xfrm>
            <a:off x="457200" y="4618434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14875"/>
            <a:ext cx="8229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03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说清楚边界：声盾定位辅助验真，结论附带置信度与不确定性说明，不构成执法结论；演示音频均为平台现场合成或公有领域样本。</a:t>
            </a:r>
            <a:endParaRPr lang="en-US" sz="70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2178"/>
            <a:ext cx="91440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6679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5360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问题与背景</a:t>
            </a:r>
            <a:endParaRPr lang="en-US" sz="759" dirty="0"/>
          </a:p>
        </p:txBody>
      </p:sp>
      <p:sp>
        <p:nvSpPr>
          <p:cNvPr id="5" name="Text 3"/>
          <p:cNvSpPr/>
          <p:nvPr/>
        </p:nvSpPr>
        <p:spPr>
          <a:xfrm>
            <a:off x="587685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6930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15617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59" dirty="0"/>
          </a:p>
        </p:txBody>
      </p:sp>
      <p:sp>
        <p:nvSpPr>
          <p:cNvPr id="8" name="Text 6"/>
          <p:cNvSpPr/>
          <p:nvPr/>
        </p:nvSpPr>
        <p:spPr>
          <a:xfrm>
            <a:off x="2467942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7181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5868" y="82600"/>
            <a:ext cx="10305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759" dirty="0"/>
          </a:p>
        </p:txBody>
      </p:sp>
      <p:sp>
        <p:nvSpPr>
          <p:cNvPr id="11" name="Text 9"/>
          <p:cNvSpPr/>
          <p:nvPr/>
        </p:nvSpPr>
        <p:spPr>
          <a:xfrm>
            <a:off x="4298193" y="72777"/>
            <a:ext cx="1185416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7432" y="0"/>
            <a:ext cx="0" cy="278606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6113" y="82600"/>
            <a:ext cx="108060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演示与对比</a:t>
            </a:r>
            <a:endParaRPr lang="en-US" sz="759" dirty="0"/>
          </a:p>
        </p:txBody>
      </p:sp>
      <p:sp>
        <p:nvSpPr>
          <p:cNvPr id="14" name="Text 12"/>
          <p:cNvSpPr/>
          <p:nvPr/>
        </p:nvSpPr>
        <p:spPr>
          <a:xfrm>
            <a:off x="6078438" y="72777"/>
            <a:ext cx="1235422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21004" y="0"/>
            <a:ext cx="1823107" cy="278606"/>
          </a:xfrm>
          <a:prstGeom prst="rect">
            <a:avLst/>
          </a:prstGeom>
          <a:solidFill>
            <a:srgbClr val="F0E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56364" y="82600"/>
            <a:ext cx="1087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759" dirty="0">
                <a:solidFill>
                  <a:srgbClr val="1021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前景与路线</a:t>
            </a:r>
            <a:endParaRPr lang="en-US" sz="759" dirty="0"/>
          </a:p>
        </p:txBody>
      </p:sp>
      <p:sp>
        <p:nvSpPr>
          <p:cNvPr id="17" name="Text 15"/>
          <p:cNvSpPr/>
          <p:nvPr/>
        </p:nvSpPr>
        <p:spPr>
          <a:xfrm>
            <a:off x="7908689" y="72777"/>
            <a:ext cx="1235311" cy="17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8"/>
              </a:lnSpc>
              <a:buNone/>
            </a:pPr>
            <a:r>
              <a:rPr lang="en-US" sz="800" b="1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0" y="285750"/>
            <a:ext cx="8412435" cy="21431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507206"/>
            <a:ext cx="1554480" cy="346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5"/>
              </a:lnSpc>
              <a:buNone/>
            </a:pPr>
            <a:r>
              <a:rPr lang="en-US" sz="1913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后续路线</a:t>
            </a:r>
            <a:endParaRPr lang="en-US" sz="1913" dirty="0"/>
          </a:p>
        </p:txBody>
      </p:sp>
      <p:sp>
        <p:nvSpPr>
          <p:cNvPr id="20" name="Text 18"/>
          <p:cNvSpPr/>
          <p:nvPr/>
        </p:nvSpPr>
        <p:spPr>
          <a:xfrm>
            <a:off x="1543050" y="671513"/>
            <a:ext cx="714375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20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899220"/>
            <a:ext cx="863600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D9BC6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十二周，从轻量引擎走到深度集成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457200" y="1202829"/>
            <a:ext cx="7000875" cy="47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98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轻量可解释引擎是第一阶段的诚实交付；深度引擎不是推翻它，而是把有声书误判、窄带退化这两个已知边界补上。每一阶段都有可检验的交付物。</a:t>
            </a:r>
            <a:endParaRPr lang="en-US" sz="984" dirty="0"/>
          </a:p>
        </p:txBody>
      </p:sp>
      <p:sp>
        <p:nvSpPr>
          <p:cNvPr id="23" name="Shape 21"/>
          <p:cNvSpPr/>
          <p:nvPr/>
        </p:nvSpPr>
        <p:spPr>
          <a:xfrm>
            <a:off x="467916" y="1797546"/>
            <a:ext cx="0" cy="575742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219" y="1797546"/>
            <a:ext cx="2526543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底座全部开源</a:t>
            </a:r>
            <a:endParaRPr lang="en-US" sz="1069" dirty="0"/>
          </a:p>
        </p:txBody>
      </p:sp>
      <p:sp>
        <p:nvSpPr>
          <p:cNvPr id="25" name="Text 23"/>
          <p:cNvSpPr/>
          <p:nvPr/>
        </p:nvSpPr>
        <p:spPr>
          <a:xfrm>
            <a:off x="607219" y="2030388"/>
            <a:ext cx="25265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RawGAT-ST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Rawboost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均有官方复现流程，无需自造轮子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3244490" y="1797546"/>
            <a:ext cx="0" cy="575742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793" y="1797546"/>
            <a:ext cx="2526543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接口已预留</a:t>
            </a:r>
            <a:endParaRPr lang="en-US" sz="1069" dirty="0"/>
          </a:p>
        </p:txBody>
      </p:sp>
      <p:sp>
        <p:nvSpPr>
          <p:cNvPr id="28" name="Text 26"/>
          <p:cNvSpPr/>
          <p:nvPr/>
        </p:nvSpPr>
        <p:spPr>
          <a:xfrm>
            <a:off x="3383793" y="2030388"/>
            <a:ext cx="25265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业务层只认「引擎接口」不认实现——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替换后检测、存证、报告零改动</a:t>
            </a:r>
            <a:endParaRPr lang="en-US" sz="844" dirty="0"/>
          </a:p>
        </p:txBody>
      </p:sp>
      <p:sp>
        <p:nvSpPr>
          <p:cNvPr id="29" name="Shape 27"/>
          <p:cNvSpPr/>
          <p:nvPr/>
        </p:nvSpPr>
        <p:spPr>
          <a:xfrm>
            <a:off x="6021065" y="1797546"/>
            <a:ext cx="0" cy="575742"/>
          </a:xfrm>
          <a:prstGeom prst="line">
            <a:avLst/>
          </a:prstGeom>
          <a:noFill/>
          <a:ln w="21431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0368" y="1797546"/>
            <a:ext cx="2526543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两周一交付</a:t>
            </a:r>
            <a:endParaRPr lang="en-US" sz="1069" dirty="0"/>
          </a:p>
        </p:txBody>
      </p:sp>
      <p:sp>
        <p:nvSpPr>
          <p:cNvPr id="31" name="Text 29"/>
          <p:cNvSpPr/>
          <p:nvPr/>
        </p:nvSpPr>
        <p:spPr>
          <a:xfrm>
            <a:off x="6160368" y="2030388"/>
            <a:ext cx="25265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每段以可检验交付物收口（基线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、消融表、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实测），进度可验收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57200" y="2459013"/>
            <a:ext cx="8229600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算力边界：全程以 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推理为硬约束——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动态量化不达标则用知识蒸馏兜底，不上 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pPr algn="l" indent="0" marL="0">
              <a:lnSpc>
                <a:spcPts val="1139"/>
              </a:lnSpc>
              <a:buNone/>
            </a:pPr>
            <a:r>
              <a:rPr lang="en-US" sz="703" spc="28" kern="0" dirty="0">
                <a:solidFill>
                  <a:srgbClr val="78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。</a:t>
            </a:r>
            <a:endParaRPr lang="en-US" sz="703" dirty="0"/>
          </a:p>
        </p:txBody>
      </p:sp>
      <p:sp>
        <p:nvSpPr>
          <p:cNvPr id="33" name="Text 31"/>
          <p:cNvSpPr/>
          <p:nvPr/>
        </p:nvSpPr>
        <p:spPr>
          <a:xfrm>
            <a:off x="457200" y="2991445"/>
            <a:ext cx="2222416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56" kern="0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W01–02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053" y="2991445"/>
            <a:ext cx="1645965" cy="177759"/>
          </a:xfrm>
          <a:prstGeom prst="rect">
            <a:avLst/>
          </a:prstGeom>
          <a:noFill/>
          <a:ln/>
        </p:spPr>
        <p:txBody>
          <a:bodyPr wrap="none" lIns="128588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56" kern="0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W03–05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49018" y="2991445"/>
            <a:ext cx="1645853" cy="177759"/>
          </a:xfrm>
          <a:prstGeom prst="rect">
            <a:avLst/>
          </a:prstGeom>
          <a:noFill/>
          <a:ln/>
        </p:spPr>
        <p:txBody>
          <a:bodyPr wrap="none" lIns="128588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56" kern="0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W06–07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871" y="2991445"/>
            <a:ext cx="1645965" cy="177759"/>
          </a:xfrm>
          <a:prstGeom prst="rect">
            <a:avLst/>
          </a:prstGeom>
          <a:noFill/>
          <a:ln/>
        </p:spPr>
        <p:txBody>
          <a:bodyPr wrap="none" lIns="128588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56" kern="0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W10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40835" y="2991445"/>
            <a:ext cx="1645853" cy="177759"/>
          </a:xfrm>
          <a:prstGeom prst="rect">
            <a:avLst/>
          </a:prstGeom>
          <a:noFill/>
          <a:ln/>
        </p:spPr>
        <p:txBody>
          <a:bodyPr wrap="none" lIns="128588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56" kern="0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W11–12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3193256"/>
            <a:ext cx="8229600" cy="500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7200" y="3357563"/>
            <a:ext cx="1778235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</a:t>
            </a:r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基线复现</a:t>
            </a:r>
            <a:endParaRPr lang="en-US" sz="1069" dirty="0"/>
          </a:p>
        </p:txBody>
      </p:sp>
      <p:sp>
        <p:nvSpPr>
          <p:cNvPr id="40" name="Text 38"/>
          <p:cNvSpPr/>
          <p:nvPr/>
        </p:nvSpPr>
        <p:spPr>
          <a:xfrm>
            <a:off x="457200" y="3618979"/>
            <a:ext cx="1608301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按官方流程在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ASVspoof 2019 LA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训练评测，工程正确性的锚点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457200" y="4176415"/>
            <a:ext cx="1778235" cy="257496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交付物：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同量级基线</a:t>
            </a:r>
            <a:endParaRPr lang="en-US" sz="703" dirty="0"/>
          </a:p>
        </p:txBody>
      </p:sp>
      <p:sp>
        <p:nvSpPr>
          <p:cNvPr id="42" name="Shape 40"/>
          <p:cNvSpPr/>
          <p:nvPr/>
        </p:nvSpPr>
        <p:spPr>
          <a:xfrm>
            <a:off x="2106625" y="3243263"/>
            <a:ext cx="0" cy="128587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8784" y="3357563"/>
            <a:ext cx="1381646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双网络融合</a:t>
            </a:r>
            <a:endParaRPr lang="en-US" sz="1069" dirty="0"/>
          </a:p>
        </p:txBody>
      </p:sp>
      <p:sp>
        <p:nvSpPr>
          <p:cNvPr id="44" name="Text 42"/>
          <p:cNvSpPr/>
          <p:nvPr/>
        </p:nvSpPr>
        <p:spPr>
          <a:xfrm>
            <a:off x="2238784" y="3604692"/>
            <a:ext cx="1381646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RawGAT-ST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训练 + 软投票集成 + 消融实验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2238784" y="4176415"/>
            <a:ext cx="1381646" cy="23842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交付物：消融表</a:t>
            </a:r>
            <a:endParaRPr lang="en-US" sz="703" dirty="0"/>
          </a:p>
        </p:txBody>
      </p:sp>
      <p:sp>
        <p:nvSpPr>
          <p:cNvPr id="46" name="Shape 44"/>
          <p:cNvSpPr/>
          <p:nvPr/>
        </p:nvSpPr>
        <p:spPr>
          <a:xfrm>
            <a:off x="3752590" y="3243263"/>
            <a:ext cx="0" cy="128587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84749" y="3357563"/>
            <a:ext cx="1381534" cy="220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轻量化</a:t>
            </a:r>
            <a:endParaRPr lang="en-US" sz="1069" dirty="0"/>
          </a:p>
        </p:txBody>
      </p:sp>
      <p:sp>
        <p:nvSpPr>
          <p:cNvPr id="48" name="Text 46"/>
          <p:cNvSpPr/>
          <p:nvPr/>
        </p:nvSpPr>
        <p:spPr>
          <a:xfrm>
            <a:off x="3884749" y="3618979"/>
            <a:ext cx="1381534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动态量化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推理，蒸馏兜底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3884749" y="4176415"/>
            <a:ext cx="1381534" cy="23842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交付物：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实测</a:t>
            </a:r>
            <a:endParaRPr lang="en-US" sz="703" dirty="0"/>
          </a:p>
        </p:txBody>
      </p:sp>
      <p:sp>
        <p:nvSpPr>
          <p:cNvPr id="50" name="Shape 48"/>
          <p:cNvSpPr/>
          <p:nvPr/>
        </p:nvSpPr>
        <p:spPr>
          <a:xfrm>
            <a:off x="5398443" y="3243263"/>
            <a:ext cx="0" cy="128587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0602" y="3357563"/>
            <a:ext cx="1381646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跨信道评测</a:t>
            </a:r>
            <a:endParaRPr lang="en-US" sz="1069" dirty="0"/>
          </a:p>
        </p:txBody>
      </p:sp>
      <p:sp>
        <p:nvSpPr>
          <p:cNvPr id="52" name="Text 50"/>
          <p:cNvSpPr/>
          <p:nvPr/>
        </p:nvSpPr>
        <p:spPr>
          <a:xfrm>
            <a:off x="5530602" y="3604692"/>
            <a:ext cx="1464545" cy="408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ASVspoof 2021 LA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自建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8kHz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窄带子集 +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Rawboost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5530602" y="4176415"/>
            <a:ext cx="1381646" cy="23842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交付物：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8kHz</a:t>
            </a:r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窄带子集</a:t>
            </a:r>
            <a:endParaRPr lang="en-US" sz="703" dirty="0"/>
          </a:p>
        </p:txBody>
      </p:sp>
      <p:sp>
        <p:nvSpPr>
          <p:cNvPr id="54" name="Shape 52"/>
          <p:cNvSpPr/>
          <p:nvPr/>
        </p:nvSpPr>
        <p:spPr>
          <a:xfrm>
            <a:off x="7044407" y="3243263"/>
            <a:ext cx="0" cy="1285875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76567" y="3357563"/>
            <a:ext cx="1381534" cy="20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联调与答辩</a:t>
            </a:r>
            <a:endParaRPr lang="en-US" sz="1069" dirty="0"/>
          </a:p>
        </p:txBody>
      </p:sp>
      <p:sp>
        <p:nvSpPr>
          <p:cNvPr id="56" name="Text 54"/>
          <p:cNvSpPr/>
          <p:nvPr/>
        </p:nvSpPr>
        <p:spPr>
          <a:xfrm>
            <a:off x="7176567" y="3604692"/>
            <a:ext cx="1381534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C9D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演示排练、测试数据、报告与视频定稿</a:t>
            </a:r>
            <a:endParaRPr lang="en-US" sz="844" dirty="0"/>
          </a:p>
        </p:txBody>
      </p:sp>
      <p:sp>
        <p:nvSpPr>
          <p:cNvPr id="57" name="Text 55"/>
          <p:cNvSpPr/>
          <p:nvPr/>
        </p:nvSpPr>
        <p:spPr>
          <a:xfrm>
            <a:off x="7176567" y="4176415"/>
            <a:ext cx="1381534" cy="238423"/>
          </a:xfrm>
          <a:prstGeom prst="rect">
            <a:avLst/>
          </a:prstGeom>
          <a:noFill/>
          <a:ln/>
        </p:spPr>
        <p:txBody>
          <a:bodyPr wrap="none" lIns="0" tIns="100013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03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交付物：定稿材料</a:t>
            </a:r>
            <a:endParaRPr lang="en-US" sz="703" dirty="0"/>
          </a:p>
        </p:txBody>
      </p:sp>
      <p:sp>
        <p:nvSpPr>
          <p:cNvPr id="58" name="Shape 56"/>
          <p:cNvSpPr/>
          <p:nvPr/>
        </p:nvSpPr>
        <p:spPr>
          <a:xfrm>
            <a:off x="457200" y="4618434"/>
            <a:ext cx="82296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714875"/>
            <a:ext cx="8229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开源底座：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clovaai/aasist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asvspoof-challenge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RawGAT-ST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）·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Rawboost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torchaudio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｜架构已预留 </a:t>
            </a:r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pPr algn="l" indent="0" marL="0">
              <a:lnSpc>
                <a:spcPts val="128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替换接口，业务层零改动。</a:t>
            </a:r>
            <a:endParaRPr lang="en-US" sz="70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964" y="3557588"/>
            <a:ext cx="4404036" cy="1585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0"/>
              </a:lnSpc>
              <a:buNone/>
            </a:pPr>
            <a:r>
              <a:rPr lang="en-US" sz="19125" b="1" dirty="0">
                <a:solidFill>
                  <a:srgbClr val="C9A227">
                    <a:alpha val="9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13</a:t>
            </a:r>
            <a:endParaRPr lang="en-US" sz="1912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42900"/>
            <a:ext cx="2143125" cy="6572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342900"/>
            <a:ext cx="2143125" cy="6572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5800" y="1214438"/>
            <a:ext cx="4629150" cy="1735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19"/>
              </a:lnSpc>
              <a:buNone/>
            </a:pPr>
            <a:r>
              <a:rPr lang="en-US" sz="2813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下一次接到熟人来电，希望几秒钟后，你能有一个</a:t>
            </a:r>
            <a:pPr algn="l" indent="0" marL="0">
              <a:lnSpc>
                <a:spcPts val="4219"/>
              </a:lnSpc>
              <a:buNone/>
            </a:pPr>
            <a:r>
              <a:rPr lang="en-US" sz="2813" dirty="0">
                <a:solidFill>
                  <a:srgbClr val="C9A227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可以相信的答案</a:t>
            </a:r>
            <a:pPr algn="l" indent="0" marL="0">
              <a:lnSpc>
                <a:spcPts val="4219"/>
              </a:lnSpc>
              <a:buNone/>
            </a:pPr>
            <a:r>
              <a:rPr lang="en-US" sz="2813" dirty="0">
                <a:solidFill>
                  <a:srgbClr val="F0EBDD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。</a:t>
            </a:r>
            <a:endParaRPr lang="en-US" sz="2813" dirty="0"/>
          </a:p>
        </p:txBody>
      </p:sp>
      <p:sp>
        <p:nvSpPr>
          <p:cNvPr id="6" name="Text 3"/>
          <p:cNvSpPr/>
          <p:nvPr/>
        </p:nvSpPr>
        <p:spPr>
          <a:xfrm>
            <a:off x="685800" y="2993231"/>
            <a:ext cx="4999482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声盾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ShieldEar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面向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语音诈骗的实时鉴伪反诈平台</a:t>
            </a: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685800" y="3246834"/>
            <a:ext cx="4999482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宽带检出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20/20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RTF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0.003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0.015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判决时延 ≤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1s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210</a:t>
            </a:r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78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条判决可复核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5715000" y="2057400"/>
            <a:ext cx="34290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案例库 · 随时可查</a:t>
            </a:r>
            <a:endParaRPr lang="en-US" sz="703" dirty="0"/>
          </a:p>
        </p:txBody>
      </p:sp>
      <p:sp>
        <p:nvSpPr>
          <p:cNvPr id="9" name="Text 6"/>
          <p:cNvSpPr/>
          <p:nvPr/>
        </p:nvSpPr>
        <p:spPr>
          <a:xfrm>
            <a:off x="5715000" y="2259211"/>
            <a:ext cx="2743200" cy="32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-20261028-0003</a:t>
            </a:r>
            <a:pPr algn="l" indent="0" marL="0">
              <a:lnSpc>
                <a:spcPts val="1195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现场合成 · 当场检出 · 双哈希入库——答辩中生成的每一件证据都可复核</a:t>
            </a:r>
            <a:endParaRPr lang="en-US" sz="703" dirty="0"/>
          </a:p>
        </p:txBody>
      </p:sp>
      <p:sp>
        <p:nvSpPr>
          <p:cNvPr id="10" name="Text 7"/>
          <p:cNvSpPr/>
          <p:nvPr/>
        </p:nvSpPr>
        <p:spPr>
          <a:xfrm>
            <a:off x="5715000" y="2805708"/>
            <a:ext cx="205919" cy="18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5943712" y="2769989"/>
            <a:ext cx="251448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现场演示就绪——评审可任意出题</a:t>
            </a:r>
            <a:endParaRPr lang="en-US" sz="984" dirty="0"/>
          </a:p>
        </p:txBody>
      </p:sp>
      <p:sp>
        <p:nvSpPr>
          <p:cNvPr id="12" name="Shape 9"/>
          <p:cNvSpPr/>
          <p:nvPr/>
        </p:nvSpPr>
        <p:spPr>
          <a:xfrm>
            <a:off x="5715000" y="3075719"/>
            <a:ext cx="27432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3207879"/>
            <a:ext cx="20591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5943712" y="3172160"/>
            <a:ext cx="2514488" cy="209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证据链与案件库可当场复核</a:t>
            </a:r>
            <a:endParaRPr lang="en-US" sz="984" dirty="0"/>
          </a:p>
        </p:txBody>
      </p:sp>
      <p:sp>
        <p:nvSpPr>
          <p:cNvPr id="15" name="Shape 12"/>
          <p:cNvSpPr/>
          <p:nvPr/>
        </p:nvSpPr>
        <p:spPr>
          <a:xfrm>
            <a:off x="5715000" y="3477890"/>
            <a:ext cx="27432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3610049"/>
            <a:ext cx="20591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C9A22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5943712" y="3574331"/>
            <a:ext cx="2514488" cy="209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84" dirty="0">
                <a:solidFill>
                  <a:srgbClr val="F0E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引擎与测试代码随作品提交</a:t>
            </a:r>
            <a:endParaRPr lang="en-US" sz="984" dirty="0"/>
          </a:p>
        </p:txBody>
      </p:sp>
      <p:sp>
        <p:nvSpPr>
          <p:cNvPr id="18" name="Shape 15"/>
          <p:cNvSpPr/>
          <p:nvPr/>
        </p:nvSpPr>
        <p:spPr>
          <a:xfrm>
            <a:off x="5715000" y="3908636"/>
            <a:ext cx="27432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997933"/>
            <a:ext cx="2743200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随作品提交 · </a:t>
            </a:r>
            <a:pPr algn="l" indent="0" marL="0">
              <a:lnSpc>
                <a:spcPts val="1139"/>
              </a:lnSpc>
              <a:buNone/>
            </a:pPr>
            <a:r>
              <a:rPr lang="en-US" sz="703" spc="98" kern="0" dirty="0">
                <a:solidFill>
                  <a:srgbClr val="D9B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703" dirty="0"/>
          </a:p>
        </p:txBody>
      </p:sp>
      <p:sp>
        <p:nvSpPr>
          <p:cNvPr id="20" name="Text 17"/>
          <p:cNvSpPr/>
          <p:nvPr/>
        </p:nvSpPr>
        <p:spPr>
          <a:xfrm>
            <a:off x="5715000" y="4199744"/>
            <a:ext cx="27432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可运行平台 · 引擎源码与测试套件 · 校准数据 · 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24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页技术报告 · 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页测试报告（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210</a:t>
            </a:r>
            <a:pPr algn="l" indent="0" marL="0">
              <a:lnSpc>
                <a:spcPts val="1230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条判决全量可复核）</a:t>
            </a:r>
            <a:endParaRPr lang="en-US" sz="703" dirty="0"/>
          </a:p>
        </p:txBody>
      </p:sp>
      <p:sp>
        <p:nvSpPr>
          <p:cNvPr id="21" name="Shape 18"/>
          <p:cNvSpPr/>
          <p:nvPr/>
        </p:nvSpPr>
        <p:spPr>
          <a:xfrm>
            <a:off x="685800" y="4491521"/>
            <a:ext cx="7772400" cy="0"/>
          </a:xfrm>
          <a:prstGeom prst="line">
            <a:avLst/>
          </a:prstGeom>
          <a:noFill/>
          <a:ln w="7144">
            <a:solidFill>
              <a:srgbClr val="F0EB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609393"/>
            <a:ext cx="4543090" cy="21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b="1" dirty="0">
                <a:solidFill>
                  <a:srgbClr val="F0E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谢谢聆听，恳请各位评委批评指正</a:t>
            </a:r>
            <a:endParaRPr lang="en-US" sz="1069" dirty="0"/>
          </a:p>
        </p:txBody>
      </p:sp>
      <p:sp>
        <p:nvSpPr>
          <p:cNvPr id="23" name="Text 20"/>
          <p:cNvSpPr/>
          <p:nvPr/>
        </p:nvSpPr>
        <p:spPr>
          <a:xfrm>
            <a:off x="5243178" y="4673687"/>
            <a:ext cx="3215022" cy="15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你们说的对 · 大连理工大学 ·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2026.10</a:t>
            </a:r>
            <a:pPr algn="l" indent="0" marL="0">
              <a:lnSpc>
                <a:spcPts val="1296"/>
              </a:lnSpc>
              <a:buNone/>
            </a:pPr>
            <a:r>
              <a:rPr lang="en-US" sz="703" dirty="0">
                <a:solidFill>
                  <a:srgbClr val="94A4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lnSpc>
                <a:spcPts val="1296"/>
              </a:lnSpc>
              <a:buNone/>
            </a:pPr>
            <a:r>
              <a:rPr lang="en-US" sz="800" dirty="0">
                <a:solidFill>
                  <a:srgbClr val="94A4B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github.com/43aquarius/ShieldEar</a:t>
            </a:r>
            <a:endParaRPr lang="en-US" sz="70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2026-10-28T06:53:16Z</dcterms:created>
  <dcterms:modified xsi:type="dcterms:W3CDTF">2026-10-28T06:53:16Z</dcterms:modified>
</cp:coreProperties>
</file>