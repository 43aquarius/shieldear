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开场 30 秒自我介绍与团队亮相，语速沉稳。
- 封面只留一句话定位：接起电话的那一刻，普通人也需要验真声音的办法。
- 预告演示：评审可任意输入文本，当场合成、当场检出——留悬念给痛点页。
- 不展开任何技术细节。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用诈骗话术原文开场，制造代入感；说明这段文本稍后将现场合成演示。
- 三个锚点递进：香港 2 亿案（真实具名）→ 克隆成本分钟级 → 通话中零验真手段。
- 政策与工具的落差是作品切口：反诈法与深度合成规定均已施行，用户侧仍空白。
- 收尾一句：反诈的最后一公里，就在接听的那几秒。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先抛核心命题问句，停顿两秒，让评委带着问题听下去。
- 强调「只回答一个问题」的克制：不做通用鉴伪、不做换脸、不做训练隐私。
- 选题依据：大工九件全国获奖作品规律校准，应用安全（内容安全）正题。
- 四条取向按轻重讲：第一件是主线，后三条顺带。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先讲双端一致这个设计决定（浏览器先判、服务端复核、同一份代码），再展开五层。
- 五层从上往下过，引擎层停最久：八维特征、2s 窗 1s 步进。
- 右侧三个点回答评委常见疑问：不要 GPU、一套语言栈、证据本地可审计。
- 结尾点题：同构引擎是证据链成立的技术前提。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重点讲自研的高频周期性（左侧大卡）：原理、分离度 1.28、权重 0.289。
- 其余七维快速过，强调都锚定物理差异，不是黑盒。
- 特意提到高频谱平坦度被证伪仍保留在列表——为下一页「数据证伪直觉」埋伏笔。
- 收尾：可解释不是口号，每个判决都能拆到物理层。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四步快讲：样本 → 先验 → 定权 → 双重验证，各一句。
- 重点讲证伪故事：高频谱平坦度直觉有效、实测 0.10 被权重归零；自研高频周期性 1.28 站住。
- 这个反差是全片最有人味的段落——讲慢一点，语气放松。
- 提一句全流程可脚本复现，评委可查。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先报四个数：20/20、4/5、RTF、≤1s——宽带条件下结论干净。
- 主动讲两条边界：窄带 16/20（带宽物理限制）、有声书 10/50 误判（洁净度耦合），语气坦然。
- 把误判转化为动机：这正是深度引擎路线的起点，不是遮掩。
- 口径三层齐备，评测细节都在测试报告里可查。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主创新讲透：从离线到通话级，价值是「提前一分钟告警可能拦下一笔转账」。
- RTF&lt;0.015 说明部署门槛：普通 CPU 终端即可。
- 三个副创新各一句：可解释（可信）、闭环（可用）、双哈希（可验）。
- 结尾一句话点结构：副点都为主点服务。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预告演示三步：合成 → 鉴听 → 存证，配合上方工作台截图指认界面区域。
- 强调不依赖预置素材：文本评委出、音频现场生成。
- 邀请评委亲手输入文本——互动是这页的关键动作。
- 提示音与红色告警在此处预告，演示时注意停顿让观众听到。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先致敬两件作品，再讲差异在切入点：事后的文件 vs 进行中的通话。
- 表格竖着读两列即可：检测对象、部署要求是最有感的两行。
- 不贬低对方：深度引擎已在 12 周计划里，是「站在肩膀上」。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用王阿姨的具体场景讲公众侧价值，别念功能清单。
- 适老化三要素：大字号、高对比、语音播报；子女可预装。
- 机构侧三个接入位各一句；治理侧对应两部法规。
- 务必念出底部边界声明——辅助验真、非执法结论，这是可信度的一部分。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先讲清路线逻辑：深度引擎是补已知边界（有声书误判、窄带退化），不是推翻第一阶段。
- 五个阶段各点一句交付物——每一段都有可检验的产物，不是空计划。
- 收尾强调 ONNX 接口已预留，业务层零改动。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结尾语放慢：下一次接到熟人来电，希望几秒钟后你能有一个可以相信的答案。
- 口头补一句：演示环节现在就可以开始，欢迎出题。
- 致谢简短，把时间留给演示与问答。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4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71500" y="342900"/>
            <a:ext cx="7625395" cy="1504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97"/>
              </a:lnSpc>
              <a:buNone/>
            </a:pPr>
            <a:r>
              <a:rPr lang="en-US" sz="731" spc="44" kern="0" dirty="0">
                <a:solidFill>
                  <a:srgbClr val="73917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全国大学生信息安全竞赛 · 作品赛 · 应用安全（内容安全）</a:t>
            </a:r>
            <a:endParaRPr lang="en-US" sz="731" dirty="0"/>
          </a:p>
        </p:txBody>
      </p:sp>
      <p:sp>
        <p:nvSpPr>
          <p:cNvPr id="3" name="Text 1"/>
          <p:cNvSpPr/>
          <p:nvPr/>
        </p:nvSpPr>
        <p:spPr>
          <a:xfrm>
            <a:off x="8189132" y="348258"/>
            <a:ext cx="535493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13"/>
              </a:lnSpc>
              <a:buNone/>
            </a:pPr>
            <a:r>
              <a:rPr lang="en-US" sz="800" dirty="0">
                <a:solidFill>
                  <a:srgbClr val="73917F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2026.10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571500" y="1228725"/>
            <a:ext cx="5399336" cy="17359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66"/>
              </a:lnSpc>
              <a:buNone/>
            </a:pPr>
            <a:r>
              <a:rPr lang="en-US" sz="844" spc="422" kern="0" dirty="0">
                <a:solidFill>
                  <a:srgbClr val="73917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SHIELDEAR</a:t>
            </a:r>
            <a:endParaRPr lang="en-US" sz="844" dirty="0"/>
          </a:p>
        </p:txBody>
      </p:sp>
      <p:sp>
        <p:nvSpPr>
          <p:cNvPr id="5" name="Text 3"/>
          <p:cNvSpPr/>
          <p:nvPr/>
        </p:nvSpPr>
        <p:spPr>
          <a:xfrm>
            <a:off x="571500" y="1575197"/>
            <a:ext cx="5759291" cy="12035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775"/>
              </a:lnSpc>
              <a:buNone/>
            </a:pPr>
            <a:r>
              <a:rPr lang="en-US" sz="8438" b="1" spc="338" kern="0" dirty="0">
                <a:solidFill>
                  <a:srgbClr val="EAF6E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声盾</a:t>
            </a:r>
            <a:endParaRPr lang="en-US" sz="8438" dirty="0"/>
          </a:p>
        </p:txBody>
      </p:sp>
      <p:sp>
        <p:nvSpPr>
          <p:cNvPr id="6" name="Text 4"/>
          <p:cNvSpPr/>
          <p:nvPr/>
        </p:nvSpPr>
        <p:spPr>
          <a:xfrm>
            <a:off x="571500" y="3003947"/>
            <a:ext cx="21431" cy="685800"/>
          </a:xfrm>
          <a:prstGeom prst="rect">
            <a:avLst/>
          </a:prstGeom>
          <a:solidFill>
            <a:srgbClr val="34D39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50094" y="2961084"/>
            <a:ext cx="3420963" cy="6748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60"/>
              </a:lnSpc>
              <a:buNone/>
            </a:pPr>
            <a:r>
              <a:rPr lang="en-US" sz="1519" dirty="0">
                <a:solidFill>
                  <a:srgbClr val="EAF6E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接起电话的那一刻，</a:t>
            </a:r>
            <a:endParaRPr lang="en-US" sz="1519" dirty="0"/>
          </a:p>
          <a:p>
            <a:pPr algn="l" indent="0" marL="0">
              <a:lnSpc>
                <a:spcPts val="2460"/>
              </a:lnSpc>
              <a:buNone/>
            </a:pPr>
            <a:r>
              <a:rPr lang="en-US" sz="1519" dirty="0">
                <a:solidFill>
                  <a:srgbClr val="EAF6E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普通人也需要一个</a:t>
            </a:r>
            <a:pPr algn="l" indent="0" marL="0">
              <a:lnSpc>
                <a:spcPts val="2460"/>
              </a:lnSpc>
              <a:buNone/>
            </a:pPr>
            <a:r>
              <a:rPr lang="en-US" sz="1519" dirty="0">
                <a:solidFill>
                  <a:srgbClr val="34D3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验真声音</a:t>
            </a:r>
            <a:pPr algn="l" indent="0" marL="0">
              <a:lnSpc>
                <a:spcPts val="2460"/>
              </a:lnSpc>
              <a:buNone/>
            </a:pPr>
            <a:r>
              <a:rPr lang="en-US" sz="1519" dirty="0">
                <a:solidFill>
                  <a:srgbClr val="EAF6E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的办法。</a:t>
            </a:r>
            <a:endParaRPr lang="en-US" sz="1519" dirty="0"/>
          </a:p>
        </p:txBody>
      </p:sp>
      <p:sp>
        <p:nvSpPr>
          <p:cNvPr id="8" name="Text 6"/>
          <p:cNvSpPr/>
          <p:nvPr/>
        </p:nvSpPr>
        <p:spPr>
          <a:xfrm>
            <a:off x="750094" y="3700239"/>
            <a:ext cx="3694640" cy="2032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82"/>
              </a:lnSpc>
              <a:buNone/>
            </a:pPr>
            <a:r>
              <a:rPr lang="en-US" sz="872" dirty="0">
                <a:solidFill>
                  <a:srgbClr val="73917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面向 </a:t>
            </a:r>
            <a:pPr algn="l" indent="0" marL="0">
              <a:lnSpc>
                <a:spcPts val="1482"/>
              </a:lnSpc>
              <a:buNone/>
            </a:pPr>
            <a:r>
              <a:rPr lang="en-US" sz="872" dirty="0">
                <a:solidFill>
                  <a:srgbClr val="73917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AI</a:t>
            </a:r>
            <a:pPr algn="l" indent="0" marL="0">
              <a:lnSpc>
                <a:spcPts val="1482"/>
              </a:lnSpc>
              <a:buNone/>
            </a:pPr>
            <a:r>
              <a:rPr lang="en-US" sz="872" dirty="0">
                <a:solidFill>
                  <a:srgbClr val="73917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语音克隆诈骗的实时鉴伪平台 —— 边通话、边检测、边存证</a:t>
            </a:r>
            <a:endParaRPr lang="en-US" sz="872" dirty="0"/>
          </a:p>
        </p:txBody>
      </p:sp>
      <p:sp>
        <p:nvSpPr>
          <p:cNvPr id="9" name="Text 7"/>
          <p:cNvSpPr/>
          <p:nvPr/>
        </p:nvSpPr>
        <p:spPr>
          <a:xfrm>
            <a:off x="5351276" y="3725466"/>
            <a:ext cx="3221224" cy="14401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1013"/>
              </a:lnSpc>
              <a:buNone/>
            </a:pPr>
            <a:r>
              <a:rPr lang="en-US" sz="700" spc="95" kern="0" dirty="0">
                <a:solidFill>
                  <a:srgbClr val="73917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现场合成 · 现场检出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6107906" y="3925491"/>
            <a:ext cx="2464594" cy="4050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477"/>
              </a:lnSpc>
              <a:buNone/>
            </a:pPr>
            <a:r>
              <a:rPr lang="en-US" sz="844" dirty="0">
                <a:solidFill>
                  <a:srgbClr val="A8CC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评审可任意输入文本，平台当场合成、当场给出判决</a:t>
            </a:r>
            <a:endParaRPr lang="en-US" sz="844" dirty="0"/>
          </a:p>
          <a:p>
            <a:pPr algn="r" indent="0" marL="0">
              <a:lnSpc>
                <a:spcPts val="1477"/>
              </a:lnSpc>
              <a:buNone/>
            </a:pPr>
            <a:r>
              <a:rPr lang="en-US" sz="844" dirty="0">
                <a:solidFill>
                  <a:srgbClr val="A8CC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——本次答辩将现场做给各位看。</a:t>
            </a:r>
            <a:endParaRPr lang="en-US" sz="844" dirty="0"/>
          </a:p>
        </p:txBody>
      </p:sp>
      <p:sp>
        <p:nvSpPr>
          <p:cNvPr id="11" name="Shape 9"/>
          <p:cNvSpPr/>
          <p:nvPr/>
        </p:nvSpPr>
        <p:spPr>
          <a:xfrm>
            <a:off x="571500" y="4518422"/>
            <a:ext cx="8001000" cy="0"/>
          </a:xfrm>
          <a:prstGeom prst="line">
            <a:avLst/>
          </a:prstGeom>
          <a:noFill/>
          <a:ln w="7144">
            <a:solidFill>
              <a:srgbClr val="34D39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71500" y="4650581"/>
            <a:ext cx="7429500" cy="1500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81"/>
              </a:lnSpc>
              <a:buNone/>
            </a:pPr>
            <a:r>
              <a:rPr lang="en-US" sz="788" dirty="0">
                <a:solidFill>
                  <a:srgbClr val="A8CC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参赛团队：</a:t>
            </a:r>
            <a:pPr algn="l" indent="0" marL="0">
              <a:lnSpc>
                <a:spcPts val="1181"/>
              </a:lnSpc>
              <a:buNone/>
            </a:pPr>
            <a:r>
              <a:rPr lang="en-US" sz="788" dirty="0">
                <a:solidFill>
                  <a:srgbClr val="EAF6E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【团队名称】</a:t>
            </a:r>
            <a:pPr algn="l" indent="0" marL="0">
              <a:lnSpc>
                <a:spcPts val="1181"/>
              </a:lnSpc>
              <a:buNone/>
            </a:pPr>
            <a:r>
              <a:rPr lang="en-US" sz="788" dirty="0">
                <a:solidFill>
                  <a:srgbClr val="A8CC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· 答辩人：【成员姓名】</a:t>
            </a:r>
            <a:endParaRPr lang="en-US" sz="788" dirty="0"/>
          </a:p>
        </p:txBody>
      </p:sp>
      <p:sp>
        <p:nvSpPr>
          <p:cNvPr id="13" name="Text 11"/>
          <p:cNvSpPr/>
          <p:nvPr/>
        </p:nvSpPr>
        <p:spPr>
          <a:xfrm>
            <a:off x="7948886" y="4657725"/>
            <a:ext cx="690015" cy="1428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7"/>
              </a:lnSpc>
              <a:buNone/>
            </a:pPr>
            <a:r>
              <a:rPr lang="en-US" sz="731" dirty="0">
                <a:solidFill>
                  <a:srgbClr val="73917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大连理工大学</a:t>
            </a:r>
            <a:endParaRPr lang="en-US" sz="731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14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71500" y="400050"/>
            <a:ext cx="7883463" cy="1504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7"/>
              </a:lnSpc>
              <a:buNone/>
            </a:pPr>
            <a:r>
              <a:rPr lang="en-US" sz="731" spc="205" kern="0" dirty="0">
                <a:solidFill>
                  <a:srgbClr val="73917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为什么做这件事</a:t>
            </a:r>
            <a:endParaRPr lang="en-US" sz="731" dirty="0"/>
          </a:p>
        </p:txBody>
      </p:sp>
      <p:sp>
        <p:nvSpPr>
          <p:cNvPr id="3" name="Text 1"/>
          <p:cNvSpPr/>
          <p:nvPr/>
        </p:nvSpPr>
        <p:spPr>
          <a:xfrm>
            <a:off x="8459740" y="407194"/>
            <a:ext cx="184221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13"/>
              </a:lnSpc>
              <a:buNone/>
            </a:pPr>
            <a:r>
              <a:rPr lang="en-US" sz="800" dirty="0">
                <a:solidFill>
                  <a:srgbClr val="73917F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02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571500" y="853678"/>
            <a:ext cx="7000875" cy="9441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1913" dirty="0">
                <a:solidFill>
                  <a:srgbClr val="EAF6E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「妈，是我啊，手机摔坏了，这是同学的号。</a:t>
            </a:r>
            <a:endParaRPr lang="en-US" sz="1913" dirty="0"/>
          </a:p>
          <a:p>
            <a:pPr algn="l" indent="0" marL="0">
              <a:lnSpc>
                <a:spcPts val="3443"/>
              </a:lnSpc>
              <a:buNone/>
            </a:pPr>
            <a:r>
              <a:rPr lang="en-US" sz="1913" dirty="0">
                <a:solidFill>
                  <a:srgbClr val="EAF6E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急需</a:t>
            </a:r>
            <a:pPr algn="l" indent="0" marL="0">
              <a:lnSpc>
                <a:spcPts val="3443"/>
              </a:lnSpc>
              <a:buNone/>
            </a:pPr>
            <a:r>
              <a:rPr lang="en-US" sz="1913" dirty="0">
                <a:solidFill>
                  <a:srgbClr val="FBBF2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八千块</a:t>
            </a:r>
            <a:pPr algn="l" indent="0" marL="0">
              <a:lnSpc>
                <a:spcPts val="3443"/>
              </a:lnSpc>
              <a:buNone/>
            </a:pPr>
            <a:r>
              <a:rPr lang="en-US" sz="1913" dirty="0">
                <a:solidFill>
                  <a:srgbClr val="EAF6E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周转，先别告诉我爸……」</a:t>
            </a:r>
            <a:endParaRPr lang="en-US" sz="1913" dirty="0"/>
          </a:p>
        </p:txBody>
      </p:sp>
      <p:sp>
        <p:nvSpPr>
          <p:cNvPr id="5" name="Text 3"/>
          <p:cNvSpPr/>
          <p:nvPr/>
        </p:nvSpPr>
        <p:spPr>
          <a:xfrm>
            <a:off x="571500" y="1913632"/>
            <a:ext cx="7000875" cy="47207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21"/>
              </a:lnSpc>
              <a:buNone/>
            </a:pPr>
            <a:r>
              <a:rPr lang="en-US" sz="956" dirty="0">
                <a:solidFill>
                  <a:srgbClr val="A8CC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声音、语气、口头禅，都对。这通电话里唯一的假货，是声音本身。</a:t>
            </a:r>
            <a:endParaRPr lang="en-US" sz="956" dirty="0"/>
          </a:p>
          <a:p>
            <a:pPr algn="l" indent="0" marL="0">
              <a:lnSpc>
                <a:spcPts val="1721"/>
              </a:lnSpc>
              <a:buNone/>
            </a:pPr>
            <a:r>
              <a:rPr lang="en-US" sz="956" dirty="0">
                <a:solidFill>
                  <a:srgbClr val="A8CC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我们防备陌生人，却对「熟悉的声音」天然卸下防备。</a:t>
            </a:r>
            <a:endParaRPr lang="en-US" sz="956" dirty="0"/>
          </a:p>
        </p:txBody>
      </p:sp>
      <p:sp>
        <p:nvSpPr>
          <p:cNvPr id="6" name="Shape 4"/>
          <p:cNvSpPr/>
          <p:nvPr/>
        </p:nvSpPr>
        <p:spPr>
          <a:xfrm>
            <a:off x="582216" y="2636490"/>
            <a:ext cx="0" cy="706338"/>
          </a:xfrm>
          <a:prstGeom prst="line">
            <a:avLst/>
          </a:prstGeom>
          <a:noFill/>
          <a:ln w="21431">
            <a:solidFill>
              <a:srgbClr val="34D39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8669" y="2636490"/>
            <a:ext cx="2441017" cy="3471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31"/>
              </a:lnSpc>
              <a:buNone/>
            </a:pPr>
            <a:r>
              <a:rPr lang="en-US" sz="1688" b="1" dirty="0">
                <a:solidFill>
                  <a:srgbClr val="F87171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2</a:t>
            </a:r>
            <a:pPr algn="l" indent="0" marL="0">
              <a:lnSpc>
                <a:spcPts val="2531"/>
              </a:lnSpc>
              <a:buNone/>
            </a:pPr>
            <a:r>
              <a:rPr lang="en-US" sz="1688" b="1" dirty="0">
                <a:solidFill>
                  <a:srgbClr val="F8717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亿港元</a:t>
            </a:r>
            <a:endParaRPr lang="en-US" sz="1688" dirty="0"/>
          </a:p>
        </p:txBody>
      </p:sp>
      <p:sp>
        <p:nvSpPr>
          <p:cNvPr id="8" name="Text 6"/>
          <p:cNvSpPr/>
          <p:nvPr/>
        </p:nvSpPr>
        <p:spPr>
          <a:xfrm>
            <a:off x="778669" y="3015109"/>
            <a:ext cx="1544948" cy="327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1"/>
              </a:lnSpc>
              <a:buNone/>
            </a:pPr>
            <a:r>
              <a:rPr lang="en-US" sz="759" dirty="0">
                <a:solidFill>
                  <a:srgbClr val="A8CCB8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2024</a:t>
            </a:r>
            <a:pPr algn="l" indent="0" marL="0">
              <a:lnSpc>
                <a:spcPts val="1291"/>
              </a:lnSpc>
              <a:buNone/>
            </a:pPr>
            <a:r>
              <a:rPr lang="en-US" sz="759" dirty="0">
                <a:solidFill>
                  <a:srgbClr val="A8CC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年香港深伪视频会议诈骗案</a:t>
            </a:r>
            <a:endParaRPr lang="en-US" sz="759" dirty="0"/>
          </a:p>
          <a:p>
            <a:pPr algn="l" indent="0" marL="0">
              <a:lnSpc>
                <a:spcPts val="1291"/>
              </a:lnSpc>
              <a:buNone/>
            </a:pPr>
            <a:r>
              <a:rPr lang="en-US" sz="759" dirty="0">
                <a:solidFill>
                  <a:srgbClr val="A8CC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职员被 </a:t>
            </a:r>
            <a:pPr algn="l" indent="0" marL="0">
              <a:lnSpc>
                <a:spcPts val="1291"/>
              </a:lnSpc>
              <a:buNone/>
            </a:pPr>
            <a:r>
              <a:rPr lang="en-US" sz="759" dirty="0">
                <a:solidFill>
                  <a:srgbClr val="A8CCB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AI</a:t>
            </a:r>
            <a:pPr algn="l" indent="0" marL="0">
              <a:lnSpc>
                <a:spcPts val="1291"/>
              </a:lnSpc>
              <a:buNone/>
            </a:pPr>
            <a:r>
              <a:rPr lang="en-US" sz="759" dirty="0">
                <a:solidFill>
                  <a:srgbClr val="A8CC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仿冒的「高管」骗走转账</a:t>
            </a:r>
            <a:endParaRPr lang="en-US" sz="759" dirty="0"/>
          </a:p>
        </p:txBody>
      </p:sp>
      <p:sp>
        <p:nvSpPr>
          <p:cNvPr id="9" name="Text 7"/>
          <p:cNvSpPr/>
          <p:nvPr/>
        </p:nvSpPr>
        <p:spPr>
          <a:xfrm>
            <a:off x="2780816" y="2636490"/>
            <a:ext cx="2370296" cy="3471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31"/>
              </a:lnSpc>
              <a:buNone/>
            </a:pPr>
            <a:r>
              <a:rPr lang="en-US" sz="1688" b="1" dirty="0">
                <a:solidFill>
                  <a:srgbClr val="FBBF2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分钟级</a:t>
            </a:r>
            <a:endParaRPr lang="en-US" sz="1688" dirty="0"/>
          </a:p>
        </p:txBody>
      </p:sp>
      <p:sp>
        <p:nvSpPr>
          <p:cNvPr id="10" name="Text 8"/>
          <p:cNvSpPr/>
          <p:nvPr/>
        </p:nvSpPr>
        <p:spPr>
          <a:xfrm>
            <a:off x="2780816" y="3015109"/>
            <a:ext cx="1500188" cy="327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1"/>
              </a:lnSpc>
              <a:buNone/>
            </a:pPr>
            <a:r>
              <a:rPr lang="en-US" sz="759" dirty="0">
                <a:solidFill>
                  <a:srgbClr val="A8CC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克隆一个声音所需的采样时长</a:t>
            </a:r>
            <a:endParaRPr lang="en-US" sz="759" dirty="0"/>
          </a:p>
          <a:p>
            <a:pPr algn="l" indent="0" marL="0">
              <a:lnSpc>
                <a:spcPts val="1291"/>
              </a:lnSpc>
              <a:buNone/>
            </a:pPr>
            <a:r>
              <a:rPr lang="en-US" sz="759" dirty="0">
                <a:solidFill>
                  <a:srgbClr val="A8CC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开源工具与商业服务均已消费级化</a:t>
            </a:r>
            <a:endParaRPr lang="en-US" sz="759" dirty="0"/>
          </a:p>
        </p:txBody>
      </p:sp>
      <p:sp>
        <p:nvSpPr>
          <p:cNvPr id="11" name="Text 9"/>
          <p:cNvSpPr/>
          <p:nvPr/>
        </p:nvSpPr>
        <p:spPr>
          <a:xfrm>
            <a:off x="4738204" y="2636490"/>
            <a:ext cx="2528316" cy="3471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31"/>
              </a:lnSpc>
              <a:buNone/>
            </a:pPr>
            <a:r>
              <a:rPr lang="en-US" sz="1688" b="1" dirty="0">
                <a:solidFill>
                  <a:srgbClr val="EAF6EF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0</a:t>
            </a:r>
            <a:pPr algn="l" indent="0" marL="0">
              <a:lnSpc>
                <a:spcPts val="2531"/>
              </a:lnSpc>
              <a:buNone/>
            </a:pPr>
            <a:r>
              <a:rPr lang="en-US" sz="1688" b="1" dirty="0">
                <a:solidFill>
                  <a:srgbClr val="EAF6E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个</a:t>
            </a:r>
            <a:endParaRPr lang="en-US" sz="1688" dirty="0"/>
          </a:p>
        </p:txBody>
      </p:sp>
      <p:sp>
        <p:nvSpPr>
          <p:cNvPr id="12" name="Text 10"/>
          <p:cNvSpPr/>
          <p:nvPr/>
        </p:nvSpPr>
        <p:spPr>
          <a:xfrm>
            <a:off x="4738204" y="3015109"/>
            <a:ext cx="1600200" cy="327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1"/>
              </a:lnSpc>
              <a:buNone/>
            </a:pPr>
            <a:r>
              <a:rPr lang="en-US" sz="759" dirty="0">
                <a:solidFill>
                  <a:srgbClr val="A8CC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通话进行中，普通人可用的验真手段</a:t>
            </a:r>
            <a:endParaRPr lang="en-US" sz="759" dirty="0"/>
          </a:p>
          <a:p>
            <a:pPr algn="l" indent="0" marL="0">
              <a:lnSpc>
                <a:spcPts val="1291"/>
              </a:lnSpc>
              <a:buNone/>
            </a:pPr>
            <a:r>
              <a:rPr lang="en-US" sz="759" dirty="0">
                <a:solidFill>
                  <a:srgbClr val="A8CC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——这就是我们要补的位置</a:t>
            </a:r>
            <a:endParaRPr lang="en-US" sz="759" dirty="0"/>
          </a:p>
        </p:txBody>
      </p:sp>
      <p:sp>
        <p:nvSpPr>
          <p:cNvPr id="13" name="Shape 11"/>
          <p:cNvSpPr/>
          <p:nvPr/>
        </p:nvSpPr>
        <p:spPr>
          <a:xfrm>
            <a:off x="571500" y="4505920"/>
            <a:ext cx="8001000" cy="0"/>
          </a:xfrm>
          <a:prstGeom prst="line">
            <a:avLst/>
          </a:prstGeom>
          <a:noFill/>
          <a:ln w="7144">
            <a:solidFill>
              <a:srgbClr val="34D39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71500" y="4666655"/>
            <a:ext cx="5736431" cy="1339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5"/>
              </a:lnSpc>
              <a:buNone/>
            </a:pPr>
            <a:r>
              <a:rPr lang="en-US" sz="703" dirty="0">
                <a:solidFill>
                  <a:srgbClr val="73917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《反电信网络诈骗法》</a:t>
            </a:r>
            <a:pPr algn="l" indent="0" marL="0">
              <a:lnSpc>
                <a:spcPts val="1055"/>
              </a:lnSpc>
              <a:buNone/>
            </a:pPr>
            <a:r>
              <a:rPr lang="en-US" sz="703" dirty="0">
                <a:solidFill>
                  <a:srgbClr val="73917F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2022.12</a:t>
            </a:r>
            <a:pPr algn="l" indent="0" marL="0">
              <a:lnSpc>
                <a:spcPts val="1055"/>
              </a:lnSpc>
              <a:buNone/>
            </a:pPr>
            <a:r>
              <a:rPr lang="en-US" sz="703" dirty="0">
                <a:solidFill>
                  <a:srgbClr val="73917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施行 · 《互联网信息服务深度合成管理规定》</a:t>
            </a:r>
            <a:pPr algn="l" indent="0" marL="0">
              <a:lnSpc>
                <a:spcPts val="1055"/>
              </a:lnSpc>
              <a:buNone/>
            </a:pPr>
            <a:r>
              <a:rPr lang="en-US" sz="703" dirty="0">
                <a:solidFill>
                  <a:srgbClr val="73917F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2023.01</a:t>
            </a:r>
            <a:pPr algn="l" indent="0" marL="0">
              <a:lnSpc>
                <a:spcPts val="1055"/>
              </a:lnSpc>
              <a:buNone/>
            </a:pPr>
            <a:r>
              <a:rPr lang="en-US" sz="703" dirty="0">
                <a:solidFill>
                  <a:srgbClr val="73917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施行 —— 治理框架已就位，用户侧工具仍缺位</a:t>
            </a:r>
            <a:endParaRPr lang="en-US" sz="703" dirty="0"/>
          </a:p>
        </p:txBody>
      </p:sp>
      <p:sp>
        <p:nvSpPr>
          <p:cNvPr id="15" name="Text 13"/>
          <p:cNvSpPr/>
          <p:nvPr/>
        </p:nvSpPr>
        <p:spPr>
          <a:xfrm>
            <a:off x="6450806" y="4623792"/>
            <a:ext cx="2121694" cy="1768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92"/>
              </a:lnSpc>
              <a:buNone/>
            </a:pPr>
            <a:r>
              <a:rPr lang="en-US" sz="928" dirty="0">
                <a:solidFill>
                  <a:srgbClr val="EAF6E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反诈的最后一公里，</a:t>
            </a:r>
            <a:pPr algn="l" indent="0" marL="0">
              <a:lnSpc>
                <a:spcPts val="1392"/>
              </a:lnSpc>
              <a:buNone/>
            </a:pPr>
            <a:r>
              <a:rPr lang="en-US" sz="928" dirty="0">
                <a:solidFill>
                  <a:srgbClr val="34D3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就在接听的那几秒</a:t>
            </a:r>
            <a:pPr algn="l" indent="0" marL="0">
              <a:lnSpc>
                <a:spcPts val="1392"/>
              </a:lnSpc>
              <a:buNone/>
            </a:pPr>
            <a:r>
              <a:rPr lang="en-US" sz="928" dirty="0">
                <a:solidFill>
                  <a:srgbClr val="EAF6E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928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14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71500" y="400050"/>
            <a:ext cx="7883463" cy="1504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7"/>
              </a:lnSpc>
              <a:buNone/>
            </a:pPr>
            <a:r>
              <a:rPr lang="en-US" sz="731" spc="205" kern="0" dirty="0">
                <a:solidFill>
                  <a:srgbClr val="73917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定位</a:t>
            </a:r>
            <a:endParaRPr lang="en-US" sz="731" dirty="0"/>
          </a:p>
        </p:txBody>
      </p:sp>
      <p:sp>
        <p:nvSpPr>
          <p:cNvPr id="3" name="Text 1"/>
          <p:cNvSpPr/>
          <p:nvPr/>
        </p:nvSpPr>
        <p:spPr>
          <a:xfrm>
            <a:off x="8459740" y="407194"/>
            <a:ext cx="184221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13"/>
              </a:lnSpc>
              <a:buNone/>
            </a:pPr>
            <a:r>
              <a:rPr lang="en-US" sz="800" dirty="0">
                <a:solidFill>
                  <a:srgbClr val="73917F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03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571500" y="867966"/>
            <a:ext cx="8001000" cy="1064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81"/>
              </a:lnSpc>
              <a:buNone/>
            </a:pPr>
            <a:r>
              <a:rPr lang="en-US" sz="2588" b="1" dirty="0">
                <a:solidFill>
                  <a:srgbClr val="EAF6E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这一通电话里的声音，</a:t>
            </a:r>
            <a:endParaRPr lang="en-US" sz="2588" dirty="0"/>
          </a:p>
          <a:p>
            <a:pPr algn="l" indent="0" marL="0">
              <a:lnSpc>
                <a:spcPts val="3881"/>
              </a:lnSpc>
              <a:buNone/>
            </a:pPr>
            <a:r>
              <a:rPr lang="en-US" sz="2588" b="1" dirty="0">
                <a:solidFill>
                  <a:srgbClr val="EAF6E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到底</a:t>
            </a:r>
            <a:pPr algn="l" indent="0" marL="0">
              <a:lnSpc>
                <a:spcPts val="3881"/>
              </a:lnSpc>
              <a:buNone/>
            </a:pPr>
            <a:r>
              <a:rPr lang="en-US" sz="2588" b="1" dirty="0">
                <a:solidFill>
                  <a:srgbClr val="34D3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是不是 </a:t>
            </a:r>
            <a:pPr algn="l" indent="0" marL="0">
              <a:lnSpc>
                <a:spcPts val="3881"/>
              </a:lnSpc>
              <a:buNone/>
            </a:pPr>
            <a:r>
              <a:rPr lang="en-US" sz="2588" b="1" dirty="0">
                <a:solidFill>
                  <a:srgbClr val="34D399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AI</a:t>
            </a:r>
            <a:pPr algn="l" indent="0" marL="0">
              <a:lnSpc>
                <a:spcPts val="3881"/>
              </a:lnSpc>
              <a:buNone/>
            </a:pPr>
            <a:r>
              <a:rPr lang="en-US" sz="2588" b="1" dirty="0">
                <a:solidFill>
                  <a:srgbClr val="34D3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合成的</a:t>
            </a:r>
            <a:pPr algn="l" indent="0" marL="0">
              <a:lnSpc>
                <a:spcPts val="3881"/>
              </a:lnSpc>
              <a:buNone/>
            </a:pPr>
            <a:r>
              <a:rPr lang="en-US" sz="2588" b="1" dirty="0">
                <a:solidFill>
                  <a:srgbClr val="EAF6E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？</a:t>
            </a:r>
            <a:endParaRPr lang="en-US" sz="2588" dirty="0"/>
          </a:p>
        </p:txBody>
      </p:sp>
      <p:sp>
        <p:nvSpPr>
          <p:cNvPr id="5" name="Text 3"/>
          <p:cNvSpPr/>
          <p:nvPr/>
        </p:nvSpPr>
        <p:spPr>
          <a:xfrm>
            <a:off x="571500" y="2025253"/>
            <a:ext cx="6143625" cy="4580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71"/>
              </a:lnSpc>
              <a:buNone/>
            </a:pPr>
            <a:r>
              <a:rPr lang="en-US" sz="928" dirty="0">
                <a:solidFill>
                  <a:srgbClr val="A8CC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声盾只回答这一个问题。不做通用鉴伪、不做换脸检测、不做训练隐私——</a:t>
            </a:r>
            <a:endParaRPr lang="en-US" sz="928" dirty="0"/>
          </a:p>
          <a:p>
            <a:pPr algn="l" indent="0" marL="0">
              <a:lnSpc>
                <a:spcPts val="1671"/>
              </a:lnSpc>
              <a:buNone/>
            </a:pPr>
            <a:r>
              <a:rPr lang="en-US" sz="928" dirty="0">
                <a:solidFill>
                  <a:srgbClr val="A8CC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选题以大连理工大学 </a:t>
            </a:r>
            <a:pPr algn="l" indent="0" marL="0">
              <a:lnSpc>
                <a:spcPts val="1671"/>
              </a:lnSpc>
              <a:buNone/>
            </a:pPr>
            <a:r>
              <a:rPr lang="en-US" sz="928" dirty="0">
                <a:solidFill>
                  <a:srgbClr val="A8CCB8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2022–2024</a:t>
            </a:r>
            <a:pPr algn="l" indent="0" marL="0">
              <a:lnSpc>
                <a:spcPts val="1671"/>
              </a:lnSpc>
              <a:buNone/>
            </a:pPr>
            <a:r>
              <a:rPr lang="en-US" sz="928" dirty="0">
                <a:solidFill>
                  <a:srgbClr val="A8CC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年九件全国获奖作品（含国家一等奖 </a:t>
            </a:r>
            <a:pPr algn="l" indent="0" marL="0">
              <a:lnSpc>
                <a:spcPts val="1671"/>
              </a:lnSpc>
              <a:buNone/>
            </a:pPr>
            <a:r>
              <a:rPr lang="en-US" sz="928" dirty="0">
                <a:solidFill>
                  <a:srgbClr val="A8CCB8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2</a:t>
            </a:r>
            <a:pPr algn="l" indent="0" marL="0">
              <a:lnSpc>
                <a:spcPts val="1671"/>
              </a:lnSpc>
              <a:buNone/>
            </a:pPr>
            <a:r>
              <a:rPr lang="en-US" sz="928" dirty="0">
                <a:solidFill>
                  <a:srgbClr val="A8CC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件）的规律校准，评委三秒能懂。</a:t>
            </a:r>
            <a:endParaRPr lang="en-US" sz="928" dirty="0"/>
          </a:p>
        </p:txBody>
      </p:sp>
      <p:sp>
        <p:nvSpPr>
          <p:cNvPr id="6" name="Shape 4"/>
          <p:cNvSpPr/>
          <p:nvPr/>
        </p:nvSpPr>
        <p:spPr>
          <a:xfrm>
            <a:off x="571500" y="3584823"/>
            <a:ext cx="8001000" cy="0"/>
          </a:xfrm>
          <a:prstGeom prst="line">
            <a:avLst/>
          </a:prstGeom>
          <a:noFill/>
          <a:ln w="7144">
            <a:solidFill>
              <a:srgbClr val="34D39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71500" y="3745557"/>
            <a:ext cx="2871788" cy="1967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34"/>
              </a:lnSpc>
              <a:buNone/>
            </a:pPr>
            <a:r>
              <a:rPr lang="en-US" sz="956" b="1" dirty="0">
                <a:solidFill>
                  <a:srgbClr val="EAF6E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一件小事，做穿</a:t>
            </a:r>
            <a:endParaRPr lang="en-US" sz="956" dirty="0"/>
          </a:p>
        </p:txBody>
      </p:sp>
      <p:sp>
        <p:nvSpPr>
          <p:cNvPr id="8" name="Text 6"/>
          <p:cNvSpPr/>
          <p:nvPr/>
        </p:nvSpPr>
        <p:spPr>
          <a:xfrm>
            <a:off x="571500" y="3984873"/>
            <a:ext cx="2243584" cy="315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3"/>
              </a:lnSpc>
              <a:buNone/>
            </a:pPr>
            <a:r>
              <a:rPr lang="en-US" sz="731" dirty="0">
                <a:solidFill>
                  <a:srgbClr val="73917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题目即卖点：通话级实时鉴伪，一条主线贯穿检测、告警、存证</a:t>
            </a:r>
            <a:endParaRPr lang="en-US" sz="731" dirty="0"/>
          </a:p>
        </p:txBody>
      </p:sp>
      <p:sp>
        <p:nvSpPr>
          <p:cNvPr id="9" name="Text 7"/>
          <p:cNvSpPr/>
          <p:nvPr/>
        </p:nvSpPr>
        <p:spPr>
          <a:xfrm>
            <a:off x="3072259" y="3745557"/>
            <a:ext cx="2625844" cy="1967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34"/>
              </a:lnSpc>
              <a:buNone/>
            </a:pPr>
            <a:r>
              <a:rPr lang="en-US" sz="956" b="1" dirty="0">
                <a:solidFill>
                  <a:srgbClr val="EAF6E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指标可算</a:t>
            </a:r>
            <a:endParaRPr lang="en-US" sz="956" dirty="0"/>
          </a:p>
        </p:txBody>
      </p:sp>
      <p:sp>
        <p:nvSpPr>
          <p:cNvPr id="10" name="Text 8"/>
          <p:cNvSpPr/>
          <p:nvPr/>
        </p:nvSpPr>
        <p:spPr>
          <a:xfrm>
            <a:off x="3072259" y="3984873"/>
            <a:ext cx="1745023" cy="315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3"/>
              </a:lnSpc>
              <a:buNone/>
            </a:pPr>
            <a:r>
              <a:rPr lang="en-US" sz="731" dirty="0">
                <a:solidFill>
                  <a:srgbClr val="73917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用公开数据集与实测口径说话，不靠演示效果自证</a:t>
            </a:r>
            <a:endParaRPr lang="en-US" sz="731" dirty="0"/>
          </a:p>
        </p:txBody>
      </p:sp>
      <p:sp>
        <p:nvSpPr>
          <p:cNvPr id="11" name="Text 9"/>
          <p:cNvSpPr/>
          <p:nvPr/>
        </p:nvSpPr>
        <p:spPr>
          <a:xfrm>
            <a:off x="4991360" y="3745557"/>
            <a:ext cx="2625844" cy="1967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34"/>
              </a:lnSpc>
              <a:buNone/>
            </a:pPr>
            <a:r>
              <a:rPr lang="en-US" sz="956" b="1" dirty="0">
                <a:solidFill>
                  <a:srgbClr val="EAF6E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风口之上</a:t>
            </a:r>
            <a:endParaRPr lang="en-US" sz="956" dirty="0"/>
          </a:p>
        </p:txBody>
      </p:sp>
      <p:sp>
        <p:nvSpPr>
          <p:cNvPr id="12" name="Text 10"/>
          <p:cNvSpPr/>
          <p:nvPr/>
        </p:nvSpPr>
        <p:spPr>
          <a:xfrm>
            <a:off x="4991360" y="3984873"/>
            <a:ext cx="1661926" cy="315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3"/>
              </a:lnSpc>
              <a:buNone/>
            </a:pPr>
            <a:r>
              <a:rPr lang="en-US" sz="731" dirty="0">
                <a:solidFill>
                  <a:srgbClr val="73917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反诈法与深度合成治理双支点，属应用安全（内容安全）正题</a:t>
            </a:r>
            <a:endParaRPr lang="en-US" sz="731" dirty="0"/>
          </a:p>
        </p:txBody>
      </p:sp>
      <p:sp>
        <p:nvSpPr>
          <p:cNvPr id="13" name="Text 11"/>
          <p:cNvSpPr/>
          <p:nvPr/>
        </p:nvSpPr>
        <p:spPr>
          <a:xfrm>
            <a:off x="6910462" y="3745557"/>
            <a:ext cx="1662038" cy="1967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34"/>
              </a:lnSpc>
              <a:buNone/>
            </a:pPr>
            <a:r>
              <a:rPr lang="en-US" sz="956" b="1" dirty="0">
                <a:solidFill>
                  <a:srgbClr val="EAF6E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三两人，闭环</a:t>
            </a:r>
            <a:endParaRPr lang="en-US" sz="956" dirty="0"/>
          </a:p>
        </p:txBody>
      </p:sp>
      <p:sp>
        <p:nvSpPr>
          <p:cNvPr id="14" name="Text 12"/>
          <p:cNvSpPr/>
          <p:nvPr/>
        </p:nvSpPr>
        <p:spPr>
          <a:xfrm>
            <a:off x="6910462" y="3984873"/>
            <a:ext cx="1662038" cy="31566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43"/>
              </a:lnSpc>
              <a:buNone/>
            </a:pPr>
            <a:r>
              <a:rPr lang="en-US" sz="731" dirty="0">
                <a:solidFill>
                  <a:srgbClr val="73917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轻量架构让小团队也能交付可运行的完整作品</a:t>
            </a:r>
            <a:endParaRPr lang="en-US" sz="731" dirty="0"/>
          </a:p>
        </p:txBody>
      </p:sp>
      <p:sp>
        <p:nvSpPr>
          <p:cNvPr id="15" name="Shape 13"/>
          <p:cNvSpPr/>
          <p:nvPr/>
        </p:nvSpPr>
        <p:spPr>
          <a:xfrm>
            <a:off x="571500" y="4541639"/>
            <a:ext cx="8001000" cy="0"/>
          </a:xfrm>
          <a:prstGeom prst="line">
            <a:avLst/>
          </a:prstGeom>
          <a:noFill/>
          <a:ln w="7144">
            <a:solidFill>
              <a:srgbClr val="34D39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71500" y="4659511"/>
            <a:ext cx="6593681" cy="1410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97"/>
              </a:lnSpc>
              <a:buNone/>
            </a:pPr>
            <a:r>
              <a:rPr lang="en-US" sz="731" dirty="0">
                <a:solidFill>
                  <a:srgbClr val="A8CC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差异化三件套：实时流式 · 轻量可解释 · 反诈存证闭环</a:t>
            </a:r>
            <a:endParaRPr lang="en-US" sz="731" dirty="0"/>
          </a:p>
        </p:txBody>
      </p:sp>
      <p:sp>
        <p:nvSpPr>
          <p:cNvPr id="17" name="Text 15"/>
          <p:cNvSpPr/>
          <p:nvPr/>
        </p:nvSpPr>
        <p:spPr>
          <a:xfrm>
            <a:off x="7179469" y="4666655"/>
            <a:ext cx="1393031" cy="1339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55"/>
              </a:lnSpc>
              <a:buNone/>
            </a:pPr>
            <a:r>
              <a:rPr lang="en-US" sz="703" dirty="0">
                <a:solidFill>
                  <a:srgbClr val="73917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其余能力一概克制，留给后续路线</a:t>
            </a:r>
            <a:endParaRPr lang="en-US" sz="703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14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71500" y="400050"/>
            <a:ext cx="7883463" cy="1504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7"/>
              </a:lnSpc>
              <a:buNone/>
            </a:pPr>
            <a:r>
              <a:rPr lang="en-US" sz="731" spc="205" kern="0" dirty="0">
                <a:solidFill>
                  <a:srgbClr val="73917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总体架构</a:t>
            </a:r>
            <a:endParaRPr lang="en-US" sz="731" dirty="0"/>
          </a:p>
        </p:txBody>
      </p:sp>
      <p:sp>
        <p:nvSpPr>
          <p:cNvPr id="3" name="Text 1"/>
          <p:cNvSpPr/>
          <p:nvPr/>
        </p:nvSpPr>
        <p:spPr>
          <a:xfrm>
            <a:off x="8459740" y="407194"/>
            <a:ext cx="184221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13"/>
              </a:lnSpc>
              <a:buNone/>
            </a:pPr>
            <a:r>
              <a:rPr lang="en-US" sz="800" dirty="0">
                <a:solidFill>
                  <a:srgbClr val="73917F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04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571500" y="696516"/>
            <a:ext cx="8401050" cy="3671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678"/>
              </a:lnSpc>
              <a:buNone/>
            </a:pPr>
            <a:r>
              <a:rPr lang="en-US" sz="1913" b="1" dirty="0">
                <a:solidFill>
                  <a:srgbClr val="EAF6E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一份引擎，跑在两端 —— </a:t>
            </a:r>
            <a:pPr algn="l" indent="0" marL="0">
              <a:lnSpc>
                <a:spcPts val="2678"/>
              </a:lnSpc>
              <a:buNone/>
            </a:pPr>
            <a:r>
              <a:rPr lang="en-US" sz="1913" b="1" dirty="0">
                <a:solidFill>
                  <a:srgbClr val="34D3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谁也糊弄不了谁</a:t>
            </a:r>
            <a:endParaRPr lang="en-US" sz="1913" dirty="0"/>
          </a:p>
        </p:txBody>
      </p:sp>
      <p:sp>
        <p:nvSpPr>
          <p:cNvPr id="5" name="Text 3"/>
          <p:cNvSpPr/>
          <p:nvPr/>
        </p:nvSpPr>
        <p:spPr>
          <a:xfrm>
            <a:off x="571500" y="1136526"/>
            <a:ext cx="6429375" cy="416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19"/>
              </a:lnSpc>
              <a:buNone/>
            </a:pPr>
            <a:r>
              <a:rPr lang="en-US" sz="844" dirty="0">
                <a:solidFill>
                  <a:srgbClr val="A8CC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浏览器先判一遍、服务端再核一遍，跑的是同一份 </a:t>
            </a:r>
            <a:pPr algn="l" indent="0" marL="0">
              <a:lnSpc>
                <a:spcPts val="1519"/>
              </a:lnSpc>
              <a:buNone/>
            </a:pPr>
            <a:r>
              <a:rPr lang="en-US" sz="844" dirty="0">
                <a:solidFill>
                  <a:srgbClr val="A8CCB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TypeScript</a:t>
            </a:r>
            <a:pPr algn="l" indent="0" marL="0">
              <a:lnSpc>
                <a:spcPts val="1519"/>
              </a:lnSpc>
              <a:buNone/>
            </a:pPr>
            <a:r>
              <a:rPr lang="en-US" sz="844" dirty="0">
                <a:solidFill>
                  <a:srgbClr val="A8CC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引擎：录音文件与实时通话的结论完全一致， 客户端结果可被独立复核。检测不快不行，存证不严不行 —— 这两个要求，决定了下面五层。</a:t>
            </a:r>
            <a:endParaRPr lang="en-US" sz="844" dirty="0"/>
          </a:p>
        </p:txBody>
      </p:sp>
      <p:sp>
        <p:nvSpPr>
          <p:cNvPr id="6" name="Shape 4"/>
          <p:cNvSpPr/>
          <p:nvPr/>
        </p:nvSpPr>
        <p:spPr>
          <a:xfrm>
            <a:off x="582216" y="1914525"/>
            <a:ext cx="0" cy="428625"/>
          </a:xfrm>
          <a:prstGeom prst="line">
            <a:avLst/>
          </a:prstGeom>
          <a:noFill/>
          <a:ln w="21431">
            <a:solidFill>
              <a:srgbClr val="34D39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5806" y="2069902"/>
            <a:ext cx="293465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28"/>
              </a:lnSpc>
              <a:buNone/>
            </a:pPr>
            <a:r>
              <a:rPr lang="en-US" sz="800" dirty="0">
                <a:solidFill>
                  <a:srgbClr val="73917F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L1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1050131" y="1971675"/>
            <a:ext cx="4664869" cy="15294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308"/>
              </a:lnSpc>
              <a:buNone/>
            </a:pPr>
            <a:r>
              <a:rPr lang="en-US" sz="872" b="1" dirty="0">
                <a:solidFill>
                  <a:srgbClr val="EAF6E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采集</a:t>
            </a:r>
            <a:endParaRPr lang="en-US" sz="872" dirty="0"/>
          </a:p>
        </p:txBody>
      </p:sp>
      <p:sp>
        <p:nvSpPr>
          <p:cNvPr id="9" name="Text 7"/>
          <p:cNvSpPr/>
          <p:nvPr/>
        </p:nvSpPr>
        <p:spPr>
          <a:xfrm>
            <a:off x="1050131" y="2152055"/>
            <a:ext cx="3658046" cy="1339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703" dirty="0">
                <a:solidFill>
                  <a:srgbClr val="A8CC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麦克风实时流（</a:t>
            </a:r>
            <a:pPr algn="l" indent="0" marL="0">
              <a:lnSpc>
                <a:spcPts val="1200"/>
              </a:lnSpc>
              <a:buNone/>
            </a:pPr>
            <a:r>
              <a:rPr lang="en-US" sz="703" dirty="0">
                <a:solidFill>
                  <a:srgbClr val="A8CCB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AudioWorklet</a:t>
            </a:r>
            <a:pPr algn="l" indent="0" marL="0">
              <a:lnSpc>
                <a:spcPts val="1200"/>
              </a:lnSpc>
              <a:buNone/>
            </a:pPr>
            <a:r>
              <a:rPr lang="en-US" sz="703" dirty="0">
                <a:solidFill>
                  <a:srgbClr val="A8CC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pPr algn="l" indent="0" marL="0">
              <a:lnSpc>
                <a:spcPts val="1200"/>
              </a:lnSpc>
              <a:buNone/>
            </a:pPr>
            <a:r>
              <a:rPr lang="en-US" sz="800" dirty="0">
                <a:solidFill>
                  <a:srgbClr val="A8CCB8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16kHz</a:t>
            </a:r>
            <a:pPr algn="l" indent="0" marL="0">
              <a:lnSpc>
                <a:spcPts val="1200"/>
              </a:lnSpc>
              <a:buNone/>
            </a:pPr>
            <a:r>
              <a:rPr lang="en-US" sz="703" dirty="0">
                <a:solidFill>
                  <a:srgbClr val="A8CC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）· 文件导入 · </a:t>
            </a:r>
            <a:pPr algn="l" indent="0" marL="0">
              <a:lnSpc>
                <a:spcPts val="1200"/>
              </a:lnSpc>
              <a:buNone/>
            </a:pPr>
            <a:r>
              <a:rPr lang="en-US" sz="703" dirty="0">
                <a:solidFill>
                  <a:srgbClr val="A8CCB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TTS</a:t>
            </a:r>
            <a:pPr algn="l" indent="0" marL="0">
              <a:lnSpc>
                <a:spcPts val="1200"/>
              </a:lnSpc>
              <a:buNone/>
            </a:pPr>
            <a:r>
              <a:rPr lang="en-US" sz="703" dirty="0">
                <a:solidFill>
                  <a:srgbClr val="A8CC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现场合成，统一为单声道标准输入</a:t>
            </a:r>
            <a:endParaRPr lang="en-US" sz="703" dirty="0"/>
          </a:p>
        </p:txBody>
      </p:sp>
      <p:sp>
        <p:nvSpPr>
          <p:cNvPr id="10" name="Text 8"/>
          <p:cNvSpPr/>
          <p:nvPr/>
        </p:nvSpPr>
        <p:spPr>
          <a:xfrm>
            <a:off x="571500" y="2400300"/>
            <a:ext cx="5286375" cy="657225"/>
          </a:xfrm>
          <a:prstGeom prst="rect">
            <a:avLst/>
          </a:prstGeom>
          <a:solidFill>
            <a:srgbClr val="34D399">
              <a:alpha val="5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Shape 9"/>
          <p:cNvSpPr/>
          <p:nvPr/>
        </p:nvSpPr>
        <p:spPr>
          <a:xfrm>
            <a:off x="582216" y="2400300"/>
            <a:ext cx="0" cy="657225"/>
          </a:xfrm>
          <a:prstGeom prst="line">
            <a:avLst/>
          </a:prstGeom>
          <a:noFill/>
          <a:ln w="21431">
            <a:solidFill>
              <a:srgbClr val="34D39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5806" y="2669977"/>
            <a:ext cx="293465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28"/>
              </a:lnSpc>
              <a:buNone/>
            </a:pPr>
            <a:r>
              <a:rPr lang="en-US" sz="800" dirty="0">
                <a:solidFill>
                  <a:srgbClr val="34D399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L2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1050131" y="2553221"/>
            <a:ext cx="4038317" cy="17080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392"/>
              </a:lnSpc>
              <a:buNone/>
            </a:pPr>
            <a:r>
              <a:rPr lang="en-US" sz="928" b="1" dirty="0">
                <a:solidFill>
                  <a:srgbClr val="EAF6E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检测引擎 </a:t>
            </a:r>
            <a:pPr algn="l" indent="0" marL="0">
              <a:lnSpc>
                <a:spcPts val="1392"/>
              </a:lnSpc>
              <a:buNone/>
            </a:pPr>
            <a:r>
              <a:rPr lang="en-US" sz="700" b="1" dirty="0">
                <a:solidFill>
                  <a:srgbClr val="73917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纯 </a:t>
            </a:r>
            <a:pPr algn="l" indent="0" marL="0">
              <a:lnSpc>
                <a:spcPts val="1392"/>
              </a:lnSpc>
              <a:buNone/>
            </a:pPr>
            <a:r>
              <a:rPr lang="en-US" sz="700" b="1" dirty="0">
                <a:solidFill>
                  <a:srgbClr val="73917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TS</a:t>
            </a:r>
            <a:pPr algn="l" indent="0" marL="0">
              <a:lnSpc>
                <a:spcPts val="1392"/>
              </a:lnSpc>
              <a:buNone/>
            </a:pPr>
            <a:r>
              <a:rPr lang="en-US" sz="700" b="1" dirty="0">
                <a:solidFill>
                  <a:srgbClr val="73917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· 零依赖</a:t>
            </a:r>
            <a:endParaRPr lang="en-US" sz="928" dirty="0"/>
          </a:p>
        </p:txBody>
      </p:sp>
      <p:sp>
        <p:nvSpPr>
          <p:cNvPr id="14" name="Text 12"/>
          <p:cNvSpPr/>
          <p:nvPr/>
        </p:nvSpPr>
        <p:spPr>
          <a:xfrm>
            <a:off x="1050131" y="2751460"/>
            <a:ext cx="3846016" cy="1653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20"/>
              </a:lnSpc>
              <a:buNone/>
            </a:pPr>
            <a:r>
              <a:rPr lang="en-US" sz="731" dirty="0">
                <a:solidFill>
                  <a:srgbClr val="A8CC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八维特征 + </a:t>
            </a:r>
            <a:pPr algn="l" indent="0" marL="0">
              <a:lnSpc>
                <a:spcPts val="1320"/>
              </a:lnSpc>
              <a:buNone/>
            </a:pPr>
            <a:r>
              <a:rPr lang="en-US" sz="800" dirty="0">
                <a:solidFill>
                  <a:srgbClr val="A8CCB8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2s</a:t>
            </a:r>
            <a:pPr algn="l" indent="0" marL="0">
              <a:lnSpc>
                <a:spcPts val="1320"/>
              </a:lnSpc>
              <a:buNone/>
            </a:pPr>
            <a:r>
              <a:rPr lang="en-US" sz="731" dirty="0">
                <a:solidFill>
                  <a:srgbClr val="A8CC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窗 / </a:t>
            </a:r>
            <a:pPr algn="l" indent="0" marL="0">
              <a:lnSpc>
                <a:spcPts val="1320"/>
              </a:lnSpc>
              <a:buNone/>
            </a:pPr>
            <a:r>
              <a:rPr lang="en-US" sz="800" dirty="0">
                <a:solidFill>
                  <a:srgbClr val="A8CCB8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1s</a:t>
            </a:r>
            <a:pPr algn="l" indent="0" marL="0">
              <a:lnSpc>
                <a:spcPts val="1320"/>
              </a:lnSpc>
              <a:buNone/>
            </a:pPr>
            <a:r>
              <a:rPr lang="en-US" sz="731" dirty="0">
                <a:solidFill>
                  <a:srgbClr val="A8CC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步进 / </a:t>
            </a:r>
            <a:pPr algn="l" indent="0" marL="0">
              <a:lnSpc>
                <a:spcPts val="1320"/>
              </a:lnSpc>
              <a:buNone/>
            </a:pPr>
            <a:r>
              <a:rPr lang="en-US" sz="800" dirty="0">
                <a:solidFill>
                  <a:srgbClr val="A8CCB8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50%</a:t>
            </a:r>
            <a:pPr algn="l" indent="0" marL="0">
              <a:lnSpc>
                <a:spcPts val="1320"/>
              </a:lnSpc>
              <a:buNone/>
            </a:pPr>
            <a:r>
              <a:rPr lang="en-US" sz="731" dirty="0">
                <a:solidFill>
                  <a:srgbClr val="A8CC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重叠滑窗 —— 全片最厚的一层，左右两端跑的是同一份代码</a:t>
            </a:r>
            <a:endParaRPr lang="en-US" sz="731" dirty="0"/>
          </a:p>
        </p:txBody>
      </p:sp>
      <p:sp>
        <p:nvSpPr>
          <p:cNvPr id="15" name="Shape 13"/>
          <p:cNvSpPr/>
          <p:nvPr/>
        </p:nvSpPr>
        <p:spPr>
          <a:xfrm>
            <a:off x="582216" y="3114675"/>
            <a:ext cx="0" cy="428625"/>
          </a:xfrm>
          <a:prstGeom prst="line">
            <a:avLst/>
          </a:prstGeom>
          <a:noFill/>
          <a:ln w="21431">
            <a:solidFill>
              <a:srgbClr val="34D39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35806" y="3270052"/>
            <a:ext cx="293465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28"/>
              </a:lnSpc>
              <a:buNone/>
            </a:pPr>
            <a:r>
              <a:rPr lang="en-US" sz="800" dirty="0">
                <a:solidFill>
                  <a:srgbClr val="73917F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L3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1050131" y="3171825"/>
            <a:ext cx="4664869" cy="15294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308"/>
              </a:lnSpc>
              <a:buNone/>
            </a:pPr>
            <a:r>
              <a:rPr lang="en-US" sz="872" b="1" dirty="0">
                <a:solidFill>
                  <a:srgbClr val="EAF6E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判决融合</a:t>
            </a:r>
            <a:endParaRPr lang="en-US" sz="872" dirty="0"/>
          </a:p>
        </p:txBody>
      </p:sp>
      <p:sp>
        <p:nvSpPr>
          <p:cNvPr id="18" name="Text 16"/>
          <p:cNvSpPr/>
          <p:nvPr/>
        </p:nvSpPr>
        <p:spPr>
          <a:xfrm>
            <a:off x="1050131" y="3352205"/>
            <a:ext cx="2989659" cy="1339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5"/>
              </a:lnSpc>
              <a:buNone/>
            </a:pPr>
            <a:r>
              <a:rPr lang="en-US" sz="703" dirty="0">
                <a:solidFill>
                  <a:srgbClr val="A8CC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中值滤波 + 指数平滑 + 能量加权整段判决；静音窗显式排除，不参与统计</a:t>
            </a:r>
            <a:endParaRPr lang="en-US" sz="703" dirty="0"/>
          </a:p>
        </p:txBody>
      </p:sp>
      <p:sp>
        <p:nvSpPr>
          <p:cNvPr id="19" name="Shape 17"/>
          <p:cNvSpPr/>
          <p:nvPr/>
        </p:nvSpPr>
        <p:spPr>
          <a:xfrm>
            <a:off x="582216" y="3600450"/>
            <a:ext cx="0" cy="428625"/>
          </a:xfrm>
          <a:prstGeom prst="line">
            <a:avLst/>
          </a:prstGeom>
          <a:noFill/>
          <a:ln w="21431">
            <a:solidFill>
              <a:srgbClr val="34D39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35806" y="3755827"/>
            <a:ext cx="293465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28"/>
              </a:lnSpc>
              <a:buNone/>
            </a:pPr>
            <a:r>
              <a:rPr lang="en-US" sz="800" dirty="0">
                <a:solidFill>
                  <a:srgbClr val="73917F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L4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50131" y="3657600"/>
            <a:ext cx="3063573" cy="15294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308"/>
              </a:lnSpc>
              <a:buNone/>
            </a:pPr>
            <a:r>
              <a:rPr lang="en-US" sz="872" b="1" dirty="0">
                <a:solidFill>
                  <a:srgbClr val="EAF6E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业务</a:t>
            </a:r>
            <a:endParaRPr lang="en-US" sz="872" dirty="0"/>
          </a:p>
        </p:txBody>
      </p:sp>
      <p:sp>
        <p:nvSpPr>
          <p:cNvPr id="22" name="Text 20"/>
          <p:cNvSpPr/>
          <p:nvPr/>
        </p:nvSpPr>
        <p:spPr>
          <a:xfrm>
            <a:off x="1050131" y="3837980"/>
            <a:ext cx="1938970" cy="1339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5"/>
              </a:lnSpc>
              <a:buNone/>
            </a:pPr>
            <a:r>
              <a:rPr lang="en-US" sz="703" dirty="0">
                <a:solidFill>
                  <a:srgbClr val="A8CCB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SHA</a:t>
            </a:r>
            <a:pPr algn="l" indent="0" marL="0">
              <a:lnSpc>
                <a:spcPts val="1055"/>
              </a:lnSpc>
              <a:buNone/>
            </a:pPr>
            <a:r>
              <a:rPr lang="en-US" sz="703" dirty="0">
                <a:solidFill>
                  <a:srgbClr val="A8CCB8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-256</a:t>
            </a:r>
            <a:pPr algn="l" indent="0" marL="0">
              <a:lnSpc>
                <a:spcPts val="1055"/>
              </a:lnSpc>
              <a:buNone/>
            </a:pPr>
            <a:r>
              <a:rPr lang="en-US" sz="703" dirty="0">
                <a:solidFill>
                  <a:srgbClr val="A8CC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证据固定 · 案件入库 · 可导出核验报告</a:t>
            </a:r>
            <a:endParaRPr lang="en-US" sz="703" dirty="0"/>
          </a:p>
        </p:txBody>
      </p:sp>
      <p:sp>
        <p:nvSpPr>
          <p:cNvPr id="23" name="Shape 21"/>
          <p:cNvSpPr/>
          <p:nvPr/>
        </p:nvSpPr>
        <p:spPr>
          <a:xfrm>
            <a:off x="582216" y="4086225"/>
            <a:ext cx="0" cy="400050"/>
          </a:xfrm>
          <a:prstGeom prst="line">
            <a:avLst/>
          </a:prstGeom>
          <a:noFill/>
          <a:ln w="21431">
            <a:solidFill>
              <a:srgbClr val="34D399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35806" y="4227314"/>
            <a:ext cx="293465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28"/>
              </a:lnSpc>
              <a:buNone/>
            </a:pPr>
            <a:r>
              <a:rPr lang="en-US" sz="800" dirty="0">
                <a:solidFill>
                  <a:srgbClr val="73917F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L5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1050131" y="4129088"/>
            <a:ext cx="2494455" cy="15294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308"/>
              </a:lnSpc>
              <a:buNone/>
            </a:pPr>
            <a:r>
              <a:rPr lang="en-US" sz="872" b="1" dirty="0">
                <a:solidFill>
                  <a:srgbClr val="EAF6E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展示</a:t>
            </a:r>
            <a:endParaRPr lang="en-US" sz="872" dirty="0"/>
          </a:p>
        </p:txBody>
      </p:sp>
      <p:sp>
        <p:nvSpPr>
          <p:cNvPr id="26" name="Text 24"/>
          <p:cNvSpPr/>
          <p:nvPr/>
        </p:nvSpPr>
        <p:spPr>
          <a:xfrm>
            <a:off x="1050131" y="4309467"/>
            <a:ext cx="1657707" cy="1339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55"/>
              </a:lnSpc>
              <a:buNone/>
            </a:pPr>
            <a:r>
              <a:rPr lang="en-US" sz="703" dirty="0">
                <a:solidFill>
                  <a:srgbClr val="A8CC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单页应用零跳转，答辩演示全程不切屏</a:t>
            </a:r>
            <a:endParaRPr lang="en-US" sz="703" dirty="0"/>
          </a:p>
        </p:txBody>
      </p:sp>
      <p:sp>
        <p:nvSpPr>
          <p:cNvPr id="27" name="Text 25"/>
          <p:cNvSpPr/>
          <p:nvPr/>
        </p:nvSpPr>
        <p:spPr>
          <a:xfrm>
            <a:off x="6004322" y="1918097"/>
            <a:ext cx="2564606" cy="1855589"/>
          </a:xfrm>
          <a:prstGeom prst="roundRect">
            <a:avLst>
              <a:gd name="adj" fmla="val 5133"/>
            </a:avLst>
          </a:prstGeom>
          <a:solidFill>
            <a:srgbClr val="111E17"/>
          </a:solidFill>
          <a:ln w="7144">
            <a:solidFill>
              <a:srgbClr val="34D39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6165056" y="2064544"/>
            <a:ext cx="2243137" cy="1504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7"/>
              </a:lnSpc>
              <a:buNone/>
            </a:pPr>
            <a:r>
              <a:rPr lang="en-US" sz="731" b="1" dirty="0">
                <a:solidFill>
                  <a:srgbClr val="EAF6E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为什么敢说「能落地」</a:t>
            </a:r>
            <a:endParaRPr lang="en-US" sz="731" dirty="0"/>
          </a:p>
        </p:txBody>
      </p:sp>
      <p:sp>
        <p:nvSpPr>
          <p:cNvPr id="29" name="Text 27"/>
          <p:cNvSpPr/>
          <p:nvPr/>
        </p:nvSpPr>
        <p:spPr>
          <a:xfrm>
            <a:off x="6165056" y="2303859"/>
            <a:ext cx="2243137" cy="22259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856"/>
              </a:lnSpc>
              <a:buNone/>
            </a:pPr>
            <a:r>
              <a:rPr lang="en-US" sz="1238" b="1" dirty="0">
                <a:solidFill>
                  <a:srgbClr val="34D3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普通 </a:t>
            </a:r>
            <a:pPr algn="l" indent="0" marL="0">
              <a:lnSpc>
                <a:spcPts val="1856"/>
              </a:lnSpc>
              <a:buNone/>
            </a:pPr>
            <a:r>
              <a:rPr lang="en-US" sz="1238" b="1" dirty="0">
                <a:solidFill>
                  <a:srgbClr val="34D399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CPU</a:t>
            </a:r>
            <a:endParaRPr lang="en-US" sz="1238" dirty="0"/>
          </a:p>
        </p:txBody>
      </p:sp>
      <p:sp>
        <p:nvSpPr>
          <p:cNvPr id="30" name="Text 28"/>
          <p:cNvSpPr/>
          <p:nvPr/>
        </p:nvSpPr>
        <p:spPr>
          <a:xfrm>
            <a:off x="6165056" y="2553891"/>
            <a:ext cx="2243137" cy="1446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55"/>
              </a:lnSpc>
              <a:buNone/>
            </a:pPr>
            <a:r>
              <a:rPr lang="en-US" sz="703" dirty="0">
                <a:solidFill>
                  <a:srgbClr val="A8CC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无需 </a:t>
            </a:r>
            <a:pPr algn="l" indent="0" marL="0">
              <a:lnSpc>
                <a:spcPts val="1055"/>
              </a:lnSpc>
              <a:buNone/>
            </a:pPr>
            <a:r>
              <a:rPr lang="en-US" sz="703" dirty="0">
                <a:solidFill>
                  <a:srgbClr val="A8CCB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GPU</a:t>
            </a:r>
            <a:pPr algn="l" indent="0" marL="0">
              <a:lnSpc>
                <a:spcPts val="1055"/>
              </a:lnSpc>
              <a:buNone/>
            </a:pPr>
            <a:r>
              <a:rPr lang="en-US" sz="703" dirty="0">
                <a:solidFill>
                  <a:srgbClr val="A8CC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，浏览器与服务端皆可跑</a:t>
            </a:r>
            <a:endParaRPr lang="en-US" sz="703" dirty="0"/>
          </a:p>
        </p:txBody>
      </p:sp>
      <p:sp>
        <p:nvSpPr>
          <p:cNvPr id="31" name="Text 29"/>
          <p:cNvSpPr/>
          <p:nvPr/>
        </p:nvSpPr>
        <p:spPr>
          <a:xfrm>
            <a:off x="6165056" y="2773561"/>
            <a:ext cx="2243137" cy="22259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856"/>
              </a:lnSpc>
              <a:buNone/>
            </a:pPr>
            <a:r>
              <a:rPr lang="en-US" sz="1238" b="1" dirty="0">
                <a:solidFill>
                  <a:srgbClr val="EAF6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Next.js + TS</a:t>
            </a:r>
            <a:endParaRPr lang="en-US" sz="1238" dirty="0"/>
          </a:p>
        </p:txBody>
      </p:sp>
      <p:sp>
        <p:nvSpPr>
          <p:cNvPr id="32" name="Text 30"/>
          <p:cNvSpPr/>
          <p:nvPr/>
        </p:nvSpPr>
        <p:spPr>
          <a:xfrm>
            <a:off x="6165056" y="3023592"/>
            <a:ext cx="2243137" cy="1446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55"/>
              </a:lnSpc>
              <a:buNone/>
            </a:pPr>
            <a:r>
              <a:rPr lang="en-US" sz="703" dirty="0">
                <a:solidFill>
                  <a:srgbClr val="A8CC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一套语言栈贯穿前后端与引擎</a:t>
            </a:r>
            <a:endParaRPr lang="en-US" sz="703" dirty="0"/>
          </a:p>
        </p:txBody>
      </p:sp>
      <p:sp>
        <p:nvSpPr>
          <p:cNvPr id="33" name="Text 31"/>
          <p:cNvSpPr/>
          <p:nvPr/>
        </p:nvSpPr>
        <p:spPr>
          <a:xfrm>
            <a:off x="6165056" y="3243263"/>
            <a:ext cx="2243137" cy="22259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856"/>
              </a:lnSpc>
              <a:buNone/>
            </a:pPr>
            <a:r>
              <a:rPr lang="en-US" sz="1238" b="1" dirty="0">
                <a:solidFill>
                  <a:srgbClr val="EAF6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SQLite</a:t>
            </a:r>
            <a:endParaRPr lang="en-US" sz="1238" dirty="0"/>
          </a:p>
        </p:txBody>
      </p:sp>
      <p:sp>
        <p:nvSpPr>
          <p:cNvPr id="34" name="Text 32"/>
          <p:cNvSpPr/>
          <p:nvPr/>
        </p:nvSpPr>
        <p:spPr>
          <a:xfrm>
            <a:off x="6165056" y="3493294"/>
            <a:ext cx="2243137" cy="1339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55"/>
              </a:lnSpc>
              <a:buNone/>
            </a:pPr>
            <a:r>
              <a:rPr lang="en-US" sz="703" dirty="0">
                <a:solidFill>
                  <a:srgbClr val="A8CC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案件与证据链本地落盘，可审计</a:t>
            </a:r>
            <a:endParaRPr lang="en-US" sz="703" dirty="0"/>
          </a:p>
        </p:txBody>
      </p:sp>
      <p:sp>
        <p:nvSpPr>
          <p:cNvPr id="35" name="Text 33"/>
          <p:cNvSpPr/>
          <p:nvPr/>
        </p:nvSpPr>
        <p:spPr>
          <a:xfrm>
            <a:off x="6000750" y="3877270"/>
            <a:ext cx="2571750" cy="3262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48"/>
              </a:lnSpc>
              <a:buNone/>
            </a:pPr>
            <a:r>
              <a:rPr lang="en-US" sz="700" dirty="0">
                <a:solidFill>
                  <a:srgbClr val="73917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技术栈：</a:t>
            </a:r>
            <a:pPr algn="l" indent="0" marL="0">
              <a:lnSpc>
                <a:spcPts val="1148"/>
              </a:lnSpc>
              <a:buNone/>
            </a:pPr>
            <a:r>
              <a:rPr lang="en-US" sz="700" dirty="0">
                <a:solidFill>
                  <a:srgbClr val="73917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TypeScript</a:t>
            </a:r>
            <a:pPr algn="l" indent="0" marL="0">
              <a:lnSpc>
                <a:spcPts val="1148"/>
              </a:lnSpc>
              <a:buNone/>
            </a:pPr>
            <a:r>
              <a:rPr lang="en-US" sz="700" dirty="0">
                <a:solidFill>
                  <a:srgbClr val="73917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· </a:t>
            </a:r>
            <a:pPr algn="l" indent="0" marL="0">
              <a:lnSpc>
                <a:spcPts val="1148"/>
              </a:lnSpc>
              <a:buNone/>
            </a:pPr>
            <a:r>
              <a:rPr lang="en-US" sz="700" dirty="0">
                <a:solidFill>
                  <a:srgbClr val="73917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Next</a:t>
            </a:r>
            <a:pPr algn="l" indent="0" marL="0">
              <a:lnSpc>
                <a:spcPts val="1148"/>
              </a:lnSpc>
              <a:buNone/>
            </a:pPr>
            <a:r>
              <a:rPr lang="en-US" sz="700" dirty="0">
                <a:solidFill>
                  <a:srgbClr val="73917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.</a:t>
            </a:r>
            <a:pPr algn="l" indent="0" marL="0">
              <a:lnSpc>
                <a:spcPts val="1148"/>
              </a:lnSpc>
              <a:buNone/>
            </a:pPr>
            <a:r>
              <a:rPr lang="en-US" sz="700" dirty="0">
                <a:solidFill>
                  <a:srgbClr val="73917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js</a:t>
            </a:r>
            <a:pPr algn="l" indent="0" marL="0">
              <a:lnSpc>
                <a:spcPts val="1148"/>
              </a:lnSpc>
              <a:buNone/>
            </a:pPr>
            <a:r>
              <a:rPr lang="en-US" sz="700" dirty="0">
                <a:solidFill>
                  <a:srgbClr val="73917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· </a:t>
            </a:r>
            <a:pPr algn="l" indent="0" marL="0">
              <a:lnSpc>
                <a:spcPts val="1148"/>
              </a:lnSpc>
              <a:buNone/>
            </a:pPr>
            <a:r>
              <a:rPr lang="en-US" sz="700" dirty="0">
                <a:solidFill>
                  <a:srgbClr val="73917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Web</a:t>
            </a:r>
            <a:pPr algn="l" indent="0" marL="0">
              <a:lnSpc>
                <a:spcPts val="1148"/>
              </a:lnSpc>
              <a:buNone/>
            </a:pPr>
            <a:r>
              <a:rPr lang="en-US" sz="700" dirty="0">
                <a:solidFill>
                  <a:srgbClr val="73917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pPr algn="l" indent="0" marL="0">
              <a:lnSpc>
                <a:spcPts val="1148"/>
              </a:lnSpc>
              <a:buNone/>
            </a:pPr>
            <a:r>
              <a:rPr lang="en-US" sz="700" dirty="0">
                <a:solidFill>
                  <a:srgbClr val="73917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Audio</a:t>
            </a:r>
            <a:pPr algn="l" indent="0" marL="0">
              <a:lnSpc>
                <a:spcPts val="1148"/>
              </a:lnSpc>
              <a:buNone/>
            </a:pPr>
            <a:r>
              <a:rPr lang="en-US" sz="700" dirty="0">
                <a:solidFill>
                  <a:srgbClr val="73917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pPr algn="l" indent="0" marL="0">
              <a:lnSpc>
                <a:spcPts val="1148"/>
              </a:lnSpc>
              <a:buNone/>
            </a:pPr>
            <a:r>
              <a:rPr lang="en-US" sz="700" dirty="0">
                <a:solidFill>
                  <a:srgbClr val="73917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API</a:t>
            </a:r>
            <a:pPr algn="l" indent="0" marL="0">
              <a:lnSpc>
                <a:spcPts val="1148"/>
              </a:lnSpc>
              <a:buNone/>
            </a:pPr>
            <a:r>
              <a:rPr lang="en-US" sz="700" dirty="0">
                <a:solidFill>
                  <a:srgbClr val="73917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· </a:t>
            </a:r>
            <a:pPr algn="l" indent="0" marL="0">
              <a:lnSpc>
                <a:spcPts val="1148"/>
              </a:lnSpc>
              <a:buNone/>
            </a:pPr>
            <a:r>
              <a:rPr lang="en-US" sz="700" dirty="0">
                <a:solidFill>
                  <a:srgbClr val="73917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Prisma</a:t>
            </a:r>
            <a:pPr algn="l" indent="0" marL="0">
              <a:lnSpc>
                <a:spcPts val="1148"/>
              </a:lnSpc>
              <a:buNone/>
            </a:pPr>
            <a:r>
              <a:rPr lang="en-US" sz="700" dirty="0">
                <a:solidFill>
                  <a:srgbClr val="73917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/</a:t>
            </a:r>
            <a:pPr algn="l" indent="0" marL="0">
              <a:lnSpc>
                <a:spcPts val="1148"/>
              </a:lnSpc>
              <a:buNone/>
            </a:pPr>
            <a:r>
              <a:rPr lang="en-US" sz="700" dirty="0">
                <a:solidFill>
                  <a:srgbClr val="73917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SQLite</a:t>
            </a:r>
            <a:pPr algn="l" indent="0" marL="0">
              <a:lnSpc>
                <a:spcPts val="1148"/>
              </a:lnSpc>
              <a:buNone/>
            </a:pPr>
            <a:r>
              <a:rPr lang="en-US" sz="700" dirty="0">
                <a:solidFill>
                  <a:srgbClr val="73917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· </a:t>
            </a:r>
            <a:pPr algn="l" indent="0" marL="0">
              <a:lnSpc>
                <a:spcPts val="1148"/>
              </a:lnSpc>
              <a:buNone/>
            </a:pPr>
            <a:r>
              <a:rPr lang="en-US" sz="700" dirty="0">
                <a:solidFill>
                  <a:srgbClr val="73917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ffmpeg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571500" y="4563070"/>
            <a:ext cx="8001000" cy="0"/>
          </a:xfrm>
          <a:prstGeom prst="line">
            <a:avLst/>
          </a:prstGeom>
          <a:noFill/>
          <a:ln w="7144">
            <a:solidFill>
              <a:srgbClr val="34D399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71500" y="4666655"/>
            <a:ext cx="8001000" cy="1339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5"/>
              </a:lnSpc>
              <a:buNone/>
            </a:pPr>
            <a:r>
              <a:rPr lang="en-US" sz="703" dirty="0">
                <a:solidFill>
                  <a:srgbClr val="73917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同构引擎的价值：检测结论不因端而异 —— 这是「证据链」成立的技术前提。</a:t>
            </a:r>
            <a:endParaRPr lang="en-US" sz="703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14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71500" y="400050"/>
            <a:ext cx="7883463" cy="1504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7"/>
              </a:lnSpc>
              <a:buNone/>
            </a:pPr>
            <a:r>
              <a:rPr lang="en-US" sz="731" spc="205" kern="0" dirty="0">
                <a:solidFill>
                  <a:srgbClr val="73917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检测引擎</a:t>
            </a:r>
            <a:endParaRPr lang="en-US" sz="731" dirty="0"/>
          </a:p>
        </p:txBody>
      </p:sp>
      <p:sp>
        <p:nvSpPr>
          <p:cNvPr id="3" name="Text 1"/>
          <p:cNvSpPr/>
          <p:nvPr/>
        </p:nvSpPr>
        <p:spPr>
          <a:xfrm>
            <a:off x="8459740" y="407194"/>
            <a:ext cx="184221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13"/>
              </a:lnSpc>
              <a:buNone/>
            </a:pPr>
            <a:r>
              <a:rPr lang="en-US" sz="800" dirty="0">
                <a:solidFill>
                  <a:srgbClr val="73917F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05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571500" y="682228"/>
            <a:ext cx="8401050" cy="3563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99"/>
              </a:lnSpc>
              <a:buNone/>
            </a:pPr>
            <a:r>
              <a:rPr lang="en-US" sz="1856" b="1" dirty="0">
                <a:solidFill>
                  <a:srgbClr val="EAF6E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八个特征，每一个都能回答「为什么」</a:t>
            </a:r>
            <a:endParaRPr lang="en-US" sz="1856" dirty="0"/>
          </a:p>
        </p:txBody>
      </p:sp>
      <p:sp>
        <p:nvSpPr>
          <p:cNvPr id="5" name="Text 3"/>
          <p:cNvSpPr/>
          <p:nvPr/>
        </p:nvSpPr>
        <p:spPr>
          <a:xfrm>
            <a:off x="571500" y="1097905"/>
            <a:ext cx="6572250" cy="202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77"/>
              </a:lnSpc>
              <a:buNone/>
            </a:pPr>
            <a:r>
              <a:rPr lang="en-US" sz="844" dirty="0">
                <a:solidFill>
                  <a:srgbClr val="A8CC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每一维都锚定「人怎么发声」与「声码器怎么生成」的物理差异 —— 判决依据逐特征可追溯，第三方可复算，不依赖黑盒打分。</a:t>
            </a:r>
            <a:endParaRPr lang="en-US" sz="844" dirty="0"/>
          </a:p>
        </p:txBody>
      </p:sp>
      <p:sp>
        <p:nvSpPr>
          <p:cNvPr id="6" name="Text 4"/>
          <p:cNvSpPr/>
          <p:nvPr/>
        </p:nvSpPr>
        <p:spPr>
          <a:xfrm>
            <a:off x="571500" y="1557338"/>
            <a:ext cx="3357563" cy="3043238"/>
          </a:xfrm>
          <a:prstGeom prst="roundRect">
            <a:avLst>
              <a:gd name="adj" fmla="val 3130"/>
            </a:avLst>
          </a:prstGeom>
          <a:solidFill>
            <a:srgbClr val="111E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571500" y="1560909"/>
            <a:ext cx="3357563" cy="0"/>
          </a:xfrm>
          <a:prstGeom prst="line">
            <a:avLst/>
          </a:prstGeom>
          <a:noFill/>
          <a:ln w="7144">
            <a:solidFill>
              <a:srgbClr val="34D39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925491" y="1557338"/>
            <a:ext cx="0" cy="3043238"/>
          </a:xfrm>
          <a:prstGeom prst="line">
            <a:avLst/>
          </a:prstGeom>
          <a:noFill/>
          <a:ln w="7144">
            <a:solidFill>
              <a:srgbClr val="34D39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71500" y="4597003"/>
            <a:ext cx="3357563" cy="0"/>
          </a:xfrm>
          <a:prstGeom prst="line">
            <a:avLst/>
          </a:prstGeom>
          <a:noFill/>
          <a:ln w="7144">
            <a:solidFill>
              <a:srgbClr val="34D39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82216" y="1557338"/>
            <a:ext cx="0" cy="3043238"/>
          </a:xfrm>
          <a:prstGeom prst="line">
            <a:avLst/>
          </a:prstGeom>
          <a:noFill/>
          <a:ln w="21431">
            <a:solidFill>
              <a:srgbClr val="34D39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8669" y="1735931"/>
            <a:ext cx="2957513" cy="14401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28"/>
              </a:lnSpc>
              <a:buNone/>
            </a:pPr>
            <a:r>
              <a:rPr lang="en-US" sz="700" spc="124" kern="0" dirty="0">
                <a:solidFill>
                  <a:srgbClr val="34D3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自研 · 分离度最高的一维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778669" y="1939528"/>
            <a:ext cx="2957513" cy="2777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350" b="1" dirty="0">
                <a:solidFill>
                  <a:srgbClr val="EAF6E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高频周期性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778669" y="2268141"/>
            <a:ext cx="2957513" cy="5468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759" dirty="0">
                <a:solidFill>
                  <a:srgbClr val="A8CC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掩蔽谱 </a:t>
            </a:r>
            <a:pPr algn="l" indent="0" marL="0">
              <a:lnSpc>
                <a:spcPts val="1400"/>
              </a:lnSpc>
              <a:buNone/>
            </a:pPr>
            <a:r>
              <a:rPr lang="en-US" sz="759" dirty="0">
                <a:solidFill>
                  <a:srgbClr val="A8CCB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IFFT</a:t>
            </a:r>
            <a:pPr algn="l" indent="0" marL="0">
              <a:lnSpc>
                <a:spcPts val="1400"/>
              </a:lnSpc>
              <a:buNone/>
            </a:pPr>
            <a:r>
              <a:rPr lang="en-US" sz="759" dirty="0">
                <a:solidFill>
                  <a:srgbClr val="A8CC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取高频段信号，在基音周期处做自相关。声码器会把谐波结构延展到 </a:t>
            </a:r>
            <a:pPr algn="l" indent="0" marL="0">
              <a:lnSpc>
                <a:spcPts val="1400"/>
              </a:lnSpc>
              <a:buNone/>
            </a:pPr>
            <a:r>
              <a:rPr lang="en-US" sz="800" dirty="0">
                <a:solidFill>
                  <a:srgbClr val="A8CCB8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4–8 kHz</a:t>
            </a:r>
            <a:pPr algn="l" indent="0" marL="0">
              <a:lnSpc>
                <a:spcPts val="1400"/>
              </a:lnSpc>
              <a:buNone/>
            </a:pPr>
            <a:r>
              <a:rPr lang="en-US" sz="759" dirty="0">
                <a:solidFill>
                  <a:srgbClr val="A8CC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 而自然人声的高频几乎只有气息噪声 —— 这道「生理天花板」，合成器很难伪装。</a:t>
            </a:r>
            <a:endParaRPr lang="en-US" sz="759" dirty="0"/>
          </a:p>
        </p:txBody>
      </p:sp>
      <p:sp>
        <p:nvSpPr>
          <p:cNvPr id="14" name="Text 12"/>
          <p:cNvSpPr/>
          <p:nvPr/>
        </p:nvSpPr>
        <p:spPr>
          <a:xfrm>
            <a:off x="778669" y="3920133"/>
            <a:ext cx="936010" cy="35118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2869"/>
              </a:lnSpc>
              <a:buNone/>
            </a:pPr>
            <a:r>
              <a:rPr lang="en-US" sz="1913" b="1" dirty="0">
                <a:solidFill>
                  <a:srgbClr val="34D399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1.28</a:t>
            </a:r>
            <a:endParaRPr lang="en-US" sz="1913" dirty="0"/>
          </a:p>
        </p:txBody>
      </p:sp>
      <p:sp>
        <p:nvSpPr>
          <p:cNvPr id="15" name="Text 13"/>
          <p:cNvSpPr/>
          <p:nvPr/>
        </p:nvSpPr>
        <p:spPr>
          <a:xfrm>
            <a:off x="778669" y="4298752"/>
            <a:ext cx="924310" cy="1232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70"/>
              </a:lnSpc>
              <a:buNone/>
            </a:pPr>
            <a:r>
              <a:rPr lang="en-US" sz="700" dirty="0">
                <a:solidFill>
                  <a:srgbClr val="73917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类间分离度</a:t>
            </a:r>
            <a:endParaRPr lang="en-US" sz="700" dirty="0"/>
          </a:p>
        </p:txBody>
      </p:sp>
      <p:sp>
        <p:nvSpPr>
          <p:cNvPr id="16" name="Text 14"/>
          <p:cNvSpPr/>
          <p:nvPr/>
        </p:nvSpPr>
        <p:spPr>
          <a:xfrm>
            <a:off x="1620850" y="3920133"/>
            <a:ext cx="1214259" cy="35118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2869"/>
              </a:lnSpc>
              <a:buNone/>
            </a:pPr>
            <a:r>
              <a:rPr lang="en-US" sz="1913" b="1" dirty="0">
                <a:solidFill>
                  <a:srgbClr val="34D399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0.289</a:t>
            </a:r>
            <a:endParaRPr lang="en-US" sz="1913" dirty="0"/>
          </a:p>
        </p:txBody>
      </p:sp>
      <p:sp>
        <p:nvSpPr>
          <p:cNvPr id="17" name="Text 15"/>
          <p:cNvSpPr/>
          <p:nvPr/>
        </p:nvSpPr>
        <p:spPr>
          <a:xfrm>
            <a:off x="1614478" y="4298752"/>
            <a:ext cx="902189" cy="1232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70"/>
              </a:lnSpc>
              <a:buNone/>
            </a:pPr>
            <a:r>
              <a:rPr lang="en-US" sz="647" dirty="0">
                <a:solidFill>
                  <a:srgbClr val="73917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拟合权重 · 显著贡献</a:t>
            </a:r>
            <a:endParaRPr lang="en-US" sz="647" dirty="0"/>
          </a:p>
        </p:txBody>
      </p:sp>
      <p:sp>
        <p:nvSpPr>
          <p:cNvPr id="18" name="Shape 16"/>
          <p:cNvSpPr/>
          <p:nvPr/>
        </p:nvSpPr>
        <p:spPr>
          <a:xfrm>
            <a:off x="4357688" y="1603772"/>
            <a:ext cx="1964531" cy="0"/>
          </a:xfrm>
          <a:prstGeom prst="line">
            <a:avLst/>
          </a:prstGeom>
          <a:noFill/>
          <a:ln w="7144">
            <a:solidFill>
              <a:srgbClr val="34D39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357688" y="1678781"/>
            <a:ext cx="1964531" cy="15473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266"/>
              </a:lnSpc>
              <a:buNone/>
            </a:pPr>
            <a:r>
              <a:rPr lang="en-US" sz="844" b="1" dirty="0">
                <a:solidFill>
                  <a:srgbClr val="EAF6E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高频能量占比 </a:t>
            </a:r>
            <a:pPr algn="l" indent="0" marL="0">
              <a:lnSpc>
                <a:spcPts val="1266"/>
              </a:lnSpc>
              <a:buNone/>
            </a:pPr>
            <a:r>
              <a:rPr lang="en-US" sz="800" b="1" dirty="0">
                <a:solidFill>
                  <a:srgbClr val="73917F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&gt;3.25 kHz</a:t>
            </a:r>
            <a:endParaRPr lang="en-US" sz="844" dirty="0"/>
          </a:p>
        </p:txBody>
      </p:sp>
      <p:sp>
        <p:nvSpPr>
          <p:cNvPr id="20" name="Text 18"/>
          <p:cNvSpPr/>
          <p:nvPr/>
        </p:nvSpPr>
        <p:spPr>
          <a:xfrm>
            <a:off x="4357688" y="1860947"/>
            <a:ext cx="1964531" cy="13707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700" dirty="0">
                <a:solidFill>
                  <a:srgbClr val="73917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梅尔谱声码器的高频能量分布系统性偏移</a:t>
            </a:r>
            <a:endParaRPr lang="en-US" sz="700" dirty="0"/>
          </a:p>
        </p:txBody>
      </p:sp>
      <p:sp>
        <p:nvSpPr>
          <p:cNvPr id="21" name="Shape 19"/>
          <p:cNvSpPr/>
          <p:nvPr/>
        </p:nvSpPr>
        <p:spPr>
          <a:xfrm>
            <a:off x="4357688" y="2382664"/>
            <a:ext cx="1964531" cy="0"/>
          </a:xfrm>
          <a:prstGeom prst="line">
            <a:avLst/>
          </a:prstGeom>
          <a:noFill/>
          <a:ln w="7144">
            <a:solidFill>
              <a:srgbClr val="34D399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357688" y="2457673"/>
            <a:ext cx="1964531" cy="15473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266"/>
              </a:lnSpc>
              <a:buNone/>
            </a:pPr>
            <a:r>
              <a:rPr lang="en-US" sz="844" b="1" dirty="0">
                <a:solidFill>
                  <a:srgbClr val="EAF6E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谐波规整度</a:t>
            </a:r>
            <a:endParaRPr lang="en-US" sz="844" dirty="0"/>
          </a:p>
        </p:txBody>
      </p:sp>
      <p:sp>
        <p:nvSpPr>
          <p:cNvPr id="23" name="Text 21"/>
          <p:cNvSpPr/>
          <p:nvPr/>
        </p:nvSpPr>
        <p:spPr>
          <a:xfrm>
            <a:off x="4357688" y="2639839"/>
            <a:ext cx="1964531" cy="2741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700" dirty="0">
                <a:solidFill>
                  <a:srgbClr val="73917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自然嗓音的谐波纯度随生理动态起伏，合成语音异常规整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4357688" y="3298627"/>
            <a:ext cx="1964531" cy="0"/>
          </a:xfrm>
          <a:prstGeom prst="line">
            <a:avLst/>
          </a:prstGeom>
          <a:noFill/>
          <a:ln w="7144">
            <a:solidFill>
              <a:srgbClr val="34D399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357688" y="3373636"/>
            <a:ext cx="1964531" cy="15473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266"/>
              </a:lnSpc>
              <a:buNone/>
            </a:pPr>
            <a:r>
              <a:rPr lang="en-US" sz="844" b="1" dirty="0">
                <a:solidFill>
                  <a:srgbClr val="EAF6E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基音微扰</a:t>
            </a:r>
            <a:endParaRPr lang="en-US" sz="844" dirty="0"/>
          </a:p>
        </p:txBody>
      </p:sp>
      <p:sp>
        <p:nvSpPr>
          <p:cNvPr id="26" name="Text 24"/>
          <p:cNvSpPr/>
          <p:nvPr/>
        </p:nvSpPr>
        <p:spPr>
          <a:xfrm>
            <a:off x="4357688" y="3555802"/>
            <a:ext cx="1964531" cy="13707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675" dirty="0">
                <a:solidFill>
                  <a:srgbClr val="73917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自然声带的生理性抖动，对声码器的周期稳定度</a:t>
            </a:r>
            <a:endParaRPr lang="en-US" sz="675" dirty="0"/>
          </a:p>
        </p:txBody>
      </p:sp>
      <p:sp>
        <p:nvSpPr>
          <p:cNvPr id="27" name="Shape 25"/>
          <p:cNvSpPr/>
          <p:nvPr/>
        </p:nvSpPr>
        <p:spPr>
          <a:xfrm>
            <a:off x="4357688" y="4077519"/>
            <a:ext cx="1964531" cy="0"/>
          </a:xfrm>
          <a:prstGeom prst="line">
            <a:avLst/>
          </a:prstGeom>
          <a:noFill/>
          <a:ln w="7144">
            <a:solidFill>
              <a:srgbClr val="34D399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357688" y="4152528"/>
            <a:ext cx="1964531" cy="15473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266"/>
              </a:lnSpc>
              <a:buNone/>
            </a:pPr>
            <a:r>
              <a:rPr lang="en-US" sz="844" b="1" dirty="0">
                <a:solidFill>
                  <a:srgbClr val="EAF6E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过零率波动度</a:t>
            </a:r>
            <a:endParaRPr lang="en-US" sz="844" dirty="0"/>
          </a:p>
        </p:txBody>
      </p:sp>
      <p:sp>
        <p:nvSpPr>
          <p:cNvPr id="29" name="Text 27"/>
          <p:cNvSpPr/>
          <p:nvPr/>
        </p:nvSpPr>
        <p:spPr>
          <a:xfrm>
            <a:off x="4357688" y="4334694"/>
            <a:ext cx="1964531" cy="13707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700" dirty="0">
                <a:solidFill>
                  <a:srgbClr val="73917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辅音元音交替的自然波动 </a:t>
            </a:r>
            <a:pPr algn="l" indent="0" marL="0">
              <a:lnSpc>
                <a:spcPts val="1080"/>
              </a:lnSpc>
              <a:buNone/>
            </a:pPr>
            <a:r>
              <a:rPr lang="en-US" sz="700" dirty="0">
                <a:solidFill>
                  <a:srgbClr val="73917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vs</a:t>
            </a:r>
            <a:pPr algn="l" indent="0" marL="0">
              <a:lnSpc>
                <a:spcPts val="1080"/>
              </a:lnSpc>
              <a:buNone/>
            </a:pPr>
            <a:r>
              <a:rPr lang="en-US" sz="700" dirty="0">
                <a:solidFill>
                  <a:srgbClr val="73917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合成稳定性</a:t>
            </a:r>
            <a:endParaRPr lang="en-US" sz="700" dirty="0"/>
          </a:p>
        </p:txBody>
      </p:sp>
      <p:sp>
        <p:nvSpPr>
          <p:cNvPr id="30" name="Shape 28"/>
          <p:cNvSpPr/>
          <p:nvPr/>
        </p:nvSpPr>
        <p:spPr>
          <a:xfrm>
            <a:off x="6607969" y="1603772"/>
            <a:ext cx="1964531" cy="0"/>
          </a:xfrm>
          <a:prstGeom prst="line">
            <a:avLst/>
          </a:prstGeom>
          <a:noFill/>
          <a:ln w="7144">
            <a:solidFill>
              <a:srgbClr val="34D399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607969" y="1678781"/>
            <a:ext cx="1964531" cy="15473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266"/>
              </a:lnSpc>
              <a:buNone/>
            </a:pPr>
            <a:r>
              <a:rPr lang="en-US" sz="844" b="1" dirty="0">
                <a:solidFill>
                  <a:srgbClr val="EAF6E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嗓音动力波动</a:t>
            </a:r>
            <a:endParaRPr lang="en-US" sz="844" dirty="0"/>
          </a:p>
        </p:txBody>
      </p:sp>
      <p:sp>
        <p:nvSpPr>
          <p:cNvPr id="32" name="Text 30"/>
          <p:cNvSpPr/>
          <p:nvPr/>
        </p:nvSpPr>
        <p:spPr>
          <a:xfrm>
            <a:off x="6607969" y="1860947"/>
            <a:ext cx="1964531" cy="13707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700" dirty="0">
                <a:solidFill>
                  <a:srgbClr val="73917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重音与气息的动力变化，对合成的均匀性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6607969" y="2383892"/>
            <a:ext cx="1964531" cy="0"/>
          </a:xfrm>
          <a:prstGeom prst="line">
            <a:avLst/>
          </a:prstGeom>
          <a:noFill/>
          <a:ln w="7144">
            <a:solidFill>
              <a:srgbClr val="34D399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607969" y="2458901"/>
            <a:ext cx="1964531" cy="15473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266"/>
              </a:lnSpc>
              <a:buNone/>
            </a:pPr>
            <a:r>
              <a:rPr lang="en-US" sz="844" b="1" dirty="0">
                <a:solidFill>
                  <a:srgbClr val="EAF6E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谱通量波动度</a:t>
            </a:r>
            <a:endParaRPr lang="en-US" sz="844" dirty="0"/>
          </a:p>
        </p:txBody>
      </p:sp>
      <p:sp>
        <p:nvSpPr>
          <p:cNvPr id="35" name="Text 33"/>
          <p:cNvSpPr/>
          <p:nvPr/>
        </p:nvSpPr>
        <p:spPr>
          <a:xfrm>
            <a:off x="6607969" y="2641067"/>
            <a:ext cx="1964531" cy="13707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700" dirty="0">
                <a:solidFill>
                  <a:srgbClr val="73917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神经声码器帧边界的微观不连续指纹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6607969" y="3164012"/>
            <a:ext cx="1964531" cy="0"/>
          </a:xfrm>
          <a:prstGeom prst="line">
            <a:avLst/>
          </a:prstGeom>
          <a:noFill/>
          <a:ln w="7144">
            <a:solidFill>
              <a:srgbClr val="34D399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607969" y="3239021"/>
            <a:ext cx="1964531" cy="15473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266"/>
              </a:lnSpc>
              <a:buNone/>
            </a:pPr>
            <a:r>
              <a:rPr lang="en-US" sz="844" b="1" dirty="0">
                <a:solidFill>
                  <a:srgbClr val="EAF6E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高频谱平坦度 </a:t>
            </a:r>
            <a:pPr algn="l" indent="0" marL="0">
              <a:lnSpc>
                <a:spcPts val="1266"/>
              </a:lnSpc>
              <a:buNone/>
            </a:pPr>
            <a:r>
              <a:rPr lang="en-US" sz="800" b="1" dirty="0">
                <a:solidFill>
                  <a:srgbClr val="73917F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4–8 kHz</a:t>
            </a:r>
            <a:endParaRPr lang="en-US" sz="844" dirty="0"/>
          </a:p>
        </p:txBody>
      </p:sp>
      <p:sp>
        <p:nvSpPr>
          <p:cNvPr id="38" name="Text 36"/>
          <p:cNvSpPr/>
          <p:nvPr/>
        </p:nvSpPr>
        <p:spPr>
          <a:xfrm>
            <a:off x="6607969" y="3421187"/>
            <a:ext cx="1964531" cy="2741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700" dirty="0">
                <a:solidFill>
                  <a:srgbClr val="73917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直觉上有效，实测被证伪（见下一页）—— 诚实保留在列表里</a:t>
            </a:r>
            <a:endParaRPr lang="en-US" sz="700" dirty="0"/>
          </a:p>
        </p:txBody>
      </p:sp>
      <p:sp>
        <p:nvSpPr>
          <p:cNvPr id="39" name="Shape 37"/>
          <p:cNvSpPr/>
          <p:nvPr/>
        </p:nvSpPr>
        <p:spPr>
          <a:xfrm>
            <a:off x="6607969" y="4081202"/>
            <a:ext cx="1964531" cy="0"/>
          </a:xfrm>
          <a:prstGeom prst="line">
            <a:avLst/>
          </a:prstGeom>
          <a:noFill/>
          <a:ln w="7144">
            <a:solidFill>
              <a:srgbClr val="34D39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607969" y="4156211"/>
            <a:ext cx="1964531" cy="315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0"/>
              </a:lnSpc>
              <a:buNone/>
            </a:pPr>
            <a:r>
              <a:rPr lang="en-US" sz="731" dirty="0">
                <a:solidFill>
                  <a:srgbClr val="A8CC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全部先验按信道分别拟合：</a:t>
            </a:r>
            <a:endParaRPr lang="en-US" sz="731" dirty="0"/>
          </a:p>
          <a:p>
            <a:pPr algn="l" indent="0" marL="0">
              <a:lnSpc>
                <a:spcPts val="1360"/>
              </a:lnSpc>
              <a:buNone/>
            </a:pPr>
            <a:r>
              <a:rPr lang="en-US" sz="731" dirty="0">
                <a:solidFill>
                  <a:srgbClr val="A8CC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宽带与 </a:t>
            </a:r>
            <a:pPr algn="l" indent="0" marL="0">
              <a:lnSpc>
                <a:spcPts val="1360"/>
              </a:lnSpc>
              <a:buNone/>
            </a:pPr>
            <a:r>
              <a:rPr lang="en-US" sz="800" dirty="0">
                <a:solidFill>
                  <a:srgbClr val="A8CCB8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300–3400Hz</a:t>
            </a:r>
            <a:pPr algn="l" indent="0" marL="0">
              <a:lnSpc>
                <a:spcPts val="1360"/>
              </a:lnSpc>
              <a:buNone/>
            </a:pPr>
            <a:r>
              <a:rPr lang="en-US" sz="731" dirty="0">
                <a:solidFill>
                  <a:srgbClr val="A8CC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窄带各自一套参数</a:t>
            </a:r>
            <a:endParaRPr lang="en-US" sz="731" dirty="0"/>
          </a:p>
        </p:txBody>
      </p:sp>
      <p:sp>
        <p:nvSpPr>
          <p:cNvPr id="41" name="Shape 39"/>
          <p:cNvSpPr/>
          <p:nvPr/>
        </p:nvSpPr>
        <p:spPr>
          <a:xfrm>
            <a:off x="571500" y="4534495"/>
            <a:ext cx="8001000" cy="0"/>
          </a:xfrm>
          <a:prstGeom prst="line">
            <a:avLst/>
          </a:prstGeom>
          <a:noFill/>
          <a:ln w="7144">
            <a:solidFill>
              <a:srgbClr val="34D399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71500" y="4666655"/>
            <a:ext cx="5843253" cy="1339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703" dirty="0">
                <a:solidFill>
                  <a:srgbClr val="73917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同一特征集宽带 </a:t>
            </a:r>
            <a:pPr algn="l" indent="0" marL="0">
              <a:lnSpc>
                <a:spcPts val="1200"/>
              </a:lnSpc>
              <a:buNone/>
            </a:pPr>
            <a:r>
              <a:rPr lang="en-US" sz="800" dirty="0">
                <a:solidFill>
                  <a:srgbClr val="73917F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8</a:t>
            </a:r>
            <a:pPr algn="l" indent="0" marL="0">
              <a:lnSpc>
                <a:spcPts val="1200"/>
              </a:lnSpc>
              <a:buNone/>
            </a:pPr>
            <a:r>
              <a:rPr lang="en-US" sz="703" dirty="0">
                <a:solidFill>
                  <a:srgbClr val="73917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维 / 窄带 </a:t>
            </a:r>
            <a:pPr algn="l" indent="0" marL="0">
              <a:lnSpc>
                <a:spcPts val="1200"/>
              </a:lnSpc>
              <a:buNone/>
            </a:pPr>
            <a:r>
              <a:rPr lang="en-US" sz="800" dirty="0">
                <a:solidFill>
                  <a:srgbClr val="73917F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5</a:t>
            </a:r>
            <a:pPr algn="l" indent="0" marL="0">
              <a:lnSpc>
                <a:spcPts val="1200"/>
              </a:lnSpc>
              <a:buNone/>
            </a:pPr>
            <a:r>
              <a:rPr lang="en-US" sz="703" dirty="0">
                <a:solidFill>
                  <a:srgbClr val="73917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维，随信道自适应</a:t>
            </a:r>
            <a:endParaRPr lang="en-US" sz="703" dirty="0"/>
          </a:p>
        </p:txBody>
      </p:sp>
      <p:sp>
        <p:nvSpPr>
          <p:cNvPr id="43" name="Text 41"/>
          <p:cNvSpPr/>
          <p:nvPr/>
        </p:nvSpPr>
        <p:spPr>
          <a:xfrm>
            <a:off x="6429040" y="4638080"/>
            <a:ext cx="2143460" cy="1625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66"/>
              </a:lnSpc>
              <a:buNone/>
            </a:pPr>
            <a:r>
              <a:rPr lang="en-US" sz="844" dirty="0">
                <a:solidFill>
                  <a:srgbClr val="EAF6E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可解释不是口号：</a:t>
            </a:r>
            <a:pPr algn="l" indent="0" marL="0">
              <a:lnSpc>
                <a:spcPts val="1266"/>
              </a:lnSpc>
              <a:buNone/>
            </a:pPr>
            <a:r>
              <a:rPr lang="en-US" sz="844" dirty="0">
                <a:solidFill>
                  <a:srgbClr val="34D3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每个判决都能拆到物理层</a:t>
            </a:r>
            <a:pPr algn="l" indent="0" marL="0">
              <a:lnSpc>
                <a:spcPts val="1266"/>
              </a:lnSpc>
              <a:buNone/>
            </a:pPr>
            <a:r>
              <a:rPr lang="en-US" sz="844" dirty="0">
                <a:solidFill>
                  <a:srgbClr val="EAF6E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844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14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71500" y="400050"/>
            <a:ext cx="7883463" cy="1504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7"/>
              </a:lnSpc>
              <a:buNone/>
            </a:pPr>
            <a:r>
              <a:rPr lang="en-US" sz="731" spc="205" kern="0" dirty="0">
                <a:solidFill>
                  <a:srgbClr val="73917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数据驱动校准</a:t>
            </a:r>
            <a:endParaRPr lang="en-US" sz="731" dirty="0"/>
          </a:p>
        </p:txBody>
      </p:sp>
      <p:sp>
        <p:nvSpPr>
          <p:cNvPr id="3" name="Text 1"/>
          <p:cNvSpPr/>
          <p:nvPr/>
        </p:nvSpPr>
        <p:spPr>
          <a:xfrm>
            <a:off x="8459740" y="407194"/>
            <a:ext cx="184221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13"/>
              </a:lnSpc>
              <a:buNone/>
            </a:pPr>
            <a:r>
              <a:rPr lang="en-US" sz="800" dirty="0">
                <a:solidFill>
                  <a:srgbClr val="73917F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06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571500" y="682228"/>
            <a:ext cx="8572500" cy="3563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99"/>
              </a:lnSpc>
              <a:buNone/>
            </a:pPr>
            <a:r>
              <a:rPr lang="en-US" sz="1856" b="1" dirty="0">
                <a:solidFill>
                  <a:srgbClr val="EAF6E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权重不是拍的，是拟合出来的 —— </a:t>
            </a:r>
            <a:pPr algn="l" indent="0" marL="0">
              <a:lnSpc>
                <a:spcPts val="2599"/>
              </a:lnSpc>
              <a:buNone/>
            </a:pPr>
            <a:r>
              <a:rPr lang="en-US" sz="1856" b="1" dirty="0">
                <a:solidFill>
                  <a:srgbClr val="34D3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还被数据推翻过一次</a:t>
            </a:r>
            <a:endParaRPr lang="en-US" sz="1856" dirty="0"/>
          </a:p>
        </p:txBody>
      </p:sp>
      <p:sp>
        <p:nvSpPr>
          <p:cNvPr id="5" name="Text 3"/>
          <p:cNvSpPr/>
          <p:nvPr/>
        </p:nvSpPr>
        <p:spPr>
          <a:xfrm>
            <a:off x="571500" y="1197918"/>
            <a:ext cx="2357580" cy="13330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928"/>
              </a:lnSpc>
              <a:buNone/>
            </a:pPr>
            <a:r>
              <a:rPr lang="en-US" sz="800" dirty="0">
                <a:solidFill>
                  <a:srgbClr val="73917F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STEP 1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71500" y="1358652"/>
            <a:ext cx="2910138" cy="17359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66"/>
              </a:lnSpc>
              <a:buNone/>
            </a:pPr>
            <a:r>
              <a:rPr lang="en-US" sz="844" b="1" dirty="0">
                <a:solidFill>
                  <a:srgbClr val="EAF6E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构造样本</a:t>
            </a:r>
            <a:endParaRPr lang="en-US" sz="844" dirty="0"/>
          </a:p>
        </p:txBody>
      </p:sp>
      <p:sp>
        <p:nvSpPr>
          <p:cNvPr id="7" name="Text 5"/>
          <p:cNvSpPr/>
          <p:nvPr/>
        </p:nvSpPr>
        <p:spPr>
          <a:xfrm>
            <a:off x="571500" y="1562249"/>
            <a:ext cx="1841860" cy="318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20"/>
              </a:lnSpc>
              <a:buNone/>
            </a:pPr>
            <a:r>
              <a:rPr lang="en-US" sz="703" dirty="0">
                <a:solidFill>
                  <a:srgbClr val="A8CC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自然 </a:t>
            </a:r>
            <a:pPr algn="l" indent="0" marL="0">
              <a:lnSpc>
                <a:spcPts val="1320"/>
              </a:lnSpc>
              <a:buNone/>
            </a:pPr>
            <a:r>
              <a:rPr lang="en-US" sz="800" dirty="0">
                <a:solidFill>
                  <a:srgbClr val="A8CCB8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5</a:t>
            </a:r>
            <a:pPr algn="l" indent="0" marL="0">
              <a:lnSpc>
                <a:spcPts val="1320"/>
              </a:lnSpc>
              <a:buNone/>
            </a:pPr>
            <a:r>
              <a:rPr lang="en-US" sz="703" dirty="0">
                <a:solidFill>
                  <a:srgbClr val="A8CC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种公开人声 · </a:t>
            </a:r>
            <a:pPr algn="l" indent="0" marL="0">
              <a:lnSpc>
                <a:spcPts val="1320"/>
              </a:lnSpc>
              <a:buNone/>
            </a:pPr>
            <a:r>
              <a:rPr lang="en-US" sz="703" dirty="0">
                <a:solidFill>
                  <a:srgbClr val="A8CCB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TTS</a:t>
            </a:r>
            <a:pPr algn="l" indent="0" marL="0">
              <a:lnSpc>
                <a:spcPts val="1320"/>
              </a:lnSpc>
              <a:buNone/>
            </a:pPr>
            <a:r>
              <a:rPr lang="en-US" sz="703" dirty="0">
                <a:solidFill>
                  <a:srgbClr val="A8CC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pPr algn="l" indent="0" marL="0">
              <a:lnSpc>
                <a:spcPts val="1320"/>
              </a:lnSpc>
              <a:buNone/>
            </a:pPr>
            <a:r>
              <a:rPr lang="en-US" sz="800" dirty="0">
                <a:solidFill>
                  <a:srgbClr val="A8CCB8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7</a:t>
            </a:r>
            <a:pPr algn="l" indent="0" marL="0">
              <a:lnSpc>
                <a:spcPts val="1320"/>
              </a:lnSpc>
              <a:buNone/>
            </a:pPr>
            <a:r>
              <a:rPr lang="en-US" sz="703" dirty="0">
                <a:solidFill>
                  <a:srgbClr val="A8CC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音色 × </a:t>
            </a:r>
            <a:pPr algn="l" indent="0" marL="0">
              <a:lnSpc>
                <a:spcPts val="1320"/>
              </a:lnSpc>
              <a:buNone/>
            </a:pPr>
            <a:r>
              <a:rPr lang="en-US" sz="800" dirty="0">
                <a:solidFill>
                  <a:srgbClr val="A8CCB8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3</a:t>
            </a:r>
            <a:pPr algn="l" indent="0" marL="0">
              <a:lnSpc>
                <a:spcPts val="1320"/>
              </a:lnSpc>
              <a:buNone/>
            </a:pPr>
            <a:r>
              <a:rPr lang="en-US" sz="703" dirty="0">
                <a:solidFill>
                  <a:srgbClr val="A8CC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文本；均再造 </a:t>
            </a:r>
            <a:pPr algn="l" indent="0" marL="0">
              <a:lnSpc>
                <a:spcPts val="1320"/>
              </a:lnSpc>
              <a:buNone/>
            </a:pPr>
            <a:r>
              <a:rPr lang="en-US" sz="800" dirty="0">
                <a:solidFill>
                  <a:srgbClr val="A8CCB8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300–3400Hz</a:t>
            </a:r>
            <a:pPr algn="l" indent="0" marL="0">
              <a:lnSpc>
                <a:spcPts val="1320"/>
              </a:lnSpc>
              <a:buNone/>
            </a:pPr>
            <a:r>
              <a:rPr lang="en-US" sz="703" dirty="0">
                <a:solidFill>
                  <a:srgbClr val="A8CC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窄带版</a:t>
            </a:r>
            <a:endParaRPr lang="en-US" sz="703" dirty="0"/>
          </a:p>
        </p:txBody>
      </p:sp>
      <p:sp>
        <p:nvSpPr>
          <p:cNvPr id="8" name="Shape 6"/>
          <p:cNvSpPr/>
          <p:nvPr/>
        </p:nvSpPr>
        <p:spPr>
          <a:xfrm>
            <a:off x="2602669" y="1197918"/>
            <a:ext cx="0" cy="659011"/>
          </a:xfrm>
          <a:prstGeom prst="line">
            <a:avLst/>
          </a:prstGeom>
          <a:noFill/>
          <a:ln w="7144">
            <a:solidFill>
              <a:srgbClr val="34D39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791978" y="1197918"/>
            <a:ext cx="1674428" cy="13330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928"/>
              </a:lnSpc>
              <a:buNone/>
            </a:pPr>
            <a:r>
              <a:rPr lang="en-US" sz="800" dirty="0">
                <a:solidFill>
                  <a:srgbClr val="73917F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STEP 2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2791978" y="1358652"/>
            <a:ext cx="1674428" cy="17359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66"/>
              </a:lnSpc>
              <a:buNone/>
            </a:pPr>
            <a:r>
              <a:rPr lang="en-US" sz="844" b="1" dirty="0">
                <a:solidFill>
                  <a:srgbClr val="EAF6E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拟合自然先验</a:t>
            </a:r>
            <a:endParaRPr lang="en-US" sz="844" dirty="0"/>
          </a:p>
        </p:txBody>
      </p:sp>
      <p:sp>
        <p:nvSpPr>
          <p:cNvPr id="11" name="Text 9"/>
          <p:cNvSpPr/>
          <p:nvPr/>
        </p:nvSpPr>
        <p:spPr>
          <a:xfrm>
            <a:off x="2791978" y="1562249"/>
            <a:ext cx="1674428" cy="29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60"/>
              </a:lnSpc>
              <a:buNone/>
            </a:pPr>
            <a:r>
              <a:rPr lang="en-US" sz="703" dirty="0">
                <a:solidFill>
                  <a:srgbClr val="A8CC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按信道取自然类各特征均值 / 标准差，</a:t>
            </a:r>
            <a:pPr algn="l" indent="0" marL="0">
              <a:lnSpc>
                <a:spcPts val="1160"/>
              </a:lnSpc>
              <a:buNone/>
            </a:pPr>
            <a:r>
              <a:rPr lang="en-US" sz="703" dirty="0">
                <a:solidFill>
                  <a:srgbClr val="A8CCB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z</a:t>
            </a:r>
            <a:pPr algn="l" indent="0" marL="0">
              <a:lnSpc>
                <a:spcPts val="1160"/>
              </a:lnSpc>
              <a:buNone/>
            </a:pPr>
            <a:r>
              <a:rPr lang="en-US" sz="703" dirty="0">
                <a:solidFill>
                  <a:srgbClr val="A8CC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分数即偏离自然语音的程度</a:t>
            </a:r>
            <a:endParaRPr lang="en-US" sz="703" dirty="0"/>
          </a:p>
        </p:txBody>
      </p:sp>
      <p:sp>
        <p:nvSpPr>
          <p:cNvPr id="12" name="Shape 10"/>
          <p:cNvSpPr/>
          <p:nvPr/>
        </p:nvSpPr>
        <p:spPr>
          <a:xfrm>
            <a:off x="4655716" y="1197918"/>
            <a:ext cx="0" cy="659011"/>
          </a:xfrm>
          <a:prstGeom prst="line">
            <a:avLst/>
          </a:prstGeom>
          <a:noFill/>
          <a:ln w="7144">
            <a:solidFill>
              <a:srgbClr val="34D39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845025" y="1197918"/>
            <a:ext cx="1674428" cy="13330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928"/>
              </a:lnSpc>
              <a:buNone/>
            </a:pPr>
            <a:r>
              <a:rPr lang="en-US" sz="800" dirty="0">
                <a:solidFill>
                  <a:srgbClr val="73917F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STEP 3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4845025" y="1358652"/>
            <a:ext cx="1674428" cy="17359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66"/>
              </a:lnSpc>
              <a:buNone/>
            </a:pPr>
            <a:r>
              <a:rPr lang="en-US" sz="844" b="1" dirty="0">
                <a:solidFill>
                  <a:srgbClr val="EAF6E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逻辑回归定权</a:t>
            </a:r>
            <a:endParaRPr lang="en-US" sz="844" dirty="0"/>
          </a:p>
        </p:txBody>
      </p:sp>
      <p:sp>
        <p:nvSpPr>
          <p:cNvPr id="15" name="Text 13"/>
          <p:cNvSpPr/>
          <p:nvPr/>
        </p:nvSpPr>
        <p:spPr>
          <a:xfrm>
            <a:off x="4845025" y="1562249"/>
            <a:ext cx="1674428" cy="29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20"/>
              </a:lnSpc>
              <a:buNone/>
            </a:pPr>
            <a:r>
              <a:rPr lang="en-US" sz="703" dirty="0">
                <a:solidFill>
                  <a:srgbClr val="A8CC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类加权（自然 ×</a:t>
            </a:r>
            <a:pPr algn="l" indent="0" marL="0">
              <a:lnSpc>
                <a:spcPts val="1320"/>
              </a:lnSpc>
              <a:buNone/>
            </a:pPr>
            <a:r>
              <a:rPr lang="en-US" sz="800" dirty="0">
                <a:solidFill>
                  <a:srgbClr val="A8CCB8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4</a:t>
            </a:r>
            <a:pPr algn="l" indent="0" marL="0">
              <a:lnSpc>
                <a:spcPts val="1320"/>
              </a:lnSpc>
              <a:buNone/>
            </a:pPr>
            <a:r>
              <a:rPr lang="en-US" sz="703" dirty="0">
                <a:solidFill>
                  <a:srgbClr val="A8CC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）</a:t>
            </a:r>
            <a:pPr algn="l" indent="0" marL="0">
              <a:lnSpc>
                <a:spcPts val="1320"/>
              </a:lnSpc>
              <a:buNone/>
            </a:pPr>
            <a:r>
              <a:rPr lang="en-US" sz="703" dirty="0">
                <a:solidFill>
                  <a:srgbClr val="A8CCB8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L2</a:t>
            </a:r>
            <a:pPr algn="l" indent="0" marL="0">
              <a:lnSpc>
                <a:spcPts val="1320"/>
              </a:lnSpc>
              <a:buNone/>
            </a:pPr>
            <a:r>
              <a:rPr lang="en-US" sz="703" dirty="0">
                <a:solidFill>
                  <a:srgbClr val="A8CC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正则，梯度下降 </a:t>
            </a:r>
            <a:pPr algn="l" indent="0" marL="0">
              <a:lnSpc>
                <a:spcPts val="1320"/>
              </a:lnSpc>
              <a:buNone/>
            </a:pPr>
            <a:r>
              <a:rPr lang="en-US" sz="800" dirty="0">
                <a:solidFill>
                  <a:srgbClr val="A8CCB8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4000</a:t>
            </a:r>
            <a:pPr algn="l" indent="0" marL="0">
              <a:lnSpc>
                <a:spcPts val="1320"/>
              </a:lnSpc>
              <a:buNone/>
            </a:pPr>
            <a:r>
              <a:rPr lang="en-US" sz="703" dirty="0">
                <a:solidFill>
                  <a:srgbClr val="A8CC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轮</a:t>
            </a:r>
            <a:endParaRPr lang="en-US" sz="703" dirty="0"/>
          </a:p>
        </p:txBody>
      </p:sp>
      <p:sp>
        <p:nvSpPr>
          <p:cNvPr id="16" name="Shape 14"/>
          <p:cNvSpPr/>
          <p:nvPr/>
        </p:nvSpPr>
        <p:spPr>
          <a:xfrm>
            <a:off x="6708763" y="1197918"/>
            <a:ext cx="0" cy="659011"/>
          </a:xfrm>
          <a:prstGeom prst="line">
            <a:avLst/>
          </a:prstGeom>
          <a:noFill/>
          <a:ln w="7144">
            <a:solidFill>
              <a:srgbClr val="34D39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98072" y="1197918"/>
            <a:ext cx="1674428" cy="13330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928"/>
              </a:lnSpc>
              <a:buNone/>
            </a:pPr>
            <a:r>
              <a:rPr lang="en-US" sz="800" dirty="0">
                <a:solidFill>
                  <a:srgbClr val="73917F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STEP 4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6898072" y="1358652"/>
            <a:ext cx="1674428" cy="17359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66"/>
              </a:lnSpc>
              <a:buNone/>
            </a:pPr>
            <a:r>
              <a:rPr lang="en-US" sz="844" b="1" dirty="0">
                <a:solidFill>
                  <a:srgbClr val="EAF6E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两重验证</a:t>
            </a:r>
            <a:endParaRPr lang="en-US" sz="844" dirty="0"/>
          </a:p>
        </p:txBody>
      </p:sp>
      <p:sp>
        <p:nvSpPr>
          <p:cNvPr id="19" name="Text 17"/>
          <p:cNvSpPr/>
          <p:nvPr/>
        </p:nvSpPr>
        <p:spPr>
          <a:xfrm>
            <a:off x="6898072" y="1562249"/>
            <a:ext cx="1674428" cy="2946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60"/>
              </a:lnSpc>
              <a:buNone/>
            </a:pPr>
            <a:r>
              <a:rPr lang="en-US" sz="703" dirty="0">
                <a:solidFill>
                  <a:srgbClr val="A8CC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混淆矩阵 + 自然类留一法（</a:t>
            </a:r>
            <a:pPr algn="l" indent="0" marL="0">
              <a:lnSpc>
                <a:spcPts val="1160"/>
              </a:lnSpc>
              <a:buNone/>
            </a:pPr>
            <a:r>
              <a:rPr lang="en-US" sz="703" dirty="0">
                <a:solidFill>
                  <a:srgbClr val="A8CCB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LOO</a:t>
            </a:r>
            <a:pPr algn="l" indent="0" marL="0">
              <a:lnSpc>
                <a:spcPts val="1160"/>
              </a:lnSpc>
              <a:buNone/>
            </a:pPr>
            <a:r>
              <a:rPr lang="en-US" sz="703" dirty="0">
                <a:solidFill>
                  <a:srgbClr val="A8CC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）稳定性检验</a:t>
            </a:r>
            <a:endParaRPr lang="en-US" sz="703" dirty="0"/>
          </a:p>
        </p:txBody>
      </p:sp>
      <p:sp>
        <p:nvSpPr>
          <p:cNvPr id="20" name="Text 18"/>
          <p:cNvSpPr/>
          <p:nvPr/>
        </p:nvSpPr>
        <p:spPr>
          <a:xfrm>
            <a:off x="571500" y="2514600"/>
            <a:ext cx="8401050" cy="2198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03"/>
              </a:lnSpc>
              <a:buNone/>
            </a:pPr>
            <a:r>
              <a:rPr lang="en-US" sz="1069" b="1" dirty="0">
                <a:solidFill>
                  <a:srgbClr val="EAF6E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校准中最有意思的一件事：直觉被数据否决了</a:t>
            </a:r>
            <a:endParaRPr lang="en-US" sz="1069" dirty="0"/>
          </a:p>
        </p:txBody>
      </p:sp>
      <p:sp>
        <p:nvSpPr>
          <p:cNvPr id="21" name="Text 19"/>
          <p:cNvSpPr/>
          <p:nvPr/>
        </p:nvSpPr>
        <p:spPr>
          <a:xfrm>
            <a:off x="575072" y="2850356"/>
            <a:ext cx="3779044" cy="1284982"/>
          </a:xfrm>
          <a:prstGeom prst="roundRect">
            <a:avLst>
              <a:gd name="adj" fmla="val 7413"/>
            </a:avLst>
          </a:prstGeom>
          <a:solidFill>
            <a:srgbClr val="111E17"/>
          </a:solidFill>
          <a:ln w="7144">
            <a:solidFill>
              <a:srgbClr val="F87171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750094" y="2996803"/>
            <a:ext cx="3429000" cy="1504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7"/>
              </a:lnSpc>
              <a:buNone/>
            </a:pPr>
            <a:r>
              <a:rPr lang="en-US" sz="731" b="1" dirty="0">
                <a:solidFill>
                  <a:srgbClr val="F8717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被证伪 · 高频谱平坦度</a:t>
            </a:r>
            <a:endParaRPr lang="en-US" sz="731" dirty="0"/>
          </a:p>
        </p:txBody>
      </p:sp>
      <p:sp>
        <p:nvSpPr>
          <p:cNvPr id="23" name="Text 21"/>
          <p:cNvSpPr/>
          <p:nvPr/>
        </p:nvSpPr>
        <p:spPr>
          <a:xfrm>
            <a:off x="750094" y="3221831"/>
            <a:ext cx="1211223" cy="5092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713"/>
              </a:lnSpc>
              <a:buNone/>
            </a:pPr>
            <a:r>
              <a:rPr lang="en-US" sz="2475" b="1" dirty="0">
                <a:solidFill>
                  <a:srgbClr val="F87171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0.10</a:t>
            </a:r>
            <a:endParaRPr lang="en-US" sz="2475" dirty="0"/>
          </a:p>
        </p:txBody>
      </p:sp>
      <p:sp>
        <p:nvSpPr>
          <p:cNvPr id="24" name="Text 22"/>
          <p:cNvSpPr/>
          <p:nvPr/>
        </p:nvSpPr>
        <p:spPr>
          <a:xfrm>
            <a:off x="1607121" y="3471863"/>
            <a:ext cx="2571973" cy="2989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703" dirty="0">
                <a:solidFill>
                  <a:srgbClr val="A8CC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类间分离度</a:t>
            </a:r>
            <a:endParaRPr lang="en-US" sz="703" dirty="0"/>
          </a:p>
          <a:p>
            <a:pPr algn="l" indent="0" marL="0">
              <a:lnSpc>
                <a:spcPts val="1090"/>
              </a:lnSpc>
              <a:buNone/>
            </a:pPr>
            <a:r>
              <a:rPr lang="en-US" sz="703" dirty="0">
                <a:solidFill>
                  <a:srgbClr val="A8CC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拟合权重自动趋零</a:t>
            </a:r>
            <a:endParaRPr lang="en-US" sz="703" dirty="0"/>
          </a:p>
        </p:txBody>
      </p:sp>
      <p:sp>
        <p:nvSpPr>
          <p:cNvPr id="25" name="Text 23"/>
          <p:cNvSpPr/>
          <p:nvPr/>
        </p:nvSpPr>
        <p:spPr>
          <a:xfrm>
            <a:off x="750094" y="3834408"/>
            <a:ext cx="3429000" cy="1544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60"/>
              </a:lnSpc>
              <a:buNone/>
            </a:pPr>
            <a:r>
              <a:rPr lang="en-US" sz="703" dirty="0">
                <a:solidFill>
                  <a:srgbClr val="73917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文献与直觉都说它有效；实测分不开自然与合成，权重自己归零。</a:t>
            </a:r>
            <a:endParaRPr lang="en-US" sz="703" dirty="0"/>
          </a:p>
        </p:txBody>
      </p:sp>
      <p:sp>
        <p:nvSpPr>
          <p:cNvPr id="26" name="Text 24"/>
          <p:cNvSpPr/>
          <p:nvPr/>
        </p:nvSpPr>
        <p:spPr>
          <a:xfrm>
            <a:off x="4500563" y="3385691"/>
            <a:ext cx="285750" cy="2314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8"/>
              </a:lnSpc>
              <a:buNone/>
            </a:pPr>
            <a:r>
              <a:rPr lang="en-US" sz="1125" dirty="0">
                <a:solidFill>
                  <a:srgbClr val="73917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</a:t>
            </a:r>
            <a:endParaRPr lang="en-US" sz="1125" dirty="0"/>
          </a:p>
        </p:txBody>
      </p:sp>
      <p:sp>
        <p:nvSpPr>
          <p:cNvPr id="27" name="Text 25"/>
          <p:cNvSpPr/>
          <p:nvPr/>
        </p:nvSpPr>
        <p:spPr>
          <a:xfrm>
            <a:off x="4786313" y="2846784"/>
            <a:ext cx="3786188" cy="1292126"/>
          </a:xfrm>
          <a:prstGeom prst="roundRect">
            <a:avLst>
              <a:gd name="adj" fmla="val 7372"/>
            </a:avLst>
          </a:prstGeom>
          <a:solidFill>
            <a:srgbClr val="111E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Shape 26"/>
          <p:cNvSpPr/>
          <p:nvPr/>
        </p:nvSpPr>
        <p:spPr>
          <a:xfrm>
            <a:off x="4786313" y="2850356"/>
            <a:ext cx="3786188" cy="0"/>
          </a:xfrm>
          <a:prstGeom prst="line">
            <a:avLst/>
          </a:prstGeom>
          <a:noFill/>
          <a:ln w="7144">
            <a:solidFill>
              <a:srgbClr val="34D39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568928" y="2846784"/>
            <a:ext cx="0" cy="1292126"/>
          </a:xfrm>
          <a:prstGeom prst="line">
            <a:avLst/>
          </a:prstGeom>
          <a:noFill/>
          <a:ln w="7144">
            <a:solidFill>
              <a:srgbClr val="34D39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786313" y="4135338"/>
            <a:ext cx="3786188" cy="0"/>
          </a:xfrm>
          <a:prstGeom prst="line">
            <a:avLst/>
          </a:prstGeom>
          <a:noFill/>
          <a:ln w="7144">
            <a:solidFill>
              <a:srgbClr val="34D39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797028" y="2846784"/>
            <a:ext cx="0" cy="1292126"/>
          </a:xfrm>
          <a:prstGeom prst="line">
            <a:avLst/>
          </a:prstGeom>
          <a:noFill/>
          <a:ln w="21431">
            <a:solidFill>
              <a:srgbClr val="34D399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979194" y="2996803"/>
            <a:ext cx="3414712" cy="1504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7"/>
              </a:lnSpc>
              <a:buNone/>
            </a:pPr>
            <a:r>
              <a:rPr lang="en-US" sz="731" b="1" dirty="0">
                <a:solidFill>
                  <a:srgbClr val="34D3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被验证 · 高频周期性（自研）</a:t>
            </a:r>
            <a:endParaRPr lang="en-US" sz="731" dirty="0"/>
          </a:p>
        </p:txBody>
      </p:sp>
      <p:sp>
        <p:nvSpPr>
          <p:cNvPr id="33" name="Text 31"/>
          <p:cNvSpPr/>
          <p:nvPr/>
        </p:nvSpPr>
        <p:spPr>
          <a:xfrm>
            <a:off x="4979194" y="3221831"/>
            <a:ext cx="1211223" cy="5092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713"/>
              </a:lnSpc>
              <a:buNone/>
            </a:pPr>
            <a:r>
              <a:rPr lang="en-US" sz="2475" b="1" dirty="0">
                <a:solidFill>
                  <a:srgbClr val="34D399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1.28</a:t>
            </a:r>
            <a:endParaRPr lang="en-US" sz="2475" dirty="0"/>
          </a:p>
        </p:txBody>
      </p:sp>
      <p:sp>
        <p:nvSpPr>
          <p:cNvPr id="34" name="Text 32"/>
          <p:cNvSpPr/>
          <p:nvPr/>
        </p:nvSpPr>
        <p:spPr>
          <a:xfrm>
            <a:off x="5836221" y="3471863"/>
            <a:ext cx="2557686" cy="3066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0"/>
              </a:lnSpc>
              <a:buNone/>
            </a:pPr>
            <a:r>
              <a:rPr lang="en-US" sz="703" dirty="0">
                <a:solidFill>
                  <a:srgbClr val="A8CC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类间分离度</a:t>
            </a:r>
            <a:endParaRPr lang="en-US" sz="703" dirty="0"/>
          </a:p>
          <a:p>
            <a:pPr algn="l" indent="0" marL="0">
              <a:lnSpc>
                <a:spcPts val="1240"/>
              </a:lnSpc>
              <a:buNone/>
            </a:pPr>
            <a:r>
              <a:rPr lang="en-US" sz="703" dirty="0">
                <a:solidFill>
                  <a:srgbClr val="A8CC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权重 </a:t>
            </a:r>
            <a:pPr algn="l" indent="0" marL="0">
              <a:lnSpc>
                <a:spcPts val="1240"/>
              </a:lnSpc>
              <a:buNone/>
            </a:pPr>
            <a:r>
              <a:rPr lang="en-US" sz="800" dirty="0">
                <a:solidFill>
                  <a:srgbClr val="A8CCB8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0.289</a:t>
            </a:r>
            <a:pPr algn="l" indent="0" marL="0">
              <a:lnSpc>
                <a:spcPts val="1240"/>
              </a:lnSpc>
              <a:buNone/>
            </a:pPr>
            <a:r>
              <a:rPr lang="en-US" sz="703" dirty="0">
                <a:solidFill>
                  <a:srgbClr val="A8CC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显著贡献</a:t>
            </a:r>
            <a:endParaRPr lang="en-US" sz="703" dirty="0"/>
          </a:p>
        </p:txBody>
      </p:sp>
      <p:sp>
        <p:nvSpPr>
          <p:cNvPr id="35" name="Text 33"/>
          <p:cNvSpPr/>
          <p:nvPr/>
        </p:nvSpPr>
        <p:spPr>
          <a:xfrm>
            <a:off x="4979194" y="3841552"/>
            <a:ext cx="3414713" cy="1473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60"/>
              </a:lnSpc>
              <a:buNone/>
            </a:pPr>
            <a:r>
              <a:rPr lang="en-US" sz="703" dirty="0">
                <a:solidFill>
                  <a:srgbClr val="73917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自研特征反而在数据上站住了 —— 这就是先拟合、后信任的理由。</a:t>
            </a:r>
            <a:endParaRPr lang="en-US" sz="703" dirty="0"/>
          </a:p>
        </p:txBody>
      </p:sp>
      <p:sp>
        <p:nvSpPr>
          <p:cNvPr id="36" name="Shape 34"/>
          <p:cNvSpPr/>
          <p:nvPr/>
        </p:nvSpPr>
        <p:spPr>
          <a:xfrm>
            <a:off x="571500" y="4563070"/>
            <a:ext cx="8001000" cy="0"/>
          </a:xfrm>
          <a:prstGeom prst="line">
            <a:avLst/>
          </a:prstGeom>
          <a:noFill/>
          <a:ln w="7144">
            <a:solidFill>
              <a:srgbClr val="34D399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71500" y="4666655"/>
            <a:ext cx="5715781" cy="1339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55"/>
              </a:lnSpc>
              <a:buNone/>
            </a:pPr>
            <a:r>
              <a:rPr lang="en-US" sz="703" dirty="0">
                <a:solidFill>
                  <a:srgbClr val="73917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校准全流程脚本化，样本扩展后可一键重拟合</a:t>
            </a:r>
            <a:endParaRPr lang="en-US" sz="703" dirty="0"/>
          </a:p>
        </p:txBody>
      </p:sp>
      <p:sp>
        <p:nvSpPr>
          <p:cNvPr id="38" name="Text 36"/>
          <p:cNvSpPr/>
          <p:nvPr/>
        </p:nvSpPr>
        <p:spPr>
          <a:xfrm>
            <a:off x="6301569" y="4666655"/>
            <a:ext cx="2380659" cy="1339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13"/>
              </a:lnSpc>
              <a:buNone/>
            </a:pPr>
            <a:r>
              <a:rPr lang="en-US" sz="675" dirty="0">
                <a:solidFill>
                  <a:srgbClr val="73917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scripts/calibrate-engine.ts · fit-weights.ts</a:t>
            </a:r>
            <a:endParaRPr lang="en-US" sz="675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14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71500" y="400050"/>
            <a:ext cx="7883463" cy="1504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7"/>
              </a:lnSpc>
              <a:buNone/>
            </a:pPr>
            <a:r>
              <a:rPr lang="en-US" sz="731" spc="205" kern="0" dirty="0">
                <a:solidFill>
                  <a:srgbClr val="73917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实测结果</a:t>
            </a:r>
            <a:endParaRPr lang="en-US" sz="731" dirty="0"/>
          </a:p>
        </p:txBody>
      </p:sp>
      <p:sp>
        <p:nvSpPr>
          <p:cNvPr id="3" name="Text 1"/>
          <p:cNvSpPr/>
          <p:nvPr/>
        </p:nvSpPr>
        <p:spPr>
          <a:xfrm>
            <a:off x="8459740" y="407194"/>
            <a:ext cx="184221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13"/>
              </a:lnSpc>
              <a:buNone/>
            </a:pPr>
            <a:r>
              <a:rPr lang="en-US" sz="800" dirty="0">
                <a:solidFill>
                  <a:srgbClr val="73917F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07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571500" y="653653"/>
            <a:ext cx="8401050" cy="3563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99"/>
              </a:lnSpc>
              <a:buNone/>
            </a:pPr>
            <a:r>
              <a:rPr lang="en-US" sz="1856" b="1" dirty="0">
                <a:solidFill>
                  <a:srgbClr val="EAF6E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能检出的、检不出的，</a:t>
            </a:r>
            <a:pPr algn="l" indent="0" marL="0">
              <a:lnSpc>
                <a:spcPts val="2599"/>
              </a:lnSpc>
              <a:buNone/>
            </a:pPr>
            <a:r>
              <a:rPr lang="en-US" sz="1856" b="1" dirty="0">
                <a:solidFill>
                  <a:srgbClr val="34D3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都摆出来</a:t>
            </a:r>
            <a:endParaRPr lang="en-US" sz="1856" dirty="0"/>
          </a:p>
        </p:txBody>
      </p:sp>
      <p:sp>
        <p:nvSpPr>
          <p:cNvPr id="5" name="Text 3"/>
          <p:cNvSpPr/>
          <p:nvPr/>
        </p:nvSpPr>
        <p:spPr>
          <a:xfrm>
            <a:off x="571500" y="1097905"/>
            <a:ext cx="1032272" cy="3471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31"/>
              </a:lnSpc>
              <a:buNone/>
            </a:pPr>
            <a:r>
              <a:rPr lang="en-US" sz="1688" b="1" dirty="0">
                <a:solidFill>
                  <a:srgbClr val="34D399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20/20</a:t>
            </a:r>
            <a:endParaRPr lang="en-US" sz="1688" dirty="0"/>
          </a:p>
        </p:txBody>
      </p:sp>
      <p:sp>
        <p:nvSpPr>
          <p:cNvPr id="6" name="Text 4"/>
          <p:cNvSpPr/>
          <p:nvPr/>
        </p:nvSpPr>
        <p:spPr>
          <a:xfrm>
            <a:off x="1302395" y="1233636"/>
            <a:ext cx="557213" cy="3008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731" dirty="0">
                <a:solidFill>
                  <a:srgbClr val="A8CC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宽带合成检出</a:t>
            </a:r>
            <a:endParaRPr lang="en-US" sz="731" dirty="0"/>
          </a:p>
          <a:p>
            <a:pPr algn="l" indent="0" marL="0">
              <a:lnSpc>
                <a:spcPts val="1200"/>
              </a:lnSpc>
              <a:buNone/>
            </a:pPr>
            <a:r>
              <a:rPr lang="en-US" sz="800" dirty="0">
                <a:solidFill>
                  <a:srgbClr val="73917F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TTS n=20</a:t>
            </a:r>
            <a:endParaRPr lang="en-US" sz="731" dirty="0"/>
          </a:p>
        </p:txBody>
      </p:sp>
      <p:sp>
        <p:nvSpPr>
          <p:cNvPr id="7" name="Text 5"/>
          <p:cNvSpPr/>
          <p:nvPr/>
        </p:nvSpPr>
        <p:spPr>
          <a:xfrm>
            <a:off x="2202507" y="1097905"/>
            <a:ext cx="619363" cy="3471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31"/>
              </a:lnSpc>
              <a:buNone/>
            </a:pPr>
            <a:r>
              <a:rPr lang="en-US" sz="1688" b="1" dirty="0">
                <a:solidFill>
                  <a:srgbClr val="EAF6EF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4/5</a:t>
            </a:r>
            <a:endParaRPr lang="en-US" sz="1688" dirty="0"/>
          </a:p>
        </p:txBody>
      </p:sp>
      <p:sp>
        <p:nvSpPr>
          <p:cNvPr id="8" name="Text 6"/>
          <p:cNvSpPr/>
          <p:nvPr/>
        </p:nvSpPr>
        <p:spPr>
          <a:xfrm>
            <a:off x="2675334" y="1233636"/>
            <a:ext cx="557213" cy="3008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97"/>
              </a:lnSpc>
              <a:buNone/>
            </a:pPr>
            <a:r>
              <a:rPr lang="en-US" sz="731" dirty="0">
                <a:solidFill>
                  <a:srgbClr val="A8CC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自然语音放行</a:t>
            </a:r>
            <a:endParaRPr lang="en-US" sz="731" dirty="0"/>
          </a:p>
          <a:p>
            <a:pPr algn="l" indent="0" marL="0">
              <a:lnSpc>
                <a:spcPts val="1097"/>
              </a:lnSpc>
              <a:buNone/>
            </a:pPr>
            <a:r>
              <a:rPr lang="en-US" sz="700" dirty="0">
                <a:solidFill>
                  <a:srgbClr val="73917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自然 </a:t>
            </a:r>
            <a:pPr algn="l" indent="0" marL="0">
              <a:lnSpc>
                <a:spcPts val="1097"/>
              </a:lnSpc>
              <a:buNone/>
            </a:pPr>
            <a:r>
              <a:rPr lang="en-US" sz="700" dirty="0">
                <a:solidFill>
                  <a:srgbClr val="73917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n</a:t>
            </a:r>
            <a:pPr algn="l" indent="0" marL="0">
              <a:lnSpc>
                <a:spcPts val="1097"/>
              </a:lnSpc>
              <a:buNone/>
            </a:pPr>
            <a:r>
              <a:rPr lang="en-US" sz="700" dirty="0">
                <a:solidFill>
                  <a:srgbClr val="73917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=</a:t>
            </a:r>
            <a:pPr algn="l" indent="0" marL="0">
              <a:lnSpc>
                <a:spcPts val="1097"/>
              </a:lnSpc>
              <a:buNone/>
            </a:pPr>
            <a:r>
              <a:rPr lang="en-US" sz="700" dirty="0">
                <a:solidFill>
                  <a:srgbClr val="73917F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5</a:t>
            </a:r>
            <a:endParaRPr lang="en-US" sz="731" dirty="0"/>
          </a:p>
        </p:txBody>
      </p:sp>
      <p:sp>
        <p:nvSpPr>
          <p:cNvPr id="9" name="Text 7"/>
          <p:cNvSpPr/>
          <p:nvPr/>
        </p:nvSpPr>
        <p:spPr>
          <a:xfrm>
            <a:off x="3575447" y="1097905"/>
            <a:ext cx="1774217" cy="3471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31"/>
              </a:lnSpc>
              <a:buNone/>
            </a:pPr>
            <a:r>
              <a:rPr lang="en-US" sz="1688" b="1" dirty="0">
                <a:solidFill>
                  <a:srgbClr val="EAF6EF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0.003–0.015</a:t>
            </a:r>
            <a:endParaRPr lang="en-US" sz="1688" dirty="0"/>
          </a:p>
        </p:txBody>
      </p:sp>
      <p:sp>
        <p:nvSpPr>
          <p:cNvPr id="10" name="Text 8"/>
          <p:cNvSpPr/>
          <p:nvPr/>
        </p:nvSpPr>
        <p:spPr>
          <a:xfrm>
            <a:off x="5080546" y="1233636"/>
            <a:ext cx="576188" cy="3008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97"/>
              </a:lnSpc>
              <a:buNone/>
            </a:pPr>
            <a:r>
              <a:rPr lang="en-US" sz="731" dirty="0">
                <a:solidFill>
                  <a:srgbClr val="A8CCB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RTF</a:t>
            </a:r>
            <a:pPr algn="l" indent="0" marL="0">
              <a:lnSpc>
                <a:spcPts val="1097"/>
              </a:lnSpc>
              <a:buNone/>
            </a:pPr>
            <a:r>
              <a:rPr lang="en-US" sz="731" dirty="0">
                <a:solidFill>
                  <a:srgbClr val="A8CC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实时因子</a:t>
            </a:r>
            <a:endParaRPr lang="en-US" sz="731" dirty="0"/>
          </a:p>
          <a:p>
            <a:pPr algn="l" indent="0" marL="0">
              <a:lnSpc>
                <a:spcPts val="1097"/>
              </a:lnSpc>
              <a:buNone/>
            </a:pPr>
            <a:r>
              <a:rPr lang="en-US" sz="700" dirty="0">
                <a:solidFill>
                  <a:srgbClr val="73917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纯 </a:t>
            </a:r>
            <a:pPr algn="l" indent="0" marL="0">
              <a:lnSpc>
                <a:spcPts val="1097"/>
              </a:lnSpc>
              <a:buNone/>
            </a:pPr>
            <a:r>
              <a:rPr lang="en-US" sz="700" dirty="0">
                <a:solidFill>
                  <a:srgbClr val="73917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CPU</a:t>
            </a:r>
            <a:endParaRPr lang="en-US" sz="731" dirty="0"/>
          </a:p>
        </p:txBody>
      </p:sp>
      <p:sp>
        <p:nvSpPr>
          <p:cNvPr id="11" name="Text 9"/>
          <p:cNvSpPr/>
          <p:nvPr/>
        </p:nvSpPr>
        <p:spPr>
          <a:xfrm>
            <a:off x="5999634" y="1097905"/>
            <a:ext cx="619363" cy="3471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31"/>
              </a:lnSpc>
              <a:buNone/>
            </a:pPr>
            <a:r>
              <a:rPr lang="en-US" sz="1688" b="1" dirty="0">
                <a:solidFill>
                  <a:srgbClr val="EAF6EF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≤1s</a:t>
            </a:r>
            <a:endParaRPr lang="en-US" sz="1688" dirty="0"/>
          </a:p>
        </p:txBody>
      </p:sp>
      <p:sp>
        <p:nvSpPr>
          <p:cNvPr id="12" name="Text 10"/>
          <p:cNvSpPr/>
          <p:nvPr/>
        </p:nvSpPr>
        <p:spPr>
          <a:xfrm>
            <a:off x="6472461" y="1233636"/>
            <a:ext cx="471488" cy="3008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97"/>
              </a:lnSpc>
              <a:buNone/>
            </a:pPr>
            <a:r>
              <a:rPr lang="en-US" sz="731" dirty="0">
                <a:solidFill>
                  <a:srgbClr val="A8CC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判决时延</a:t>
            </a:r>
            <a:endParaRPr lang="en-US" sz="731" dirty="0"/>
          </a:p>
          <a:p>
            <a:pPr algn="l" indent="0" marL="0">
              <a:lnSpc>
                <a:spcPts val="1097"/>
              </a:lnSpc>
              <a:buNone/>
            </a:pPr>
            <a:r>
              <a:rPr lang="en-US" sz="700" dirty="0">
                <a:solidFill>
                  <a:srgbClr val="73917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窗口步进主导</a:t>
            </a:r>
            <a:endParaRPr lang="en-US" sz="731" dirty="0"/>
          </a:p>
        </p:txBody>
      </p:sp>
      <p:sp>
        <p:nvSpPr>
          <p:cNvPr id="13" name="Text 11"/>
          <p:cNvSpPr/>
          <p:nvPr/>
        </p:nvSpPr>
        <p:spPr>
          <a:xfrm>
            <a:off x="575072" y="1518047"/>
            <a:ext cx="3850481" cy="3121819"/>
          </a:xfrm>
          <a:prstGeom prst="roundRect">
            <a:avLst>
              <a:gd name="adj" fmla="val 2441"/>
            </a:avLst>
          </a:prstGeom>
          <a:solidFill>
            <a:srgbClr val="0D1712"/>
          </a:solidFill>
          <a:ln w="7144">
            <a:solidFill>
              <a:srgbClr val="34D39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14" name="Image 0" descr="/tmp/h2p-fit-1793158503352-avbz2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8644" y="1521619"/>
            <a:ext cx="3843338" cy="3114675"/>
          </a:xfrm>
          <a:prstGeom prst="rect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4686300" y="1514475"/>
            <a:ext cx="4171950" cy="153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83"/>
              </a:lnSpc>
              <a:buNone/>
            </a:pPr>
            <a:r>
              <a:rPr lang="en-US" sz="700" dirty="0">
                <a:solidFill>
                  <a:srgbClr val="73917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逐文件整段合成置信度：自然 </a:t>
            </a:r>
            <a:pPr algn="l" indent="0" marL="0">
              <a:lnSpc>
                <a:spcPts val="1183"/>
              </a:lnSpc>
              <a:buNone/>
            </a:pPr>
            <a:r>
              <a:rPr lang="en-US" sz="800" dirty="0">
                <a:solidFill>
                  <a:srgbClr val="73917F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n=5</a:t>
            </a:r>
            <a:pPr algn="l" indent="0" marL="0">
              <a:lnSpc>
                <a:spcPts val="1183"/>
              </a:lnSpc>
              <a:buNone/>
            </a:pPr>
            <a:r>
              <a:rPr lang="en-US" sz="700" dirty="0">
                <a:solidFill>
                  <a:srgbClr val="73917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（左）</a:t>
            </a:r>
            <a:pPr algn="l" indent="0" marL="0">
              <a:lnSpc>
                <a:spcPts val="1183"/>
              </a:lnSpc>
              <a:buNone/>
            </a:pPr>
            <a:r>
              <a:rPr lang="en-US" sz="700" dirty="0">
                <a:solidFill>
                  <a:srgbClr val="73917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vs</a:t>
            </a:r>
            <a:pPr algn="l" indent="0" marL="0">
              <a:lnSpc>
                <a:spcPts val="1183"/>
              </a:lnSpc>
              <a:buNone/>
            </a:pPr>
            <a:r>
              <a:rPr lang="en-US" sz="700" dirty="0">
                <a:solidFill>
                  <a:srgbClr val="73917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pPr algn="l" indent="0" marL="0">
              <a:lnSpc>
                <a:spcPts val="1183"/>
              </a:lnSpc>
              <a:buNone/>
            </a:pPr>
            <a:r>
              <a:rPr lang="en-US" sz="700" dirty="0">
                <a:solidFill>
                  <a:srgbClr val="73917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TTS</a:t>
            </a:r>
            <a:pPr algn="l" indent="0" marL="0">
              <a:lnSpc>
                <a:spcPts val="1183"/>
              </a:lnSpc>
              <a:buNone/>
            </a:pPr>
            <a:r>
              <a:rPr lang="en-US" sz="700" dirty="0">
                <a:solidFill>
                  <a:srgbClr val="73917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合成 </a:t>
            </a:r>
            <a:pPr algn="l" indent="0" marL="0">
              <a:lnSpc>
                <a:spcPts val="1183"/>
              </a:lnSpc>
              <a:buNone/>
            </a:pPr>
            <a:r>
              <a:rPr lang="en-US" sz="800" dirty="0">
                <a:solidFill>
                  <a:srgbClr val="73917F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n=20</a:t>
            </a:r>
            <a:pPr algn="l" indent="0" marL="0">
              <a:lnSpc>
                <a:spcPts val="1183"/>
              </a:lnSpc>
              <a:buNone/>
            </a:pPr>
            <a:r>
              <a:rPr lang="en-US" sz="700" dirty="0">
                <a:solidFill>
                  <a:srgbClr val="73917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（右），宽带信道</a:t>
            </a:r>
            <a:endParaRPr lang="en-US" sz="700" dirty="0"/>
          </a:p>
        </p:txBody>
      </p:sp>
      <p:sp>
        <p:nvSpPr>
          <p:cNvPr id="16" name="Text 13"/>
          <p:cNvSpPr/>
          <p:nvPr/>
        </p:nvSpPr>
        <p:spPr>
          <a:xfrm>
            <a:off x="4686300" y="1774441"/>
            <a:ext cx="4457700" cy="20831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19"/>
              </a:lnSpc>
              <a:buNone/>
            </a:pPr>
            <a:r>
              <a:rPr lang="en-US" sz="1013" b="1" dirty="0">
                <a:solidFill>
                  <a:srgbClr val="EAF6E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两条如实标注的边界</a:t>
            </a:r>
            <a:endParaRPr lang="en-US" sz="1013" dirty="0"/>
          </a:p>
        </p:txBody>
      </p:sp>
      <p:sp>
        <p:nvSpPr>
          <p:cNvPr id="17" name="Text 14"/>
          <p:cNvSpPr/>
          <p:nvPr/>
        </p:nvSpPr>
        <p:spPr>
          <a:xfrm>
            <a:off x="4686300" y="2053047"/>
            <a:ext cx="825818" cy="2777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350" b="1" dirty="0">
                <a:solidFill>
                  <a:srgbClr val="FBBF24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16/20</a:t>
            </a:r>
            <a:endParaRPr lang="en-US" sz="1350" dirty="0"/>
          </a:p>
        </p:txBody>
      </p:sp>
      <p:sp>
        <p:nvSpPr>
          <p:cNvPr id="18" name="Text 15"/>
          <p:cNvSpPr/>
          <p:nvPr/>
        </p:nvSpPr>
        <p:spPr>
          <a:xfrm>
            <a:off x="5302448" y="2138772"/>
            <a:ext cx="3555802" cy="1562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39"/>
              </a:lnSpc>
              <a:buNone/>
            </a:pPr>
            <a:r>
              <a:rPr lang="en-US" sz="759" b="1" dirty="0">
                <a:solidFill>
                  <a:srgbClr val="EAF6E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窄带检出率</a:t>
            </a:r>
            <a:endParaRPr lang="en-US" sz="759" dirty="0"/>
          </a:p>
        </p:txBody>
      </p:sp>
      <p:sp>
        <p:nvSpPr>
          <p:cNvPr id="19" name="Text 16"/>
          <p:cNvSpPr/>
          <p:nvPr/>
        </p:nvSpPr>
        <p:spPr>
          <a:xfrm>
            <a:off x="4686300" y="2338797"/>
            <a:ext cx="417195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80"/>
              </a:lnSpc>
              <a:buNone/>
            </a:pPr>
            <a:r>
              <a:rPr lang="en-US" sz="800" dirty="0">
                <a:solidFill>
                  <a:srgbClr val="73917F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300–3400Hz</a:t>
            </a:r>
            <a:pPr algn="l" indent="0" marL="0">
              <a:lnSpc>
                <a:spcPts val="1280"/>
              </a:lnSpc>
              <a:buNone/>
            </a:pPr>
            <a:r>
              <a:rPr lang="en-US" sz="703" dirty="0">
                <a:solidFill>
                  <a:srgbClr val="73917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带宽直接抹掉高频信息——退化如实标注，不藏着。</a:t>
            </a:r>
            <a:endParaRPr lang="en-US" sz="703" dirty="0"/>
          </a:p>
        </p:txBody>
      </p:sp>
      <p:sp>
        <p:nvSpPr>
          <p:cNvPr id="20" name="Shape 17"/>
          <p:cNvSpPr/>
          <p:nvPr/>
        </p:nvSpPr>
        <p:spPr>
          <a:xfrm>
            <a:off x="4686300" y="2570969"/>
            <a:ext cx="4171950" cy="0"/>
          </a:xfrm>
          <a:prstGeom prst="line">
            <a:avLst/>
          </a:prstGeom>
          <a:noFill/>
          <a:ln w="7144">
            <a:solidFill>
              <a:srgbClr val="34D399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686300" y="2660266"/>
            <a:ext cx="825818" cy="2777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350" b="1" dirty="0">
                <a:solidFill>
                  <a:srgbClr val="FBBF24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10/50</a:t>
            </a:r>
            <a:endParaRPr lang="en-US" sz="1350" dirty="0"/>
          </a:p>
        </p:txBody>
      </p:sp>
      <p:sp>
        <p:nvSpPr>
          <p:cNvPr id="22" name="Text 19"/>
          <p:cNvSpPr/>
          <p:nvPr/>
        </p:nvSpPr>
        <p:spPr>
          <a:xfrm>
            <a:off x="5302448" y="2745991"/>
            <a:ext cx="3555802" cy="1562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39"/>
              </a:lnSpc>
              <a:buNone/>
            </a:pPr>
            <a:r>
              <a:rPr lang="en-US" sz="759" b="1" dirty="0">
                <a:solidFill>
                  <a:srgbClr val="EAF6E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有声书误判</a:t>
            </a:r>
            <a:endParaRPr lang="en-US" sz="759" dirty="0"/>
          </a:p>
        </p:txBody>
      </p:sp>
      <p:sp>
        <p:nvSpPr>
          <p:cNvPr id="23" name="Text 20"/>
          <p:cNvSpPr/>
          <p:nvPr/>
        </p:nvSpPr>
        <p:spPr>
          <a:xfrm>
            <a:off x="4686300" y="2946016"/>
            <a:ext cx="41719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703" dirty="0">
                <a:solidFill>
                  <a:srgbClr val="73917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录音棚级自然音的「生产洁净度」与轻量特征耦合——正是启动深度引擎的直接动机，而非调参掩盖。</a:t>
            </a:r>
            <a:endParaRPr lang="en-US" sz="703" dirty="0"/>
          </a:p>
        </p:txBody>
      </p:sp>
      <p:sp>
        <p:nvSpPr>
          <p:cNvPr id="24" name="Shape 21"/>
          <p:cNvSpPr/>
          <p:nvPr/>
        </p:nvSpPr>
        <p:spPr>
          <a:xfrm>
            <a:off x="4686300" y="3178187"/>
            <a:ext cx="4171950" cy="0"/>
          </a:xfrm>
          <a:prstGeom prst="line">
            <a:avLst/>
          </a:prstGeom>
          <a:noFill/>
          <a:ln w="7144">
            <a:solidFill>
              <a:srgbClr val="34D399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4686300" y="3260341"/>
            <a:ext cx="4171950" cy="141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73"/>
              </a:lnSpc>
              <a:buNone/>
            </a:pPr>
            <a:r>
              <a:rPr lang="en-US" sz="700" dirty="0">
                <a:solidFill>
                  <a:srgbClr val="A8CC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评测口径三层：权威基准 </a:t>
            </a:r>
            <a:pPr algn="l" indent="0" marL="0">
              <a:lnSpc>
                <a:spcPts val="1273"/>
              </a:lnSpc>
              <a:buNone/>
            </a:pPr>
            <a:r>
              <a:rPr lang="en-US" sz="800" dirty="0">
                <a:solidFill>
                  <a:srgbClr val="A8CC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EER/t-DCF</a:t>
            </a:r>
            <a:pPr algn="l" indent="0" marL="0">
              <a:lnSpc>
                <a:spcPts val="1273"/>
              </a:lnSpc>
              <a:buNone/>
            </a:pPr>
            <a:r>
              <a:rPr lang="en-US" sz="700" dirty="0">
                <a:solidFill>
                  <a:srgbClr val="A8CC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（深度引擎阶段）· 本阶段实测 · 业务端到端全流程通过</a:t>
            </a:r>
            <a:endParaRPr lang="en-US" sz="700" dirty="0"/>
          </a:p>
        </p:txBody>
      </p:sp>
      <p:sp>
        <p:nvSpPr>
          <p:cNvPr id="26" name="Shape 23"/>
          <p:cNvSpPr/>
          <p:nvPr/>
        </p:nvSpPr>
        <p:spPr>
          <a:xfrm>
            <a:off x="571500" y="4563070"/>
            <a:ext cx="8001000" cy="0"/>
          </a:xfrm>
          <a:prstGeom prst="line">
            <a:avLst/>
          </a:prstGeom>
          <a:noFill/>
          <a:ln w="7144">
            <a:solidFill>
              <a:srgbClr val="34D399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571500" y="4666655"/>
            <a:ext cx="8001000" cy="1339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703" dirty="0">
                <a:solidFill>
                  <a:srgbClr val="73917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扩展测试集：</a:t>
            </a:r>
            <a:pPr algn="l" indent="0" marL="0">
              <a:lnSpc>
                <a:spcPts val="1200"/>
              </a:lnSpc>
              <a:buNone/>
            </a:pPr>
            <a:r>
              <a:rPr lang="en-US" sz="703" dirty="0">
                <a:solidFill>
                  <a:srgbClr val="73917F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105</a:t>
            </a:r>
            <a:pPr algn="l" indent="0" marL="0">
              <a:lnSpc>
                <a:spcPts val="1200"/>
              </a:lnSpc>
              <a:buNone/>
            </a:pPr>
            <a:r>
              <a:rPr lang="en-US" sz="703" dirty="0">
                <a:solidFill>
                  <a:srgbClr val="73917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文件 × 双信道 = </a:t>
            </a:r>
            <a:pPr algn="l" indent="0" marL="0">
              <a:lnSpc>
                <a:spcPts val="1200"/>
              </a:lnSpc>
              <a:buNone/>
            </a:pPr>
            <a:r>
              <a:rPr lang="en-US" sz="703" dirty="0">
                <a:solidFill>
                  <a:srgbClr val="73917F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210</a:t>
            </a:r>
            <a:pPr algn="l" indent="0" marL="0">
              <a:lnSpc>
                <a:spcPts val="1200"/>
              </a:lnSpc>
              <a:buNone/>
            </a:pPr>
            <a:r>
              <a:rPr lang="en-US" sz="703" dirty="0">
                <a:solidFill>
                  <a:srgbClr val="73917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条判决 · 宽带 </a:t>
            </a:r>
            <a:pPr algn="l" indent="0" marL="0">
              <a:lnSpc>
                <a:spcPts val="1200"/>
              </a:lnSpc>
              <a:buNone/>
            </a:pPr>
            <a:r>
              <a:rPr lang="en-US" sz="703" dirty="0">
                <a:solidFill>
                  <a:srgbClr val="73917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Acc</a:t>
            </a:r>
            <a:pPr algn="l" indent="0" marL="0">
              <a:lnSpc>
                <a:spcPts val="1200"/>
              </a:lnSpc>
              <a:buNone/>
            </a:pPr>
            <a:r>
              <a:rPr lang="en-US" sz="703" dirty="0">
                <a:solidFill>
                  <a:srgbClr val="73917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pPr algn="l" indent="0" marL="0">
              <a:lnSpc>
                <a:spcPts val="1200"/>
              </a:lnSpc>
              <a:buNone/>
            </a:pPr>
            <a:r>
              <a:rPr lang="en-US" sz="800" dirty="0">
                <a:solidFill>
                  <a:srgbClr val="73917F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0.876</a:t>
            </a:r>
            <a:pPr algn="l" indent="0" marL="0">
              <a:lnSpc>
                <a:spcPts val="1200"/>
              </a:lnSpc>
              <a:buNone/>
            </a:pPr>
            <a:r>
              <a:rPr lang="en-US" sz="703" dirty="0">
                <a:solidFill>
                  <a:srgbClr val="73917F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 / F1 </a:t>
            </a:r>
            <a:pPr algn="l" indent="0" marL="0">
              <a:lnSpc>
                <a:spcPts val="1200"/>
              </a:lnSpc>
              <a:buNone/>
            </a:pPr>
            <a:r>
              <a:rPr lang="en-US" sz="800" dirty="0">
                <a:solidFill>
                  <a:srgbClr val="73917F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0.917</a:t>
            </a:r>
            <a:pPr algn="l" indent="0" marL="0">
              <a:lnSpc>
                <a:spcPts val="1200"/>
              </a:lnSpc>
              <a:buNone/>
            </a:pPr>
            <a:r>
              <a:rPr lang="en-US" sz="703" dirty="0">
                <a:solidFill>
                  <a:srgbClr val="73917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· 单窗 </a:t>
            </a:r>
            <a:pPr algn="l" indent="0" marL="0">
              <a:lnSpc>
                <a:spcPts val="1200"/>
              </a:lnSpc>
              <a:buNone/>
            </a:pPr>
            <a:r>
              <a:rPr lang="en-US" sz="703" dirty="0">
                <a:solidFill>
                  <a:srgbClr val="73917F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P99</a:t>
            </a:r>
            <a:pPr algn="l" indent="0" marL="0">
              <a:lnSpc>
                <a:spcPts val="1200"/>
              </a:lnSpc>
              <a:buNone/>
            </a:pPr>
            <a:r>
              <a:rPr lang="en-US" sz="703" dirty="0">
                <a:solidFill>
                  <a:srgbClr val="73917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pPr algn="l" indent="0" marL="0">
              <a:lnSpc>
                <a:spcPts val="1200"/>
              </a:lnSpc>
              <a:buNone/>
            </a:pPr>
            <a:r>
              <a:rPr lang="en-US" sz="800" dirty="0">
                <a:solidFill>
                  <a:srgbClr val="73917F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9.15ms</a:t>
            </a:r>
            <a:pPr algn="l" indent="0" marL="0">
              <a:lnSpc>
                <a:spcPts val="1200"/>
              </a:lnSpc>
              <a:buNone/>
            </a:pPr>
            <a:r>
              <a:rPr lang="en-US" sz="703" dirty="0">
                <a:solidFill>
                  <a:srgbClr val="73917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· 详见《系统测试报告》</a:t>
            </a:r>
            <a:endParaRPr lang="en-US" sz="703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14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71500" y="400050"/>
            <a:ext cx="7883463" cy="1504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7"/>
              </a:lnSpc>
              <a:buNone/>
            </a:pPr>
            <a:r>
              <a:rPr lang="en-US" sz="731" spc="205" kern="0" dirty="0">
                <a:solidFill>
                  <a:srgbClr val="73917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创新点</a:t>
            </a:r>
            <a:endParaRPr lang="en-US" sz="731" dirty="0"/>
          </a:p>
        </p:txBody>
      </p:sp>
      <p:sp>
        <p:nvSpPr>
          <p:cNvPr id="3" name="Text 1"/>
          <p:cNvSpPr/>
          <p:nvPr/>
        </p:nvSpPr>
        <p:spPr>
          <a:xfrm>
            <a:off x="8459740" y="407194"/>
            <a:ext cx="184221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13"/>
              </a:lnSpc>
              <a:buNone/>
            </a:pPr>
            <a:r>
              <a:rPr lang="en-US" sz="800" dirty="0">
                <a:solidFill>
                  <a:srgbClr val="73917F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08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571500" y="682228"/>
            <a:ext cx="8401050" cy="3563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99"/>
              </a:lnSpc>
              <a:buNone/>
            </a:pPr>
            <a:r>
              <a:rPr lang="en-US" sz="1856" b="1" dirty="0">
                <a:solidFill>
                  <a:srgbClr val="EAF6E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最想说的一个：</a:t>
            </a:r>
            <a:pPr algn="l" indent="0" marL="0">
              <a:lnSpc>
                <a:spcPts val="2599"/>
              </a:lnSpc>
              <a:buNone/>
            </a:pPr>
            <a:r>
              <a:rPr lang="en-US" sz="1856" b="1" dirty="0">
                <a:solidFill>
                  <a:srgbClr val="34D3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把检测搬进通话里</a:t>
            </a:r>
            <a:endParaRPr lang="en-US" sz="1856" dirty="0"/>
          </a:p>
        </p:txBody>
      </p:sp>
      <p:sp>
        <p:nvSpPr>
          <p:cNvPr id="5" name="Text 3"/>
          <p:cNvSpPr/>
          <p:nvPr/>
        </p:nvSpPr>
        <p:spPr>
          <a:xfrm>
            <a:off x="571500" y="1514475"/>
            <a:ext cx="4000500" cy="532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41"/>
              </a:lnSpc>
              <a:buNone/>
            </a:pPr>
            <a:r>
              <a:rPr lang="en-US" sz="1294" b="1" dirty="0">
                <a:solidFill>
                  <a:srgbClr val="EAF6E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从离线文件检测，</a:t>
            </a:r>
            <a:endParaRPr lang="en-US" sz="1294" dirty="0"/>
          </a:p>
          <a:p>
            <a:pPr algn="l" indent="0" marL="0">
              <a:lnSpc>
                <a:spcPts val="1941"/>
              </a:lnSpc>
              <a:buNone/>
            </a:pPr>
            <a:r>
              <a:rPr lang="en-US" sz="1294" b="1" dirty="0">
                <a:solidFill>
                  <a:srgbClr val="EAF6E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到通话级实时流式</a:t>
            </a:r>
            <a:endParaRPr lang="en-US" sz="1294" dirty="0"/>
          </a:p>
        </p:txBody>
      </p:sp>
      <p:sp>
        <p:nvSpPr>
          <p:cNvPr id="6" name="Text 4"/>
          <p:cNvSpPr/>
          <p:nvPr/>
        </p:nvSpPr>
        <p:spPr>
          <a:xfrm>
            <a:off x="571500" y="2121694"/>
            <a:ext cx="4000500" cy="3995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57"/>
              </a:lnSpc>
              <a:buNone/>
            </a:pPr>
            <a:r>
              <a:rPr lang="en-US" sz="788" dirty="0">
                <a:solidFill>
                  <a:srgbClr val="A8CC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既有研究与同方向获奖作品，做的都是「事后检测一段文件」。 声盾的滑窗流式管线，边通话、边判决、检出即告警 —— </a:t>
            </a:r>
            <a:pPr algn="l" indent="0" marL="0">
              <a:lnSpc>
                <a:spcPts val="1457"/>
              </a:lnSpc>
              <a:buNone/>
            </a:pPr>
            <a:r>
              <a:rPr lang="en-US" sz="788" dirty="0">
                <a:solidFill>
                  <a:srgbClr val="EAF6E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提前一分钟的告警，可能就直接拦下一笔转账。</a:t>
            </a:r>
            <a:endParaRPr lang="en-US" sz="788" dirty="0"/>
          </a:p>
        </p:txBody>
      </p:sp>
      <p:sp>
        <p:nvSpPr>
          <p:cNvPr id="7" name="Text 5"/>
          <p:cNvSpPr/>
          <p:nvPr/>
        </p:nvSpPr>
        <p:spPr>
          <a:xfrm>
            <a:off x="571500" y="4150519"/>
            <a:ext cx="1387316" cy="29403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34D399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RTF&lt;0.015</a:t>
            </a:r>
            <a:endParaRPr lang="en-US" sz="1575" dirty="0"/>
          </a:p>
        </p:txBody>
      </p:sp>
      <p:sp>
        <p:nvSpPr>
          <p:cNvPr id="8" name="Text 6"/>
          <p:cNvSpPr/>
          <p:nvPr/>
        </p:nvSpPr>
        <p:spPr>
          <a:xfrm>
            <a:off x="571500" y="4471988"/>
            <a:ext cx="1270261" cy="14401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13"/>
              </a:lnSpc>
              <a:buNone/>
            </a:pPr>
            <a:r>
              <a:rPr lang="en-US" sz="700" dirty="0">
                <a:solidFill>
                  <a:srgbClr val="73917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纯 </a:t>
            </a:r>
            <a:pPr algn="l" indent="0" marL="0">
              <a:lnSpc>
                <a:spcPts val="1013"/>
              </a:lnSpc>
              <a:buNone/>
            </a:pPr>
            <a:r>
              <a:rPr lang="en-US" sz="700" dirty="0">
                <a:solidFill>
                  <a:srgbClr val="73917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CPU</a:t>
            </a:r>
            <a:pPr algn="l" indent="0" marL="0">
              <a:lnSpc>
                <a:spcPts val="1013"/>
              </a:lnSpc>
              <a:buNone/>
            </a:pPr>
            <a:r>
              <a:rPr lang="en-US" sz="700" dirty="0">
                <a:solidFill>
                  <a:srgbClr val="73917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，普通终端可部署</a:t>
            </a:r>
            <a:endParaRPr lang="en-US" sz="700" dirty="0"/>
          </a:p>
        </p:txBody>
      </p:sp>
      <p:sp>
        <p:nvSpPr>
          <p:cNvPr id="9" name="Text 7"/>
          <p:cNvSpPr/>
          <p:nvPr/>
        </p:nvSpPr>
        <p:spPr>
          <a:xfrm>
            <a:off x="1941091" y="4150519"/>
            <a:ext cx="1973549" cy="29403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EAF6EF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2s</a:t>
            </a:r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EAF6E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窗 / </a:t>
            </a:r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EAF6EF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1s</a:t>
            </a:r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EAF6E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步进</a:t>
            </a:r>
            <a:endParaRPr lang="en-US" sz="1575" dirty="0"/>
          </a:p>
        </p:txBody>
      </p:sp>
      <p:sp>
        <p:nvSpPr>
          <p:cNvPr id="10" name="Text 8"/>
          <p:cNvSpPr/>
          <p:nvPr/>
        </p:nvSpPr>
        <p:spPr>
          <a:xfrm>
            <a:off x="1941091" y="4471988"/>
            <a:ext cx="2155412" cy="14401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13"/>
              </a:lnSpc>
              <a:buNone/>
            </a:pPr>
            <a:r>
              <a:rPr lang="en-US" sz="700" dirty="0">
                <a:solidFill>
                  <a:srgbClr val="73917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逐窗置信度实时刷新</a:t>
            </a:r>
            <a:endParaRPr lang="en-US" sz="700" dirty="0"/>
          </a:p>
        </p:txBody>
      </p:sp>
      <p:sp>
        <p:nvSpPr>
          <p:cNvPr id="11" name="Shape 9"/>
          <p:cNvSpPr/>
          <p:nvPr/>
        </p:nvSpPr>
        <p:spPr>
          <a:xfrm>
            <a:off x="5000625" y="1518047"/>
            <a:ext cx="3571875" cy="0"/>
          </a:xfrm>
          <a:prstGeom prst="line">
            <a:avLst/>
          </a:prstGeom>
          <a:noFill/>
          <a:ln w="7144">
            <a:solidFill>
              <a:srgbClr val="34D39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000625" y="1621631"/>
            <a:ext cx="3571875" cy="2025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77"/>
              </a:lnSpc>
              <a:buNone/>
            </a:pPr>
            <a:r>
              <a:rPr lang="en-US" sz="984" b="1" dirty="0">
                <a:solidFill>
                  <a:srgbClr val="EAF6E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可解释引擎 + 数据校准</a:t>
            </a:r>
            <a:endParaRPr lang="en-US" sz="984" dirty="0"/>
          </a:p>
        </p:txBody>
      </p:sp>
      <p:sp>
        <p:nvSpPr>
          <p:cNvPr id="13" name="Text 11"/>
          <p:cNvSpPr/>
          <p:nvPr/>
        </p:nvSpPr>
        <p:spPr>
          <a:xfrm>
            <a:off x="5000625" y="1859161"/>
            <a:ext cx="3571875" cy="3036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95"/>
              </a:lnSpc>
              <a:buNone/>
            </a:pPr>
            <a:r>
              <a:rPr lang="en-US" sz="703" dirty="0">
                <a:solidFill>
                  <a:srgbClr val="A8CC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判决可展开为八维特征对自然先验的偏离；校准流程主动证伪无效特征，可随样本扩展重拟合。</a:t>
            </a:r>
            <a:endParaRPr lang="en-US" sz="703" dirty="0"/>
          </a:p>
        </p:txBody>
      </p:sp>
      <p:sp>
        <p:nvSpPr>
          <p:cNvPr id="14" name="Shape 12"/>
          <p:cNvSpPr/>
          <p:nvPr/>
        </p:nvSpPr>
        <p:spPr>
          <a:xfrm>
            <a:off x="5000625" y="2736949"/>
            <a:ext cx="3571875" cy="0"/>
          </a:xfrm>
          <a:prstGeom prst="line">
            <a:avLst/>
          </a:prstGeom>
          <a:noFill/>
          <a:ln w="7144">
            <a:solidFill>
              <a:srgbClr val="34D39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000625" y="2840534"/>
            <a:ext cx="3571875" cy="2025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77"/>
              </a:lnSpc>
              <a:buNone/>
            </a:pPr>
            <a:r>
              <a:rPr lang="en-US" sz="984" b="1" dirty="0">
                <a:solidFill>
                  <a:srgbClr val="EAF6E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检测—告警—存证—报告闭环</a:t>
            </a:r>
            <a:endParaRPr lang="en-US" sz="984" dirty="0"/>
          </a:p>
        </p:txBody>
      </p:sp>
      <p:sp>
        <p:nvSpPr>
          <p:cNvPr id="16" name="Text 14"/>
          <p:cNvSpPr/>
          <p:nvPr/>
        </p:nvSpPr>
        <p:spPr>
          <a:xfrm>
            <a:off x="5000625" y="3078063"/>
            <a:ext cx="3571875" cy="3036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95"/>
              </a:lnSpc>
              <a:buNone/>
            </a:pPr>
            <a:r>
              <a:rPr lang="en-US" sz="703" dirty="0">
                <a:solidFill>
                  <a:srgbClr val="A8CC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四级风险分级、可疑片段时间轴、</a:t>
            </a:r>
            <a:pPr algn="l" indent="0" marL="0">
              <a:lnSpc>
                <a:spcPts val="1195"/>
              </a:lnSpc>
              <a:buNone/>
            </a:pPr>
            <a:r>
              <a:rPr lang="en-US" sz="703" dirty="0">
                <a:solidFill>
                  <a:srgbClr val="A8CCB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SHA</a:t>
            </a:r>
            <a:pPr algn="l" indent="0" marL="0">
              <a:lnSpc>
                <a:spcPts val="1195"/>
              </a:lnSpc>
              <a:buNone/>
            </a:pPr>
            <a:r>
              <a:rPr lang="en-US" sz="703" dirty="0">
                <a:solidFill>
                  <a:srgbClr val="A8CCB8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-256</a:t>
            </a:r>
            <a:pPr algn="l" indent="0" marL="0">
              <a:lnSpc>
                <a:spcPts val="1195"/>
              </a:lnSpc>
              <a:buNone/>
            </a:pPr>
            <a:r>
              <a:rPr lang="en-US" sz="703" dirty="0">
                <a:solidFill>
                  <a:srgbClr val="A8CC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证据链、案件编号与 </a:t>
            </a:r>
            <a:pPr algn="l" indent="0" marL="0">
              <a:lnSpc>
                <a:spcPts val="1195"/>
              </a:lnSpc>
              <a:buNone/>
            </a:pPr>
            <a:r>
              <a:rPr lang="en-US" sz="703" dirty="0">
                <a:solidFill>
                  <a:srgbClr val="A8CCB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PDF</a:t>
            </a:r>
            <a:pPr algn="l" indent="0" marL="0">
              <a:lnSpc>
                <a:spcPts val="1195"/>
              </a:lnSpc>
              <a:buNone/>
            </a:pPr>
            <a:r>
              <a:rPr lang="en-US" sz="703" dirty="0">
                <a:solidFill>
                  <a:srgbClr val="A8CC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核验报告——结论无须二次加工即可进入举报协查。</a:t>
            </a:r>
            <a:endParaRPr lang="en-US" sz="703" dirty="0"/>
          </a:p>
        </p:txBody>
      </p:sp>
      <p:sp>
        <p:nvSpPr>
          <p:cNvPr id="17" name="Shape 15"/>
          <p:cNvSpPr/>
          <p:nvPr/>
        </p:nvSpPr>
        <p:spPr>
          <a:xfrm>
            <a:off x="5000625" y="3955852"/>
            <a:ext cx="3571875" cy="0"/>
          </a:xfrm>
          <a:prstGeom prst="line">
            <a:avLst/>
          </a:prstGeom>
          <a:noFill/>
          <a:ln w="7144">
            <a:solidFill>
              <a:srgbClr val="34D39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000625" y="4059436"/>
            <a:ext cx="3571875" cy="2025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77"/>
              </a:lnSpc>
              <a:buNone/>
            </a:pPr>
            <a:r>
              <a:rPr lang="en-US" sz="984" b="1" dirty="0">
                <a:solidFill>
                  <a:srgbClr val="EAF6E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现场自证的双哈希锚定</a:t>
            </a:r>
            <a:endParaRPr lang="en-US" sz="984" dirty="0"/>
          </a:p>
        </p:txBody>
      </p:sp>
      <p:sp>
        <p:nvSpPr>
          <p:cNvPr id="19" name="Text 17"/>
          <p:cNvSpPr/>
          <p:nvPr/>
        </p:nvSpPr>
        <p:spPr>
          <a:xfrm>
            <a:off x="5000625" y="4296966"/>
            <a:ext cx="3571875" cy="3036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95"/>
              </a:lnSpc>
              <a:buNone/>
            </a:pPr>
            <a:r>
              <a:rPr lang="en-US" sz="703" dirty="0">
                <a:solidFill>
                  <a:srgbClr val="A8CC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合成挑战把 </a:t>
            </a:r>
            <a:pPr algn="l" indent="0" marL="0">
              <a:lnSpc>
                <a:spcPts val="1195"/>
              </a:lnSpc>
              <a:buNone/>
            </a:pPr>
            <a:r>
              <a:rPr lang="en-US" sz="703" dirty="0">
                <a:solidFill>
                  <a:srgbClr val="A8CCB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TTS</a:t>
            </a:r>
            <a:pPr algn="l" indent="0" marL="0">
              <a:lnSpc>
                <a:spcPts val="1195"/>
              </a:lnSpc>
              <a:buNone/>
            </a:pPr>
            <a:r>
              <a:rPr lang="en-US" sz="703" dirty="0">
                <a:solidFill>
                  <a:srgbClr val="A8CC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原始输出与分析副本分别哈希入库，「这份音频确由平台现场生成」无法事后构造。</a:t>
            </a:r>
            <a:endParaRPr lang="en-US" sz="703" dirty="0"/>
          </a:p>
        </p:txBody>
      </p:sp>
      <p:sp>
        <p:nvSpPr>
          <p:cNvPr id="20" name="Shape 18"/>
          <p:cNvSpPr/>
          <p:nvPr/>
        </p:nvSpPr>
        <p:spPr>
          <a:xfrm>
            <a:off x="571500" y="4563070"/>
            <a:ext cx="8001000" cy="0"/>
          </a:xfrm>
          <a:prstGeom prst="line">
            <a:avLst/>
          </a:prstGeom>
          <a:noFill/>
          <a:ln w="7144">
            <a:solidFill>
              <a:srgbClr val="34D39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71500" y="4666655"/>
            <a:ext cx="8001000" cy="1339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5"/>
              </a:lnSpc>
              <a:buNone/>
            </a:pPr>
            <a:r>
              <a:rPr lang="en-US" sz="703" dirty="0">
                <a:solidFill>
                  <a:srgbClr val="73917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三个副点各服务主点：可解释让结论可信，闭环让结论可用，锚定让演示可验。</a:t>
            </a:r>
            <a:endParaRPr lang="en-US" sz="703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14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71500" y="400050"/>
            <a:ext cx="7883463" cy="1504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7"/>
              </a:lnSpc>
              <a:buNone/>
            </a:pPr>
            <a:r>
              <a:rPr lang="en-US" sz="731" spc="205" kern="0" dirty="0">
                <a:solidFill>
                  <a:srgbClr val="73917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演示动线</a:t>
            </a:r>
            <a:endParaRPr lang="en-US" sz="731" dirty="0"/>
          </a:p>
        </p:txBody>
      </p:sp>
      <p:sp>
        <p:nvSpPr>
          <p:cNvPr id="3" name="Text 1"/>
          <p:cNvSpPr/>
          <p:nvPr/>
        </p:nvSpPr>
        <p:spPr>
          <a:xfrm>
            <a:off x="8459740" y="407194"/>
            <a:ext cx="184221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13"/>
              </a:lnSpc>
              <a:buNone/>
            </a:pPr>
            <a:r>
              <a:rPr lang="en-US" sz="800" dirty="0">
                <a:solidFill>
                  <a:srgbClr val="73917F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09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571500" y="682228"/>
            <a:ext cx="8572500" cy="3563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99"/>
              </a:lnSpc>
              <a:buNone/>
            </a:pPr>
            <a:r>
              <a:rPr lang="en-US" sz="1856" b="1" dirty="0">
                <a:solidFill>
                  <a:srgbClr val="EAF6E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待会儿的现场演示，就这三步</a:t>
            </a:r>
            <a:endParaRPr lang="en-US" sz="1856" dirty="0"/>
          </a:p>
        </p:txBody>
      </p:sp>
      <p:sp>
        <p:nvSpPr>
          <p:cNvPr id="5" name="Text 3"/>
          <p:cNvSpPr/>
          <p:nvPr/>
        </p:nvSpPr>
        <p:spPr>
          <a:xfrm>
            <a:off x="575072" y="1403747"/>
            <a:ext cx="7993856" cy="2421731"/>
          </a:xfrm>
          <a:prstGeom prst="roundRect">
            <a:avLst>
              <a:gd name="adj" fmla="val 3147"/>
            </a:avLst>
          </a:prstGeom>
          <a:solidFill>
            <a:srgbClr val="0D1712"/>
          </a:solidFill>
          <a:ln w="7144">
            <a:solidFill>
              <a:srgbClr val="34D39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6" name="Image 0" descr="/tmp/h2p-fit-1793158517346-2f2ou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8644" y="1407319"/>
            <a:ext cx="7986713" cy="216991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78644" y="3577233"/>
            <a:ext cx="7986713" cy="244673"/>
          </a:xfrm>
          <a:prstGeom prst="rect">
            <a:avLst/>
          </a:prstGeom>
          <a:noFill/>
          <a:ln/>
        </p:spPr>
        <p:txBody>
          <a:bodyPr wrap="square" lIns="100013" tIns="57150" rIns="100013" bIns="57150" rtlCol="0" anchor="t"/>
          <a:lstStyle/>
          <a:p>
            <a:pPr algn="l" indent="0" marL="0">
              <a:lnSpc>
                <a:spcPts val="970"/>
              </a:lnSpc>
              <a:buNone/>
            </a:pPr>
            <a:r>
              <a:rPr lang="en-US" sz="700" dirty="0">
                <a:solidFill>
                  <a:srgbClr val="73917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声盾单页工作台：实时鉴听 / 文件检测 / 合成挑战三种模式，全程零跳转</a:t>
            </a:r>
            <a:endParaRPr lang="en-US" sz="700" dirty="0"/>
          </a:p>
        </p:txBody>
      </p:sp>
      <p:sp>
        <p:nvSpPr>
          <p:cNvPr id="8" name="Text 5"/>
          <p:cNvSpPr/>
          <p:nvPr/>
        </p:nvSpPr>
        <p:spPr>
          <a:xfrm>
            <a:off x="571500" y="4018359"/>
            <a:ext cx="178951" cy="5362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63"/>
              </a:lnSpc>
              <a:buNone/>
            </a:pPr>
            <a:r>
              <a:rPr lang="en-US" sz="1463" b="1" dirty="0">
                <a:solidFill>
                  <a:srgbClr val="34D399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1</a:t>
            </a:r>
            <a:endParaRPr lang="en-US" sz="1463" dirty="0"/>
          </a:p>
        </p:txBody>
      </p:sp>
      <p:sp>
        <p:nvSpPr>
          <p:cNvPr id="9" name="Text 6"/>
          <p:cNvSpPr/>
          <p:nvPr/>
        </p:nvSpPr>
        <p:spPr>
          <a:xfrm>
            <a:off x="797644" y="4018359"/>
            <a:ext cx="2825639" cy="17437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308"/>
              </a:lnSpc>
              <a:buNone/>
            </a:pPr>
            <a:r>
              <a:rPr lang="en-US" sz="872" b="1" dirty="0">
                <a:solidFill>
                  <a:srgbClr val="EAF6E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现场合成挑战</a:t>
            </a:r>
            <a:endParaRPr lang="en-US" sz="872" dirty="0"/>
          </a:p>
        </p:txBody>
      </p:sp>
      <p:sp>
        <p:nvSpPr>
          <p:cNvPr id="10" name="Text 7"/>
          <p:cNvSpPr/>
          <p:nvPr/>
        </p:nvSpPr>
        <p:spPr>
          <a:xfrm>
            <a:off x="797644" y="4220170"/>
            <a:ext cx="2207530" cy="318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60"/>
              </a:lnSpc>
              <a:buNone/>
            </a:pPr>
            <a:r>
              <a:rPr lang="en-US" sz="703" dirty="0">
                <a:solidFill>
                  <a:srgbClr val="A8CC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评委任意输入文本，服务端当场 </a:t>
            </a:r>
            <a:pPr algn="l" indent="0" marL="0">
              <a:lnSpc>
                <a:spcPts val="1160"/>
              </a:lnSpc>
              <a:buNone/>
            </a:pPr>
            <a:r>
              <a:rPr lang="en-US" sz="703" dirty="0">
                <a:solidFill>
                  <a:srgbClr val="A8CCB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TTS</a:t>
            </a:r>
            <a:pPr algn="l" indent="0" marL="0">
              <a:lnSpc>
                <a:spcPts val="1160"/>
              </a:lnSpc>
              <a:buNone/>
            </a:pPr>
            <a:r>
              <a:rPr lang="en-US" sz="703" dirty="0">
                <a:solidFill>
                  <a:srgbClr val="A8CC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合成诈骗话术语音</a:t>
            </a:r>
            <a:endParaRPr lang="en-US" sz="703" dirty="0"/>
          </a:p>
        </p:txBody>
      </p:sp>
      <p:sp>
        <p:nvSpPr>
          <p:cNvPr id="11" name="Shape 8"/>
          <p:cNvSpPr/>
          <p:nvPr/>
        </p:nvSpPr>
        <p:spPr>
          <a:xfrm>
            <a:off x="3180197" y="4018359"/>
            <a:ext cx="0" cy="496491"/>
          </a:xfrm>
          <a:prstGeom prst="line">
            <a:avLst/>
          </a:prstGeom>
          <a:noFill/>
          <a:ln w="7144">
            <a:solidFill>
              <a:srgbClr val="34D399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3355218" y="4018359"/>
            <a:ext cx="178951" cy="4964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63"/>
              </a:lnSpc>
              <a:buNone/>
            </a:pPr>
            <a:r>
              <a:rPr lang="en-US" sz="1463" b="1" dirty="0">
                <a:solidFill>
                  <a:srgbClr val="34D399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2</a:t>
            </a:r>
            <a:endParaRPr lang="en-US" sz="1463" dirty="0"/>
          </a:p>
        </p:txBody>
      </p:sp>
      <p:sp>
        <p:nvSpPr>
          <p:cNvPr id="13" name="Text 10"/>
          <p:cNvSpPr/>
          <p:nvPr/>
        </p:nvSpPr>
        <p:spPr>
          <a:xfrm>
            <a:off x="3581363" y="4018359"/>
            <a:ext cx="2207530" cy="17437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308"/>
              </a:lnSpc>
              <a:buNone/>
            </a:pPr>
            <a:r>
              <a:rPr lang="en-US" sz="872" b="1" dirty="0">
                <a:solidFill>
                  <a:srgbClr val="EAF6E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实时鉴听</a:t>
            </a:r>
            <a:endParaRPr lang="en-US" sz="872" dirty="0"/>
          </a:p>
        </p:txBody>
      </p:sp>
      <p:sp>
        <p:nvSpPr>
          <p:cNvPr id="14" name="Text 11"/>
          <p:cNvSpPr/>
          <p:nvPr/>
        </p:nvSpPr>
        <p:spPr>
          <a:xfrm>
            <a:off x="3581363" y="4220170"/>
            <a:ext cx="2207530" cy="29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60"/>
              </a:lnSpc>
              <a:buNone/>
            </a:pPr>
            <a:r>
              <a:rPr lang="en-US" sz="703" dirty="0">
                <a:solidFill>
                  <a:srgbClr val="A8CC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外放同时开启鉴听：波形滚动、逐窗置信度刷新、高置信片段红色告警 + 提示音</a:t>
            </a:r>
            <a:endParaRPr lang="en-US" sz="703" dirty="0"/>
          </a:p>
        </p:txBody>
      </p:sp>
      <p:sp>
        <p:nvSpPr>
          <p:cNvPr id="15" name="Shape 12"/>
          <p:cNvSpPr/>
          <p:nvPr/>
        </p:nvSpPr>
        <p:spPr>
          <a:xfrm>
            <a:off x="5963915" y="4018359"/>
            <a:ext cx="0" cy="496491"/>
          </a:xfrm>
          <a:prstGeom prst="line">
            <a:avLst/>
          </a:prstGeom>
          <a:noFill/>
          <a:ln w="7144">
            <a:solidFill>
              <a:srgbClr val="34D399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138937" y="4018359"/>
            <a:ext cx="178951" cy="4964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63"/>
              </a:lnSpc>
              <a:buNone/>
            </a:pPr>
            <a:r>
              <a:rPr lang="en-US" sz="1463" b="1" dirty="0">
                <a:solidFill>
                  <a:srgbClr val="34D399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3</a:t>
            </a:r>
            <a:endParaRPr lang="en-US" sz="1463" dirty="0"/>
          </a:p>
        </p:txBody>
      </p:sp>
      <p:sp>
        <p:nvSpPr>
          <p:cNvPr id="17" name="Text 14"/>
          <p:cNvSpPr/>
          <p:nvPr/>
        </p:nvSpPr>
        <p:spPr>
          <a:xfrm>
            <a:off x="6365081" y="4018359"/>
            <a:ext cx="2207530" cy="17437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308"/>
              </a:lnSpc>
              <a:buNone/>
            </a:pPr>
            <a:r>
              <a:rPr lang="en-US" sz="872" b="1" dirty="0">
                <a:solidFill>
                  <a:srgbClr val="EAF6E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存证与报告</a:t>
            </a:r>
            <a:endParaRPr lang="en-US" sz="872" dirty="0"/>
          </a:p>
        </p:txBody>
      </p:sp>
      <p:sp>
        <p:nvSpPr>
          <p:cNvPr id="18" name="Text 15"/>
          <p:cNvSpPr/>
          <p:nvPr/>
        </p:nvSpPr>
        <p:spPr>
          <a:xfrm>
            <a:off x="6365081" y="4220170"/>
            <a:ext cx="2207530" cy="29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60"/>
              </a:lnSpc>
              <a:buNone/>
            </a:pPr>
            <a:r>
              <a:rPr lang="en-US" sz="703" dirty="0">
                <a:solidFill>
                  <a:srgbClr val="A8CCB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SHA</a:t>
            </a:r>
            <a:pPr algn="l" indent="0" marL="0">
              <a:lnSpc>
                <a:spcPts val="1160"/>
              </a:lnSpc>
              <a:buNone/>
            </a:pPr>
            <a:r>
              <a:rPr lang="en-US" sz="703" dirty="0">
                <a:solidFill>
                  <a:srgbClr val="A8CCB8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-256</a:t>
            </a:r>
            <a:pPr algn="l" indent="0" marL="0">
              <a:lnSpc>
                <a:spcPts val="1160"/>
              </a:lnSpc>
              <a:buNone/>
            </a:pPr>
            <a:r>
              <a:rPr lang="en-US" sz="703" dirty="0">
                <a:solidFill>
                  <a:srgbClr val="A8CC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自动固定、生成案件编号 </a:t>
            </a:r>
            <a:pPr algn="l" indent="0" marL="0">
              <a:lnSpc>
                <a:spcPts val="1160"/>
              </a:lnSpc>
              <a:buNone/>
            </a:pPr>
            <a:r>
              <a:rPr lang="en-US" sz="703" dirty="0">
                <a:solidFill>
                  <a:srgbClr val="A8CCB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SS</a:t>
            </a:r>
            <a:pPr algn="l" indent="0" marL="0">
              <a:lnSpc>
                <a:spcPts val="1160"/>
              </a:lnSpc>
              <a:buNone/>
            </a:pPr>
            <a:r>
              <a:rPr lang="en-US" sz="703" dirty="0">
                <a:solidFill>
                  <a:srgbClr val="A8CC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-日期-序号、导出含时间轴与逐窗明细的核验报告</a:t>
            </a:r>
            <a:endParaRPr lang="en-US" sz="703" dirty="0"/>
          </a:p>
        </p:txBody>
      </p:sp>
      <p:sp>
        <p:nvSpPr>
          <p:cNvPr id="19" name="Shape 16"/>
          <p:cNvSpPr/>
          <p:nvPr/>
        </p:nvSpPr>
        <p:spPr>
          <a:xfrm>
            <a:off x="571500" y="4534495"/>
            <a:ext cx="8001000" cy="0"/>
          </a:xfrm>
          <a:prstGeom prst="line">
            <a:avLst/>
          </a:prstGeom>
          <a:noFill/>
          <a:ln w="7144">
            <a:solidFill>
              <a:srgbClr val="34D399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571500" y="4666655"/>
            <a:ext cx="6593346" cy="1339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5"/>
              </a:lnSpc>
              <a:buNone/>
            </a:pPr>
            <a:r>
              <a:rPr lang="en-US" sz="703" dirty="0">
                <a:solidFill>
                  <a:srgbClr val="73917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不依赖任何预置素材——文本是评委给的，音频是现场生成的</a:t>
            </a:r>
            <a:endParaRPr lang="en-US" sz="703" dirty="0"/>
          </a:p>
        </p:txBody>
      </p:sp>
      <p:sp>
        <p:nvSpPr>
          <p:cNvPr id="21" name="Text 18"/>
          <p:cNvSpPr/>
          <p:nvPr/>
        </p:nvSpPr>
        <p:spPr>
          <a:xfrm>
            <a:off x="7179134" y="4638080"/>
            <a:ext cx="1393366" cy="1625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66"/>
              </a:lnSpc>
              <a:buNone/>
            </a:pPr>
            <a:r>
              <a:rPr lang="en-US" sz="844" dirty="0">
                <a:solidFill>
                  <a:srgbClr val="EAF6E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欢迎各位</a:t>
            </a:r>
            <a:pPr algn="l" indent="0" marL="0">
              <a:lnSpc>
                <a:spcPts val="1266"/>
              </a:lnSpc>
              <a:buNone/>
            </a:pPr>
            <a:r>
              <a:rPr lang="en-US" sz="844" dirty="0">
                <a:solidFill>
                  <a:srgbClr val="34D3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亲手输入文本</a:t>
            </a:r>
            <a:pPr algn="l" indent="0" marL="0">
              <a:lnSpc>
                <a:spcPts val="1266"/>
              </a:lnSpc>
              <a:buNone/>
            </a:pPr>
            <a:r>
              <a:rPr lang="en-US" sz="844" dirty="0">
                <a:solidFill>
                  <a:srgbClr val="EAF6E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验证。</a:t>
            </a:r>
            <a:endParaRPr lang="en-US" sz="844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14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71500" y="400050"/>
            <a:ext cx="7883463" cy="1504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7"/>
              </a:lnSpc>
              <a:buNone/>
            </a:pPr>
            <a:r>
              <a:rPr lang="en-US" sz="731" spc="205" kern="0" dirty="0">
                <a:solidFill>
                  <a:srgbClr val="73917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与同方向获奖作品对比</a:t>
            </a:r>
            <a:endParaRPr lang="en-US" sz="731" dirty="0"/>
          </a:p>
        </p:txBody>
      </p:sp>
      <p:sp>
        <p:nvSpPr>
          <p:cNvPr id="3" name="Text 1"/>
          <p:cNvSpPr/>
          <p:nvPr/>
        </p:nvSpPr>
        <p:spPr>
          <a:xfrm>
            <a:off x="8459740" y="407194"/>
            <a:ext cx="184221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13"/>
              </a:lnSpc>
              <a:buNone/>
            </a:pPr>
            <a:r>
              <a:rPr lang="en-US" sz="800" dirty="0">
                <a:solidFill>
                  <a:srgbClr val="73917F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10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571500" y="682228"/>
            <a:ext cx="8401050" cy="3563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99"/>
              </a:lnSpc>
              <a:buNone/>
            </a:pPr>
            <a:r>
              <a:rPr lang="en-US" sz="1856" b="1" dirty="0">
                <a:solidFill>
                  <a:srgbClr val="EAF6E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同一道题，我们选择先解决</a:t>
            </a:r>
            <a:pPr algn="l" indent="0" marL="0">
              <a:lnSpc>
                <a:spcPts val="2599"/>
              </a:lnSpc>
              <a:buNone/>
            </a:pPr>
            <a:r>
              <a:rPr lang="en-US" sz="1856" b="1" dirty="0">
                <a:solidFill>
                  <a:srgbClr val="34D3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「通话中的那几秒」</a:t>
            </a:r>
            <a:endParaRPr lang="en-US" sz="1856" dirty="0"/>
          </a:p>
        </p:txBody>
      </p:sp>
      <p:sp>
        <p:nvSpPr>
          <p:cNvPr id="5" name="Text 3"/>
          <p:cNvSpPr/>
          <p:nvPr/>
        </p:nvSpPr>
        <p:spPr>
          <a:xfrm>
            <a:off x="571500" y="1097905"/>
            <a:ext cx="6429375" cy="1957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27"/>
              </a:lnSpc>
              <a:buNone/>
            </a:pPr>
            <a:r>
              <a:rPr lang="en-US" sz="816" dirty="0">
                <a:solidFill>
                  <a:srgbClr val="A8CC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谛听、白泽都是值得尊敬的作品 —— 差异不在高下，在切入点：它们做「事后的文件」，声盾做「进行中的通话」。</a:t>
            </a:r>
            <a:endParaRPr lang="en-US" sz="816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1500" y="1771650"/>
          <a:ext cx="8001000" cy="914400"/>
        </p:xfrm>
        <a:graphic>
          <a:graphicData uri="http://schemas.openxmlformats.org/drawingml/2006/table">
            <a:tbl>
              <a:tblPr/>
              <a:tblGrid>
                <a:gridCol w="845641"/>
                <a:gridCol w="3164235"/>
                <a:gridCol w="1387339"/>
                <a:gridCol w="2603785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b="1" dirty="0">
                          <a:solidFill>
                            <a:srgbClr val="73917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对照维度</a:t>
                      </a:r>
                      <a:endParaRPr lang="en-US" sz="7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0" marR="128588" marT="128588" marB="7143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9" b="1" dirty="0">
                          <a:solidFill>
                            <a:srgbClr val="A8CCB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谛听 2023 · 国三</a:t>
                      </a:r>
                      <a:endParaRPr lang="en-US" sz="759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0" marR="128588" marT="128588" marB="7143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9" b="1" dirty="0">
                          <a:solidFill>
                            <a:srgbClr val="A8CCB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白泽 2022 · 国二</a:t>
                      </a:r>
                      <a:endParaRPr lang="en-US" sz="759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0" marR="128588" marT="128588" marB="7143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9" b="1" dirty="0">
                          <a:solidFill>
                            <a:srgbClr val="EAF6E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声盾 本作品</a:t>
                      </a:r>
                      <a:endParaRPr lang="en-US" sz="759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0" marR="128588" marT="128588" marB="7143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16" dirty="0">
                          <a:solidFill>
                            <a:srgbClr val="73917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检测对象</a:t>
                      </a:r>
                      <a:endParaRPr lang="en-US" sz="816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21444" marR="128588" marT="128588" marB="121444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16" dirty="0">
                          <a:solidFill>
                            <a:srgbClr val="A8CCB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离线音频文件</a:t>
                      </a:r>
                      <a:endParaRPr lang="en-US" sz="816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21444" marR="128588" marT="128588" marB="121444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16" dirty="0">
                          <a:solidFill>
                            <a:srgbClr val="A8CCB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深度伪造视频</a:t>
                      </a:r>
                      <a:endParaRPr lang="en-US" sz="816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21444" marR="128588" marT="128588" marB="121444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16" dirty="0">
                          <a:solidFill>
                            <a:srgbClr val="EAF6E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实时通话语音流</a:t>
                      </a:r>
                      <a:endParaRPr lang="en-US" sz="816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21444" marR="128588" marT="128588" marB="121444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16" dirty="0">
                          <a:solidFill>
                            <a:srgbClr val="73917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技术核心</a:t>
                      </a:r>
                      <a:endParaRPr lang="en-US" sz="816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21444" marR="128588" marT="128588" marB="121444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16" dirty="0">
                          <a:solidFill>
                            <a:srgbClr val="A8CCB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RawGAT-ST + AASIST + SE-Res2Net 三网络集成</a:t>
                      </a:r>
                      <a:endParaRPr lang="en-US" sz="816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21444" marR="128588" marT="128588" marB="121444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16" dirty="0">
                          <a:solidFill>
                            <a:srgbClr val="A8CCB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联邦学习训练范式</a:t>
                      </a:r>
                      <a:endParaRPr lang="en-US" sz="816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21444" marR="128588" marT="128588" marB="121444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16" dirty="0">
                          <a:solidFill>
                            <a:srgbClr val="EAF6E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可解释轻量引擎 + 流式滑窗 + 双端复核</a:t>
                      </a:r>
                      <a:endParaRPr lang="en-US" sz="816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21444" marR="128588" marT="128588" marB="121444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16" dirty="0">
                          <a:solidFill>
                            <a:srgbClr val="73917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业务形态</a:t>
                      </a:r>
                      <a:endParaRPr lang="en-US" sz="816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21444" marR="128588" marT="128588" marB="121444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16" dirty="0">
                          <a:solidFill>
                            <a:srgbClr val="A8CCB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事后检测，无业务闭环</a:t>
                      </a:r>
                      <a:endParaRPr lang="en-US" sz="816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21444" marR="128588" marT="128588" marB="121444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16" dirty="0">
                          <a:solidFill>
                            <a:srgbClr val="A8CCB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训练隐私保护视角</a:t>
                      </a:r>
                      <a:endParaRPr lang="en-US" sz="816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21444" marR="128588" marT="128588" marB="121444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16" dirty="0">
                          <a:solidFill>
                            <a:srgbClr val="EAF6E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检测 → 告警 → 存证 → 报告闭环</a:t>
                      </a:r>
                      <a:endParaRPr lang="en-US" sz="816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21444" marR="128588" marT="128588" marB="121444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16" dirty="0">
                          <a:solidFill>
                            <a:srgbClr val="73917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指标口径</a:t>
                      </a:r>
                      <a:endParaRPr lang="en-US" sz="816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21444" marR="128588" marT="128588" marB="121444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16" dirty="0">
                          <a:solidFill>
                            <a:srgbClr val="A8CCB8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EER 0.063%（ASVspoof2019 LA）</a:t>
                      </a:r>
                      <a:endParaRPr lang="en-US" sz="816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121444" marR="128588" marT="128588" marB="121444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16" dirty="0">
                          <a:solidFill>
                            <a:srgbClr val="A8CCB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论文级指标</a:t>
                      </a:r>
                      <a:endParaRPr lang="en-US" sz="816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21444" marR="128588" marT="128588" marB="121444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16" dirty="0">
                          <a:solidFill>
                            <a:srgbClr val="EAF6E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RTF 实测 + 校准集检出率 + EER 路线</a:t>
                      </a:r>
                      <a:endParaRPr lang="en-US" sz="816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21444" marR="128588" marT="128588" marB="121444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16" dirty="0">
                          <a:solidFill>
                            <a:srgbClr val="73917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部署要求</a:t>
                      </a:r>
                      <a:endParaRPr lang="en-US" sz="816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21444" marR="128588" marT="128588" marB="121444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16" dirty="0">
                          <a:solidFill>
                            <a:srgbClr val="A8CCB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服务器 GPU</a:t>
                      </a:r>
                      <a:endParaRPr lang="en-US" sz="816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21444" marR="128588" marT="128588" marB="121444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16" dirty="0">
                          <a:solidFill>
                            <a:srgbClr val="A8CCB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多方训练环境</a:t>
                      </a:r>
                      <a:endParaRPr lang="en-US" sz="816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21444" marR="128588" marT="128588" marB="121444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16" dirty="0">
                          <a:solidFill>
                            <a:srgbClr val="EAF6E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普通 CPU，浏览器即可</a:t>
                      </a:r>
                      <a:endParaRPr lang="en-US" sz="816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21444" marR="128588" marT="128588" marB="121444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71500" y="4563070"/>
            <a:ext cx="8001000" cy="0"/>
          </a:xfrm>
          <a:prstGeom prst="line">
            <a:avLst/>
          </a:prstGeom>
          <a:noFill/>
          <a:ln w="7144">
            <a:solidFill>
              <a:srgbClr val="34D399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71500" y="4666655"/>
            <a:ext cx="7558088" cy="1339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5"/>
              </a:lnSpc>
              <a:buNone/>
            </a:pPr>
            <a:r>
              <a:rPr lang="en-US" sz="703" dirty="0">
                <a:solidFill>
                  <a:srgbClr val="73917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深度引擎（</a:t>
            </a:r>
            <a:pPr algn="l" indent="0" marL="0">
              <a:lnSpc>
                <a:spcPts val="1055"/>
              </a:lnSpc>
              <a:buNone/>
            </a:pPr>
            <a:r>
              <a:rPr lang="en-US" sz="703" dirty="0">
                <a:solidFill>
                  <a:srgbClr val="73917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AASIST</a:t>
            </a:r>
            <a:pPr algn="l" indent="0" marL="0">
              <a:lnSpc>
                <a:spcPts val="1055"/>
              </a:lnSpc>
              <a:buNone/>
            </a:pPr>
            <a:r>
              <a:rPr lang="en-US" sz="703" dirty="0">
                <a:solidFill>
                  <a:srgbClr val="73917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</a:t>
            </a:r>
            <a:pPr algn="l" indent="0" marL="0">
              <a:lnSpc>
                <a:spcPts val="1055"/>
              </a:lnSpc>
              <a:buNone/>
            </a:pPr>
            <a:r>
              <a:rPr lang="en-US" sz="703" dirty="0">
                <a:solidFill>
                  <a:srgbClr val="73917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RawGAT-ST</a:t>
            </a:r>
            <a:pPr algn="l" indent="0" marL="0">
              <a:lnSpc>
                <a:spcPts val="1055"/>
              </a:lnSpc>
              <a:buNone/>
            </a:pPr>
            <a:r>
              <a:rPr lang="en-US" sz="703" dirty="0">
                <a:solidFill>
                  <a:srgbClr val="73917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）已列入 </a:t>
            </a:r>
            <a:pPr algn="l" indent="0" marL="0">
              <a:lnSpc>
                <a:spcPts val="1055"/>
              </a:lnSpc>
              <a:buNone/>
            </a:pPr>
            <a:r>
              <a:rPr lang="en-US" sz="703" dirty="0">
                <a:solidFill>
                  <a:srgbClr val="73917F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12</a:t>
            </a:r>
            <a:pPr algn="l" indent="0" marL="0">
              <a:lnSpc>
                <a:spcPts val="1055"/>
              </a:lnSpc>
              <a:buNone/>
            </a:pPr>
            <a:r>
              <a:rPr lang="en-US" sz="703" dirty="0">
                <a:solidFill>
                  <a:srgbClr val="73917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周计划——站在这些作品的肩膀上，而非替代它们</a:t>
            </a:r>
            <a:endParaRPr lang="en-US" sz="703" dirty="0"/>
          </a:p>
        </p:txBody>
      </p:sp>
      <p:sp>
        <p:nvSpPr>
          <p:cNvPr id="9" name="Text 6"/>
          <p:cNvSpPr/>
          <p:nvPr/>
        </p:nvSpPr>
        <p:spPr>
          <a:xfrm>
            <a:off x="8090297" y="4666655"/>
            <a:ext cx="535781" cy="1339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13"/>
              </a:lnSpc>
              <a:buNone/>
            </a:pPr>
            <a:r>
              <a:rPr lang="en-US" sz="675" dirty="0">
                <a:solidFill>
                  <a:srgbClr val="73917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详见路线页</a:t>
            </a:r>
            <a:endParaRPr lang="en-US" sz="675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14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71500" y="400050"/>
            <a:ext cx="7883463" cy="1504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7"/>
              </a:lnSpc>
              <a:buNone/>
            </a:pPr>
            <a:r>
              <a:rPr lang="en-US" sz="731" spc="205" kern="0" dirty="0">
                <a:solidFill>
                  <a:srgbClr val="73917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应用前景</a:t>
            </a:r>
            <a:endParaRPr lang="en-US" sz="731" dirty="0"/>
          </a:p>
        </p:txBody>
      </p:sp>
      <p:sp>
        <p:nvSpPr>
          <p:cNvPr id="3" name="Text 1"/>
          <p:cNvSpPr/>
          <p:nvPr/>
        </p:nvSpPr>
        <p:spPr>
          <a:xfrm>
            <a:off x="8459740" y="407194"/>
            <a:ext cx="184221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13"/>
              </a:lnSpc>
              <a:buNone/>
            </a:pPr>
            <a:r>
              <a:rPr lang="en-US" sz="800" dirty="0">
                <a:solidFill>
                  <a:srgbClr val="73917F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11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571500" y="682228"/>
            <a:ext cx="8401050" cy="3563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99"/>
              </a:lnSpc>
              <a:buNone/>
            </a:pPr>
            <a:r>
              <a:rPr lang="en-US" sz="1856" b="1" dirty="0">
                <a:solidFill>
                  <a:srgbClr val="EAF6E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先想清楚一位具体用户：家里的老人</a:t>
            </a:r>
            <a:endParaRPr lang="en-US" sz="1856" dirty="0"/>
          </a:p>
        </p:txBody>
      </p:sp>
      <p:sp>
        <p:nvSpPr>
          <p:cNvPr id="5" name="Text 3"/>
          <p:cNvSpPr/>
          <p:nvPr/>
        </p:nvSpPr>
        <p:spPr>
          <a:xfrm>
            <a:off x="571500" y="1471613"/>
            <a:ext cx="3857625" cy="8101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69"/>
              </a:lnSpc>
              <a:buNone/>
            </a:pPr>
            <a:r>
              <a:rPr lang="en-US" sz="1125" dirty="0">
                <a:solidFill>
                  <a:srgbClr val="EAF6E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王阿姨接到「儿子」的电话，</a:t>
            </a:r>
            <a:endParaRPr lang="en-US" sz="1125" dirty="0"/>
          </a:p>
          <a:p>
            <a:pPr algn="l" indent="0" marL="0">
              <a:lnSpc>
                <a:spcPts val="1969"/>
              </a:lnSpc>
              <a:buNone/>
            </a:pPr>
            <a:r>
              <a:rPr lang="en-US" sz="1125" dirty="0">
                <a:solidFill>
                  <a:srgbClr val="EAF6E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声音一模一样，开口就要钱。</a:t>
            </a:r>
            <a:endParaRPr lang="en-US" sz="1125" dirty="0"/>
          </a:p>
          <a:p>
            <a:pPr algn="l" indent="0" marL="0">
              <a:lnSpc>
                <a:spcPts val="1969"/>
              </a:lnSpc>
              <a:buNone/>
            </a:pPr>
            <a:r>
              <a:rPr lang="en-US" sz="1125" dirty="0">
                <a:solidFill>
                  <a:srgbClr val="34D3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如果她的手机里装着声盾 ——</a:t>
            </a:r>
            <a:endParaRPr lang="en-US" sz="1125" dirty="0"/>
          </a:p>
        </p:txBody>
      </p:sp>
      <p:sp>
        <p:nvSpPr>
          <p:cNvPr id="6" name="Text 4"/>
          <p:cNvSpPr/>
          <p:nvPr/>
        </p:nvSpPr>
        <p:spPr>
          <a:xfrm>
            <a:off x="571500" y="2350294"/>
            <a:ext cx="3857625" cy="3995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57"/>
              </a:lnSpc>
              <a:buNone/>
            </a:pPr>
            <a:r>
              <a:rPr lang="en-US" sz="788" dirty="0">
                <a:solidFill>
                  <a:srgbClr val="A8CC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接通后几秒，界面亮起黄色提示「存在可疑片段」；她挂断前， 证据已固定、编号已生成、报告可一键转发给子女或反诈专线。</a:t>
            </a:r>
            <a:endParaRPr lang="en-US" sz="788" dirty="0"/>
          </a:p>
        </p:txBody>
      </p:sp>
      <p:sp>
        <p:nvSpPr>
          <p:cNvPr id="7" name="Text 5"/>
          <p:cNvSpPr/>
          <p:nvPr/>
        </p:nvSpPr>
        <p:spPr>
          <a:xfrm>
            <a:off x="571500" y="2834506"/>
            <a:ext cx="3857625" cy="1804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6"/>
              </a:lnSpc>
              <a:buNone/>
            </a:pPr>
            <a:r>
              <a:rPr lang="en-US" sz="731" dirty="0">
                <a:solidFill>
                  <a:srgbClr val="73917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适老化不是缩小版：大字号、高对比、语音播报提示；子女可为父母预装，收到异常提醒。</a:t>
            </a:r>
            <a:endParaRPr lang="en-US" sz="731" dirty="0"/>
          </a:p>
        </p:txBody>
      </p:sp>
      <p:sp>
        <p:nvSpPr>
          <p:cNvPr id="8" name="Text 6"/>
          <p:cNvSpPr/>
          <p:nvPr/>
        </p:nvSpPr>
        <p:spPr>
          <a:xfrm>
            <a:off x="4857750" y="1471613"/>
            <a:ext cx="4286250" cy="1851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900" b="1" dirty="0">
                <a:solidFill>
                  <a:srgbClr val="EAF6E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机构侧 · 三个具体接入位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857750" y="1718072"/>
            <a:ext cx="3714750" cy="0"/>
          </a:xfrm>
          <a:prstGeom prst="line">
            <a:avLst/>
          </a:prstGeom>
          <a:noFill/>
          <a:ln w="7144">
            <a:solidFill>
              <a:srgbClr val="34D39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857750" y="1785938"/>
            <a:ext cx="3714750" cy="306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7"/>
              </a:lnSpc>
              <a:buNone/>
            </a:pPr>
            <a:r>
              <a:rPr lang="en-US" sz="731" dirty="0">
                <a:solidFill>
                  <a:srgbClr val="EAF6E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银行 / 支付机构</a:t>
            </a:r>
            <a:pPr algn="l" indent="0" marL="0">
              <a:lnSpc>
                <a:spcPts val="1207"/>
              </a:lnSpc>
              <a:buNone/>
            </a:pPr>
            <a:r>
              <a:rPr lang="en-US" sz="731" dirty="0">
                <a:solidFill>
                  <a:srgbClr val="A8CC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—— 电话渠道大额转账的附加风控信号，高风险通话触发人工复核或延迟到账</a:t>
            </a:r>
            <a:endParaRPr lang="en-US" sz="731" dirty="0"/>
          </a:p>
        </p:txBody>
      </p:sp>
      <p:sp>
        <p:nvSpPr>
          <p:cNvPr id="11" name="Shape 9"/>
          <p:cNvSpPr/>
          <p:nvPr/>
        </p:nvSpPr>
        <p:spPr>
          <a:xfrm>
            <a:off x="4857750" y="2160091"/>
            <a:ext cx="3714750" cy="0"/>
          </a:xfrm>
          <a:prstGeom prst="line">
            <a:avLst/>
          </a:prstGeom>
          <a:noFill/>
          <a:ln w="7144">
            <a:solidFill>
              <a:srgbClr val="34D39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857750" y="2227957"/>
            <a:ext cx="3714750" cy="153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7"/>
              </a:lnSpc>
              <a:buNone/>
            </a:pPr>
            <a:r>
              <a:rPr lang="en-US" sz="731" dirty="0">
                <a:solidFill>
                  <a:srgbClr val="EAF6E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反诈中心 / 派出所</a:t>
            </a:r>
            <a:pPr algn="l" indent="0" marL="0">
              <a:lnSpc>
                <a:spcPts val="1207"/>
              </a:lnSpc>
              <a:buNone/>
            </a:pPr>
            <a:r>
              <a:rPr lang="en-US" sz="731" dirty="0">
                <a:solidFill>
                  <a:srgbClr val="A8CC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—— 核验报告的哈希证据链，作为群众举报材料的标准化载体</a:t>
            </a:r>
            <a:endParaRPr lang="en-US" sz="731" dirty="0"/>
          </a:p>
        </p:txBody>
      </p:sp>
      <p:sp>
        <p:nvSpPr>
          <p:cNvPr id="13" name="Shape 11"/>
          <p:cNvSpPr/>
          <p:nvPr/>
        </p:nvSpPr>
        <p:spPr>
          <a:xfrm>
            <a:off x="4857750" y="2448967"/>
            <a:ext cx="3714750" cy="0"/>
          </a:xfrm>
          <a:prstGeom prst="line">
            <a:avLst/>
          </a:prstGeom>
          <a:noFill/>
          <a:ln w="7144">
            <a:solidFill>
              <a:srgbClr val="34D39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857750" y="2516832"/>
            <a:ext cx="3714750" cy="153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7"/>
              </a:lnSpc>
              <a:buNone/>
            </a:pPr>
            <a:r>
              <a:rPr lang="en-US" sz="731" dirty="0">
                <a:solidFill>
                  <a:srgbClr val="EAF6E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内容平台</a:t>
            </a:r>
            <a:pPr algn="l" indent="0" marL="0">
              <a:lnSpc>
                <a:spcPts val="1207"/>
              </a:lnSpc>
              <a:buNone/>
            </a:pPr>
            <a:r>
              <a:rPr lang="en-US" sz="731" dirty="0">
                <a:solidFill>
                  <a:srgbClr val="A8CC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—— 流式形态嵌入语音弹幕、语音评论的实时审核</a:t>
            </a:r>
            <a:endParaRPr lang="en-US" sz="731" dirty="0"/>
          </a:p>
        </p:txBody>
      </p:sp>
      <p:sp>
        <p:nvSpPr>
          <p:cNvPr id="15" name="Text 13"/>
          <p:cNvSpPr/>
          <p:nvPr/>
        </p:nvSpPr>
        <p:spPr>
          <a:xfrm>
            <a:off x="4857750" y="2877145"/>
            <a:ext cx="4286250" cy="1851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900" b="1" dirty="0">
                <a:solidFill>
                  <a:srgbClr val="EAF6E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治理侧 · 三条对应关系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857750" y="3123605"/>
            <a:ext cx="3714750" cy="0"/>
          </a:xfrm>
          <a:prstGeom prst="line">
            <a:avLst/>
          </a:prstGeom>
          <a:noFill/>
          <a:ln w="7144">
            <a:solidFill>
              <a:srgbClr val="34D39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857750" y="3191470"/>
            <a:ext cx="3714750" cy="153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7"/>
              </a:lnSpc>
              <a:buNone/>
            </a:pPr>
            <a:r>
              <a:rPr lang="en-US" sz="731" dirty="0">
                <a:solidFill>
                  <a:srgbClr val="EAF6E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《反电信网络诈骗法》</a:t>
            </a:r>
            <a:pPr algn="l" indent="0" marL="0">
              <a:lnSpc>
                <a:spcPts val="1207"/>
              </a:lnSpc>
              <a:buNone/>
            </a:pPr>
            <a:r>
              <a:rPr lang="en-US" sz="731" dirty="0">
                <a:solidFill>
                  <a:srgbClr val="A8CC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—— 全民反诈框架下的普惠工具落地</a:t>
            </a:r>
            <a:endParaRPr lang="en-US" sz="731" dirty="0"/>
          </a:p>
        </p:txBody>
      </p:sp>
      <p:sp>
        <p:nvSpPr>
          <p:cNvPr id="18" name="Shape 16"/>
          <p:cNvSpPr/>
          <p:nvPr/>
        </p:nvSpPr>
        <p:spPr>
          <a:xfrm>
            <a:off x="4857750" y="3412480"/>
            <a:ext cx="3714750" cy="0"/>
          </a:xfrm>
          <a:prstGeom prst="line">
            <a:avLst/>
          </a:prstGeom>
          <a:noFill/>
          <a:ln w="7144">
            <a:solidFill>
              <a:srgbClr val="34D39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857750" y="3480346"/>
            <a:ext cx="3714750" cy="153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7"/>
              </a:lnSpc>
              <a:buNone/>
            </a:pPr>
            <a:r>
              <a:rPr lang="en-US" sz="731" dirty="0">
                <a:solidFill>
                  <a:srgbClr val="EAF6E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《深度合成管理规定》</a:t>
            </a:r>
            <a:pPr algn="l" indent="0" marL="0">
              <a:lnSpc>
                <a:spcPts val="1207"/>
              </a:lnSpc>
              <a:buNone/>
            </a:pPr>
            <a:r>
              <a:rPr lang="en-US" sz="731" dirty="0">
                <a:solidFill>
                  <a:srgbClr val="A8CC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—— 内容治理的可审计检测实践</a:t>
            </a:r>
            <a:endParaRPr lang="en-US" sz="731" dirty="0"/>
          </a:p>
        </p:txBody>
      </p:sp>
      <p:sp>
        <p:nvSpPr>
          <p:cNvPr id="20" name="Shape 18"/>
          <p:cNvSpPr/>
          <p:nvPr/>
        </p:nvSpPr>
        <p:spPr>
          <a:xfrm>
            <a:off x="4857750" y="3701355"/>
            <a:ext cx="3714750" cy="0"/>
          </a:xfrm>
          <a:prstGeom prst="line">
            <a:avLst/>
          </a:prstGeom>
          <a:noFill/>
          <a:ln w="7144">
            <a:solidFill>
              <a:srgbClr val="34D39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857750" y="3769221"/>
            <a:ext cx="3714750" cy="1531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07"/>
              </a:lnSpc>
              <a:buNone/>
            </a:pPr>
            <a:r>
              <a:rPr lang="en-US" sz="731" dirty="0">
                <a:solidFill>
                  <a:srgbClr val="EAF6E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证据链设计</a:t>
            </a:r>
            <a:pPr algn="l" indent="0" marL="0">
              <a:lnSpc>
                <a:spcPts val="1207"/>
              </a:lnSpc>
              <a:buNone/>
            </a:pPr>
            <a:r>
              <a:rPr lang="en-US" sz="731" dirty="0">
                <a:solidFill>
                  <a:srgbClr val="A8CC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—— 为涉诈电子材料规范化提供参考</a:t>
            </a:r>
            <a:endParaRPr lang="en-US" sz="731" dirty="0"/>
          </a:p>
        </p:txBody>
      </p:sp>
      <p:sp>
        <p:nvSpPr>
          <p:cNvPr id="22" name="Shape 20"/>
          <p:cNvSpPr/>
          <p:nvPr/>
        </p:nvSpPr>
        <p:spPr>
          <a:xfrm>
            <a:off x="571500" y="4545211"/>
            <a:ext cx="8001000" cy="0"/>
          </a:xfrm>
          <a:prstGeom prst="line">
            <a:avLst/>
          </a:prstGeom>
          <a:noFill/>
          <a:ln w="7144">
            <a:solidFill>
              <a:srgbClr val="34D399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71500" y="4648795"/>
            <a:ext cx="8001000" cy="151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95"/>
              </a:lnSpc>
              <a:buNone/>
            </a:pPr>
            <a:r>
              <a:rPr lang="en-US" sz="703" dirty="0">
                <a:solidFill>
                  <a:srgbClr val="73917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说清楚边界：声盾定位辅助验真，结论附带置信度与不确定性说明，不构成执法结论；演示音频均为平台现场合成或公有领域样本。</a:t>
            </a:r>
            <a:endParaRPr lang="en-US" sz="703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A14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71500" y="400050"/>
            <a:ext cx="7883463" cy="1504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7"/>
              </a:lnSpc>
              <a:buNone/>
            </a:pPr>
            <a:r>
              <a:rPr lang="en-US" sz="731" spc="205" kern="0" dirty="0">
                <a:solidFill>
                  <a:srgbClr val="73917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后续路线</a:t>
            </a:r>
            <a:endParaRPr lang="en-US" sz="731" dirty="0"/>
          </a:p>
        </p:txBody>
      </p:sp>
      <p:sp>
        <p:nvSpPr>
          <p:cNvPr id="3" name="Text 1"/>
          <p:cNvSpPr/>
          <p:nvPr/>
        </p:nvSpPr>
        <p:spPr>
          <a:xfrm>
            <a:off x="8459740" y="407194"/>
            <a:ext cx="184221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13"/>
              </a:lnSpc>
              <a:buNone/>
            </a:pPr>
            <a:r>
              <a:rPr lang="en-US" sz="800" dirty="0">
                <a:solidFill>
                  <a:srgbClr val="73917F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12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571500" y="682228"/>
            <a:ext cx="8401050" cy="3563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99"/>
              </a:lnSpc>
              <a:buNone/>
            </a:pPr>
            <a:r>
              <a:rPr lang="en-US" sz="1856" b="1" dirty="0">
                <a:solidFill>
                  <a:srgbClr val="EAF6E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十二周，从轻量引擎走到</a:t>
            </a:r>
            <a:pPr algn="l" indent="0" marL="0">
              <a:lnSpc>
                <a:spcPts val="2599"/>
              </a:lnSpc>
              <a:buNone/>
            </a:pPr>
            <a:r>
              <a:rPr lang="en-US" sz="1856" b="1" dirty="0">
                <a:solidFill>
                  <a:srgbClr val="34D3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深度集成</a:t>
            </a:r>
            <a:endParaRPr lang="en-US" sz="1856" dirty="0"/>
          </a:p>
        </p:txBody>
      </p:sp>
      <p:sp>
        <p:nvSpPr>
          <p:cNvPr id="5" name="Text 3"/>
          <p:cNvSpPr/>
          <p:nvPr/>
        </p:nvSpPr>
        <p:spPr>
          <a:xfrm>
            <a:off x="571500" y="1097905"/>
            <a:ext cx="6286500" cy="3915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27"/>
              </a:lnSpc>
              <a:buNone/>
            </a:pPr>
            <a:r>
              <a:rPr lang="en-US" sz="816" dirty="0">
                <a:solidFill>
                  <a:srgbClr val="A8CC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轻量可解释引擎是第一阶段的诚实交付；深度引擎不是推翻它，而是把「有声书误判、窄带退化」这两个已知边界补上。 每一阶段都有可检验的交付物。</a:t>
            </a:r>
            <a:endParaRPr lang="en-US" sz="816" dirty="0"/>
          </a:p>
        </p:txBody>
      </p:sp>
      <p:sp>
        <p:nvSpPr>
          <p:cNvPr id="6" name="Text 4"/>
          <p:cNvSpPr/>
          <p:nvPr/>
        </p:nvSpPr>
        <p:spPr>
          <a:xfrm>
            <a:off x="554823" y="3599557"/>
            <a:ext cx="461162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86"/>
              </a:lnSpc>
              <a:buNone/>
            </a:pPr>
            <a:r>
              <a:rPr lang="en-US" sz="800" spc="59" kern="0" dirty="0">
                <a:solidFill>
                  <a:srgbClr val="73917F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W01–02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44649" y="3670995"/>
            <a:ext cx="1569839" cy="7144"/>
          </a:xfrm>
          <a:prstGeom prst="rect">
            <a:avLst/>
          </a:prstGeom>
          <a:solidFill>
            <a:srgbClr val="34D399">
              <a:alpha val="2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2571638" y="3599557"/>
            <a:ext cx="346901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86"/>
              </a:lnSpc>
              <a:buNone/>
            </a:pPr>
            <a:r>
              <a:rPr lang="en-US" sz="600" dirty="0">
                <a:solidFill>
                  <a:srgbClr val="73917F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W03–05</a:t>
            </a:r>
            <a:endParaRPr lang="en-US" sz="600" dirty="0"/>
          </a:p>
        </p:txBody>
      </p:sp>
      <p:sp>
        <p:nvSpPr>
          <p:cNvPr id="9" name="Text 7"/>
          <p:cNvSpPr/>
          <p:nvPr/>
        </p:nvSpPr>
        <p:spPr>
          <a:xfrm>
            <a:off x="2899804" y="3670995"/>
            <a:ext cx="1569839" cy="7144"/>
          </a:xfrm>
          <a:prstGeom prst="rect">
            <a:avLst/>
          </a:prstGeom>
          <a:solidFill>
            <a:srgbClr val="34D399">
              <a:alpha val="2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4526793" y="3599557"/>
            <a:ext cx="346901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86"/>
              </a:lnSpc>
              <a:buNone/>
            </a:pPr>
            <a:r>
              <a:rPr lang="en-US" sz="600" dirty="0">
                <a:solidFill>
                  <a:srgbClr val="73917F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W06–07</a:t>
            </a:r>
            <a:endParaRPr lang="en-US" sz="600" dirty="0"/>
          </a:p>
        </p:txBody>
      </p:sp>
      <p:sp>
        <p:nvSpPr>
          <p:cNvPr id="11" name="Text 9"/>
          <p:cNvSpPr/>
          <p:nvPr/>
        </p:nvSpPr>
        <p:spPr>
          <a:xfrm>
            <a:off x="4854959" y="3670995"/>
            <a:ext cx="1569839" cy="7144"/>
          </a:xfrm>
          <a:prstGeom prst="rect">
            <a:avLst/>
          </a:prstGeom>
          <a:solidFill>
            <a:srgbClr val="34D399">
              <a:alpha val="2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6459724" y="3599557"/>
            <a:ext cx="2585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86"/>
              </a:lnSpc>
              <a:buNone/>
            </a:pPr>
            <a:r>
              <a:rPr lang="en-US" sz="800" dirty="0">
                <a:solidFill>
                  <a:srgbClr val="73917F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W10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6674607" y="3670995"/>
            <a:ext cx="1569839" cy="7144"/>
          </a:xfrm>
          <a:prstGeom prst="rect">
            <a:avLst/>
          </a:prstGeom>
          <a:solidFill>
            <a:srgbClr val="34D399">
              <a:alpha val="2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8301596" y="3599557"/>
            <a:ext cx="346901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86"/>
              </a:lnSpc>
              <a:buNone/>
            </a:pPr>
            <a:r>
              <a:rPr lang="en-US" sz="600" dirty="0">
                <a:solidFill>
                  <a:srgbClr val="73917F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W11–12</a:t>
            </a:r>
            <a:endParaRPr lang="en-US" sz="600" dirty="0"/>
          </a:p>
        </p:txBody>
      </p:sp>
      <p:sp>
        <p:nvSpPr>
          <p:cNvPr id="15" name="Text 13"/>
          <p:cNvSpPr/>
          <p:nvPr/>
        </p:nvSpPr>
        <p:spPr>
          <a:xfrm>
            <a:off x="571500" y="3783509"/>
            <a:ext cx="1624653" cy="1909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92"/>
              </a:lnSpc>
              <a:buNone/>
            </a:pPr>
            <a:r>
              <a:rPr lang="en-US" sz="928" b="1" dirty="0">
                <a:solidFill>
                  <a:srgbClr val="EAF6E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AASIST</a:t>
            </a:r>
            <a:pPr algn="l" indent="0" marL="0">
              <a:lnSpc>
                <a:spcPts val="1392"/>
              </a:lnSpc>
              <a:buNone/>
            </a:pPr>
            <a:r>
              <a:rPr lang="en-US" sz="928" b="1" dirty="0">
                <a:solidFill>
                  <a:srgbClr val="EAF6E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基线复现</a:t>
            </a:r>
            <a:endParaRPr lang="en-US" sz="928" dirty="0"/>
          </a:p>
        </p:txBody>
      </p:sp>
      <p:sp>
        <p:nvSpPr>
          <p:cNvPr id="16" name="Text 14"/>
          <p:cNvSpPr/>
          <p:nvPr/>
        </p:nvSpPr>
        <p:spPr>
          <a:xfrm>
            <a:off x="571500" y="4003179"/>
            <a:ext cx="1469396" cy="30385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700" dirty="0">
                <a:solidFill>
                  <a:srgbClr val="A8CC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按官方流程在 </a:t>
            </a:r>
            <a:pPr algn="l" indent="0" marL="0">
              <a:lnSpc>
                <a:spcPts val="1080"/>
              </a:lnSpc>
              <a:buNone/>
            </a:pPr>
            <a:r>
              <a:rPr lang="en-US" sz="700" dirty="0">
                <a:solidFill>
                  <a:srgbClr val="A8CCB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ASVspoof</a:t>
            </a:r>
            <a:pPr algn="l" indent="0" marL="0">
              <a:lnSpc>
                <a:spcPts val="1080"/>
              </a:lnSpc>
              <a:buNone/>
            </a:pPr>
            <a:r>
              <a:rPr lang="en-US" sz="700" dirty="0">
                <a:solidFill>
                  <a:srgbClr val="A8CC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pPr algn="l" indent="0" marL="0">
              <a:lnSpc>
                <a:spcPts val="1080"/>
              </a:lnSpc>
              <a:buNone/>
            </a:pPr>
            <a:r>
              <a:rPr lang="en-US" sz="700" dirty="0">
                <a:solidFill>
                  <a:srgbClr val="A8CCB8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2019</a:t>
            </a:r>
            <a:pPr algn="l" indent="0" marL="0">
              <a:lnSpc>
                <a:spcPts val="1080"/>
              </a:lnSpc>
              <a:buNone/>
            </a:pPr>
            <a:r>
              <a:rPr lang="en-US" sz="700" dirty="0">
                <a:solidFill>
                  <a:srgbClr val="A8CC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pPr algn="l" indent="0" marL="0">
              <a:lnSpc>
                <a:spcPts val="1080"/>
              </a:lnSpc>
              <a:buNone/>
            </a:pPr>
            <a:r>
              <a:rPr lang="en-US" sz="700" dirty="0">
                <a:solidFill>
                  <a:srgbClr val="A8CCB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LA</a:t>
            </a:r>
            <a:pPr algn="l" indent="0" marL="0">
              <a:lnSpc>
                <a:spcPts val="1080"/>
              </a:lnSpc>
              <a:buNone/>
            </a:pPr>
            <a:r>
              <a:rPr lang="en-US" sz="700" dirty="0">
                <a:solidFill>
                  <a:srgbClr val="A8CC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训练评测，工程正确性的锚点</a:t>
            </a:r>
            <a:endParaRPr lang="en-US" sz="700" dirty="0"/>
          </a:p>
        </p:txBody>
      </p:sp>
      <p:sp>
        <p:nvSpPr>
          <p:cNvPr id="17" name="Text 15"/>
          <p:cNvSpPr/>
          <p:nvPr/>
        </p:nvSpPr>
        <p:spPr>
          <a:xfrm>
            <a:off x="571500" y="4334470"/>
            <a:ext cx="1624653" cy="14401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70"/>
              </a:lnSpc>
              <a:buNone/>
            </a:pPr>
            <a:r>
              <a:rPr lang="en-US" sz="700" dirty="0">
                <a:solidFill>
                  <a:srgbClr val="73917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交付物：</a:t>
            </a:r>
            <a:pPr algn="l" indent="0" marL="0">
              <a:lnSpc>
                <a:spcPts val="970"/>
              </a:lnSpc>
              <a:buNone/>
            </a:pPr>
            <a:r>
              <a:rPr lang="en-US" sz="700" dirty="0">
                <a:solidFill>
                  <a:srgbClr val="A8CCB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EER</a:t>
            </a:r>
            <a:pPr algn="l" indent="0" marL="0">
              <a:lnSpc>
                <a:spcPts val="970"/>
              </a:lnSpc>
              <a:buNone/>
            </a:pPr>
            <a:r>
              <a:rPr lang="en-US" sz="700" dirty="0">
                <a:solidFill>
                  <a:srgbClr val="A8CC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同量级基线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2132744" y="3783509"/>
            <a:ext cx="0" cy="674191"/>
          </a:xfrm>
          <a:prstGeom prst="line">
            <a:avLst/>
          </a:prstGeom>
          <a:noFill/>
          <a:ln w="7144">
            <a:solidFill>
              <a:srgbClr val="34D39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307766" y="3783509"/>
            <a:ext cx="1320143" cy="1909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92"/>
              </a:lnSpc>
              <a:buNone/>
            </a:pPr>
            <a:r>
              <a:rPr lang="en-US" sz="928" b="1" dirty="0">
                <a:solidFill>
                  <a:srgbClr val="EAF6E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双网络融合</a:t>
            </a:r>
            <a:endParaRPr lang="en-US" sz="928" dirty="0"/>
          </a:p>
        </p:txBody>
      </p:sp>
      <p:sp>
        <p:nvSpPr>
          <p:cNvPr id="20" name="Text 18"/>
          <p:cNvSpPr/>
          <p:nvPr/>
        </p:nvSpPr>
        <p:spPr>
          <a:xfrm>
            <a:off x="2307766" y="4003179"/>
            <a:ext cx="1320143" cy="30385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700" dirty="0">
                <a:solidFill>
                  <a:srgbClr val="A8CCB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RawGAT-ST</a:t>
            </a:r>
            <a:pPr algn="l" indent="0" marL="0">
              <a:lnSpc>
                <a:spcPts val="1080"/>
              </a:lnSpc>
              <a:buNone/>
            </a:pPr>
            <a:r>
              <a:rPr lang="en-US" sz="700" dirty="0">
                <a:solidFill>
                  <a:srgbClr val="A8CC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训练 + 软投票集成 + 消融实验</a:t>
            </a:r>
            <a:endParaRPr lang="en-US" sz="700" dirty="0"/>
          </a:p>
        </p:txBody>
      </p:sp>
      <p:sp>
        <p:nvSpPr>
          <p:cNvPr id="21" name="Text 19"/>
          <p:cNvSpPr/>
          <p:nvPr/>
        </p:nvSpPr>
        <p:spPr>
          <a:xfrm>
            <a:off x="2307766" y="4334470"/>
            <a:ext cx="1320143" cy="1232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70"/>
              </a:lnSpc>
              <a:buNone/>
            </a:pPr>
            <a:r>
              <a:rPr lang="en-US" sz="700" dirty="0">
                <a:solidFill>
                  <a:srgbClr val="73917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交付物：</a:t>
            </a:r>
            <a:pPr algn="l" indent="0" marL="0">
              <a:lnSpc>
                <a:spcPts val="970"/>
              </a:lnSpc>
              <a:buNone/>
            </a:pPr>
            <a:r>
              <a:rPr lang="en-US" sz="700" dirty="0">
                <a:solidFill>
                  <a:srgbClr val="A8CC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消融表</a:t>
            </a:r>
            <a:endParaRPr lang="en-US" sz="700" dirty="0"/>
          </a:p>
        </p:txBody>
      </p:sp>
      <p:sp>
        <p:nvSpPr>
          <p:cNvPr id="22" name="Shape 20"/>
          <p:cNvSpPr/>
          <p:nvPr/>
        </p:nvSpPr>
        <p:spPr>
          <a:xfrm>
            <a:off x="3802931" y="3783509"/>
            <a:ext cx="0" cy="674191"/>
          </a:xfrm>
          <a:prstGeom prst="line">
            <a:avLst/>
          </a:prstGeom>
          <a:noFill/>
          <a:ln w="7144">
            <a:solidFill>
              <a:srgbClr val="34D399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977953" y="3783509"/>
            <a:ext cx="1320143" cy="1909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92"/>
              </a:lnSpc>
              <a:buNone/>
            </a:pPr>
            <a:r>
              <a:rPr lang="en-US" sz="928" b="1" dirty="0">
                <a:solidFill>
                  <a:srgbClr val="EAF6E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ONNX</a:t>
            </a:r>
            <a:pPr algn="l" indent="0" marL="0">
              <a:lnSpc>
                <a:spcPts val="1392"/>
              </a:lnSpc>
              <a:buNone/>
            </a:pPr>
            <a:r>
              <a:rPr lang="en-US" sz="928" b="1" dirty="0">
                <a:solidFill>
                  <a:srgbClr val="EAF6E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轻量化</a:t>
            </a:r>
            <a:endParaRPr lang="en-US" sz="928" dirty="0"/>
          </a:p>
        </p:txBody>
      </p:sp>
      <p:sp>
        <p:nvSpPr>
          <p:cNvPr id="24" name="Text 22"/>
          <p:cNvSpPr/>
          <p:nvPr/>
        </p:nvSpPr>
        <p:spPr>
          <a:xfrm>
            <a:off x="3977953" y="4003179"/>
            <a:ext cx="1320143" cy="1535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700" dirty="0">
                <a:solidFill>
                  <a:srgbClr val="A8CC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动态量化 </a:t>
            </a:r>
            <a:pPr algn="l" indent="0" marL="0">
              <a:lnSpc>
                <a:spcPts val="1080"/>
              </a:lnSpc>
              <a:buNone/>
            </a:pPr>
            <a:r>
              <a:rPr lang="en-US" sz="700" dirty="0">
                <a:solidFill>
                  <a:srgbClr val="A8CCB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CPU</a:t>
            </a:r>
            <a:pPr algn="l" indent="0" marL="0">
              <a:lnSpc>
                <a:spcPts val="1080"/>
              </a:lnSpc>
              <a:buNone/>
            </a:pPr>
            <a:r>
              <a:rPr lang="en-US" sz="700" dirty="0">
                <a:solidFill>
                  <a:srgbClr val="A8CC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推理，蒸馏兜底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3977953" y="4197400"/>
            <a:ext cx="1320143" cy="14401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70"/>
              </a:lnSpc>
              <a:buNone/>
            </a:pPr>
            <a:r>
              <a:rPr lang="en-US" sz="700" dirty="0">
                <a:solidFill>
                  <a:srgbClr val="73917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交付物：</a:t>
            </a:r>
            <a:pPr algn="l" indent="0" marL="0">
              <a:lnSpc>
                <a:spcPts val="970"/>
              </a:lnSpc>
              <a:buNone/>
            </a:pPr>
            <a:r>
              <a:rPr lang="en-US" sz="700" dirty="0">
                <a:solidFill>
                  <a:srgbClr val="A8CCB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RTF</a:t>
            </a:r>
            <a:pPr algn="l" indent="0" marL="0">
              <a:lnSpc>
                <a:spcPts val="970"/>
              </a:lnSpc>
              <a:buNone/>
            </a:pPr>
            <a:r>
              <a:rPr lang="en-US" sz="700" dirty="0">
                <a:solidFill>
                  <a:srgbClr val="A8CC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&lt;</a:t>
            </a:r>
            <a:pPr algn="l" indent="0" marL="0">
              <a:lnSpc>
                <a:spcPts val="970"/>
              </a:lnSpc>
              <a:buNone/>
            </a:pPr>
            <a:r>
              <a:rPr lang="en-US" sz="700" dirty="0">
                <a:solidFill>
                  <a:srgbClr val="A8CCB8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1</a:t>
            </a:r>
            <a:pPr algn="l" indent="0" marL="0">
              <a:lnSpc>
                <a:spcPts val="970"/>
              </a:lnSpc>
              <a:buNone/>
            </a:pPr>
            <a:r>
              <a:rPr lang="en-US" sz="700" dirty="0">
                <a:solidFill>
                  <a:srgbClr val="A8CC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实测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5473117" y="3783509"/>
            <a:ext cx="0" cy="674191"/>
          </a:xfrm>
          <a:prstGeom prst="line">
            <a:avLst/>
          </a:prstGeom>
          <a:noFill/>
          <a:ln w="7144">
            <a:solidFill>
              <a:srgbClr val="34D39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648139" y="3783509"/>
            <a:ext cx="1320143" cy="1909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92"/>
              </a:lnSpc>
              <a:buNone/>
            </a:pPr>
            <a:r>
              <a:rPr lang="en-US" sz="928" b="1" dirty="0">
                <a:solidFill>
                  <a:srgbClr val="EAF6E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跨信道评测</a:t>
            </a:r>
            <a:endParaRPr lang="en-US" sz="928" dirty="0"/>
          </a:p>
        </p:txBody>
      </p:sp>
      <p:sp>
        <p:nvSpPr>
          <p:cNvPr id="28" name="Text 26"/>
          <p:cNvSpPr/>
          <p:nvPr/>
        </p:nvSpPr>
        <p:spPr>
          <a:xfrm>
            <a:off x="5648139" y="4003179"/>
            <a:ext cx="1399351" cy="30385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700" dirty="0">
                <a:solidFill>
                  <a:srgbClr val="A8CCB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ASVspoof</a:t>
            </a:r>
            <a:pPr algn="l" indent="0" marL="0">
              <a:lnSpc>
                <a:spcPts val="1080"/>
              </a:lnSpc>
              <a:buNone/>
            </a:pPr>
            <a:r>
              <a:rPr lang="en-US" sz="700" dirty="0">
                <a:solidFill>
                  <a:srgbClr val="A8CC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pPr algn="l" indent="0" marL="0">
              <a:lnSpc>
                <a:spcPts val="1080"/>
              </a:lnSpc>
              <a:buNone/>
            </a:pPr>
            <a:r>
              <a:rPr lang="en-US" sz="700" dirty="0">
                <a:solidFill>
                  <a:srgbClr val="A8CCB8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2021</a:t>
            </a:r>
            <a:pPr algn="l" indent="0" marL="0">
              <a:lnSpc>
                <a:spcPts val="1080"/>
              </a:lnSpc>
              <a:buNone/>
            </a:pPr>
            <a:r>
              <a:rPr lang="en-US" sz="700" dirty="0">
                <a:solidFill>
                  <a:srgbClr val="A8CC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pPr algn="l" indent="0" marL="0">
              <a:lnSpc>
                <a:spcPts val="1080"/>
              </a:lnSpc>
              <a:buNone/>
            </a:pPr>
            <a:r>
              <a:rPr lang="en-US" sz="700" dirty="0">
                <a:solidFill>
                  <a:srgbClr val="A8CCB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LA</a:t>
            </a:r>
            <a:pPr algn="l" indent="0" marL="0">
              <a:lnSpc>
                <a:spcPts val="1080"/>
              </a:lnSpc>
              <a:buNone/>
            </a:pPr>
            <a:r>
              <a:rPr lang="en-US" sz="700" dirty="0">
                <a:solidFill>
                  <a:srgbClr val="A8CC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+ 自建 </a:t>
            </a:r>
            <a:pPr algn="l" indent="0" marL="0">
              <a:lnSpc>
                <a:spcPts val="1080"/>
              </a:lnSpc>
              <a:buNone/>
            </a:pPr>
            <a:r>
              <a:rPr lang="en-US" sz="700" dirty="0">
                <a:solidFill>
                  <a:srgbClr val="A8CCB8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8kHz</a:t>
            </a:r>
            <a:pPr algn="l" indent="0" marL="0">
              <a:lnSpc>
                <a:spcPts val="1080"/>
              </a:lnSpc>
              <a:buNone/>
            </a:pPr>
            <a:r>
              <a:rPr lang="en-US" sz="700" dirty="0">
                <a:solidFill>
                  <a:srgbClr val="A8CC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窄带子集 + </a:t>
            </a:r>
            <a:pPr algn="l" indent="0" marL="0">
              <a:lnSpc>
                <a:spcPts val="1080"/>
              </a:lnSpc>
              <a:buNone/>
            </a:pPr>
            <a:r>
              <a:rPr lang="en-US" sz="700" dirty="0">
                <a:solidFill>
                  <a:srgbClr val="A8CCB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Rawboost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5648139" y="4334470"/>
            <a:ext cx="1320143" cy="1232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70"/>
              </a:lnSpc>
              <a:buNone/>
            </a:pPr>
            <a:r>
              <a:rPr lang="en-US" sz="700" dirty="0">
                <a:solidFill>
                  <a:srgbClr val="73917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交付物：</a:t>
            </a:r>
            <a:pPr algn="l" indent="0" marL="0">
              <a:lnSpc>
                <a:spcPts val="970"/>
              </a:lnSpc>
              <a:buNone/>
            </a:pPr>
            <a:r>
              <a:rPr lang="en-US" sz="700" dirty="0">
                <a:solidFill>
                  <a:srgbClr val="A8CCB8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8kHz</a:t>
            </a:r>
            <a:pPr algn="l" indent="0" marL="0">
              <a:lnSpc>
                <a:spcPts val="970"/>
              </a:lnSpc>
              <a:buNone/>
            </a:pPr>
            <a:r>
              <a:rPr lang="en-US" sz="700" dirty="0">
                <a:solidFill>
                  <a:srgbClr val="A8CC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窄带子集</a:t>
            </a:r>
            <a:endParaRPr lang="en-US" sz="700" dirty="0"/>
          </a:p>
        </p:txBody>
      </p:sp>
      <p:sp>
        <p:nvSpPr>
          <p:cNvPr id="30" name="Shape 28"/>
          <p:cNvSpPr/>
          <p:nvPr/>
        </p:nvSpPr>
        <p:spPr>
          <a:xfrm>
            <a:off x="7143304" y="3783509"/>
            <a:ext cx="0" cy="674191"/>
          </a:xfrm>
          <a:prstGeom prst="line">
            <a:avLst/>
          </a:prstGeom>
          <a:noFill/>
          <a:ln w="7144">
            <a:solidFill>
              <a:srgbClr val="34D399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318325" y="3783509"/>
            <a:ext cx="1254175" cy="1909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92"/>
              </a:lnSpc>
              <a:buNone/>
            </a:pPr>
            <a:r>
              <a:rPr lang="en-US" sz="928" b="1" dirty="0">
                <a:solidFill>
                  <a:srgbClr val="EAF6E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联调与答辩</a:t>
            </a:r>
            <a:endParaRPr lang="en-US" sz="928" dirty="0"/>
          </a:p>
        </p:txBody>
      </p:sp>
      <p:sp>
        <p:nvSpPr>
          <p:cNvPr id="32" name="Text 30"/>
          <p:cNvSpPr/>
          <p:nvPr/>
        </p:nvSpPr>
        <p:spPr>
          <a:xfrm>
            <a:off x="7318325" y="4003179"/>
            <a:ext cx="1254175" cy="30385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700" dirty="0">
                <a:solidFill>
                  <a:srgbClr val="A8CC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演示排练、测试数据、报告与视频定稿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7318325" y="4334470"/>
            <a:ext cx="1254175" cy="1232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70"/>
              </a:lnSpc>
              <a:buNone/>
            </a:pPr>
            <a:r>
              <a:rPr lang="en-US" sz="700" dirty="0">
                <a:solidFill>
                  <a:srgbClr val="73917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交付物：</a:t>
            </a:r>
            <a:pPr algn="l" indent="0" marL="0">
              <a:lnSpc>
                <a:spcPts val="970"/>
              </a:lnSpc>
              <a:buNone/>
            </a:pPr>
            <a:r>
              <a:rPr lang="en-US" sz="700" dirty="0">
                <a:solidFill>
                  <a:srgbClr val="A8CC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定稿材料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571500" y="4563070"/>
            <a:ext cx="8001000" cy="0"/>
          </a:xfrm>
          <a:prstGeom prst="line">
            <a:avLst/>
          </a:prstGeom>
          <a:noFill/>
          <a:ln w="7144">
            <a:solidFill>
              <a:srgbClr val="34D399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71500" y="4666655"/>
            <a:ext cx="6064597" cy="1339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5"/>
              </a:lnSpc>
              <a:buNone/>
            </a:pPr>
            <a:r>
              <a:rPr lang="en-US" sz="703" dirty="0">
                <a:solidFill>
                  <a:srgbClr val="73917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开源底座：</a:t>
            </a:r>
            <a:pPr algn="l" indent="0" marL="0">
              <a:lnSpc>
                <a:spcPts val="1055"/>
              </a:lnSpc>
              <a:buNone/>
            </a:pPr>
            <a:r>
              <a:rPr lang="en-US" sz="703" dirty="0">
                <a:solidFill>
                  <a:srgbClr val="73917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clovaai</a:t>
            </a:r>
            <a:pPr algn="l" indent="0" marL="0">
              <a:lnSpc>
                <a:spcPts val="1055"/>
              </a:lnSpc>
              <a:buNone/>
            </a:pPr>
            <a:r>
              <a:rPr lang="en-US" sz="703" dirty="0">
                <a:solidFill>
                  <a:srgbClr val="73917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/</a:t>
            </a:r>
            <a:pPr algn="l" indent="0" marL="0">
              <a:lnSpc>
                <a:spcPts val="1055"/>
              </a:lnSpc>
              <a:buNone/>
            </a:pPr>
            <a:r>
              <a:rPr lang="en-US" sz="703" dirty="0">
                <a:solidFill>
                  <a:srgbClr val="73917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aasist</a:t>
            </a:r>
            <a:pPr algn="l" indent="0" marL="0">
              <a:lnSpc>
                <a:spcPts val="1055"/>
              </a:lnSpc>
              <a:buNone/>
            </a:pPr>
            <a:r>
              <a:rPr lang="en-US" sz="703" dirty="0">
                <a:solidFill>
                  <a:srgbClr val="73917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· </a:t>
            </a:r>
            <a:pPr algn="l" indent="0" marL="0">
              <a:lnSpc>
                <a:spcPts val="1055"/>
              </a:lnSpc>
              <a:buNone/>
            </a:pPr>
            <a:r>
              <a:rPr lang="en-US" sz="703" dirty="0">
                <a:solidFill>
                  <a:srgbClr val="73917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asvspoof-challenge</a:t>
            </a:r>
            <a:pPr algn="l" indent="0" marL="0">
              <a:lnSpc>
                <a:spcPts val="1055"/>
              </a:lnSpc>
              <a:buNone/>
            </a:pPr>
            <a:r>
              <a:rPr lang="en-US" sz="703" dirty="0">
                <a:solidFill>
                  <a:srgbClr val="73917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</a:t>
            </a:r>
            <a:pPr algn="l" indent="0" marL="0">
              <a:lnSpc>
                <a:spcPts val="1055"/>
              </a:lnSpc>
              <a:buNone/>
            </a:pPr>
            <a:r>
              <a:rPr lang="en-US" sz="703" dirty="0">
                <a:solidFill>
                  <a:srgbClr val="73917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RawGAT-ST</a:t>
            </a:r>
            <a:pPr algn="l" indent="0" marL="0">
              <a:lnSpc>
                <a:spcPts val="1055"/>
              </a:lnSpc>
              <a:buNone/>
            </a:pPr>
            <a:r>
              <a:rPr lang="en-US" sz="703" dirty="0">
                <a:solidFill>
                  <a:srgbClr val="73917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) · </a:t>
            </a:r>
            <a:pPr algn="l" indent="0" marL="0">
              <a:lnSpc>
                <a:spcPts val="1055"/>
              </a:lnSpc>
              <a:buNone/>
            </a:pPr>
            <a:r>
              <a:rPr lang="en-US" sz="703" dirty="0">
                <a:solidFill>
                  <a:srgbClr val="73917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Rawboost</a:t>
            </a:r>
            <a:pPr algn="l" indent="0" marL="0">
              <a:lnSpc>
                <a:spcPts val="1055"/>
              </a:lnSpc>
              <a:buNone/>
            </a:pPr>
            <a:r>
              <a:rPr lang="en-US" sz="703" dirty="0">
                <a:solidFill>
                  <a:srgbClr val="73917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· </a:t>
            </a:r>
            <a:pPr algn="l" indent="0" marL="0">
              <a:lnSpc>
                <a:spcPts val="1055"/>
              </a:lnSpc>
              <a:buNone/>
            </a:pPr>
            <a:r>
              <a:rPr lang="en-US" sz="703" dirty="0">
                <a:solidFill>
                  <a:srgbClr val="73917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torchaudio</a:t>
            </a:r>
            <a:pPr algn="l" indent="0" marL="0">
              <a:lnSpc>
                <a:spcPts val="1055"/>
              </a:lnSpc>
              <a:buNone/>
            </a:pPr>
            <a:r>
              <a:rPr lang="en-US" sz="703" dirty="0">
                <a:solidFill>
                  <a:srgbClr val="73917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· </a:t>
            </a:r>
            <a:pPr algn="l" indent="0" marL="0">
              <a:lnSpc>
                <a:spcPts val="1055"/>
              </a:lnSpc>
              <a:buNone/>
            </a:pPr>
            <a:r>
              <a:rPr lang="en-US" sz="703" dirty="0">
                <a:solidFill>
                  <a:srgbClr val="73917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ONNX</a:t>
            </a:r>
            <a:pPr algn="l" indent="0" marL="0">
              <a:lnSpc>
                <a:spcPts val="1055"/>
              </a:lnSpc>
              <a:buNone/>
            </a:pPr>
            <a:r>
              <a:rPr lang="en-US" sz="703" dirty="0">
                <a:solidFill>
                  <a:srgbClr val="73917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pPr algn="l" indent="0" marL="0">
              <a:lnSpc>
                <a:spcPts val="1055"/>
              </a:lnSpc>
              <a:buNone/>
            </a:pPr>
            <a:r>
              <a:rPr lang="en-US" sz="703" dirty="0">
                <a:solidFill>
                  <a:srgbClr val="73917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Runtime</a:t>
            </a:r>
            <a:endParaRPr lang="en-US" sz="703" dirty="0"/>
          </a:p>
        </p:txBody>
      </p:sp>
      <p:sp>
        <p:nvSpPr>
          <p:cNvPr id="36" name="Text 34"/>
          <p:cNvSpPr/>
          <p:nvPr/>
        </p:nvSpPr>
        <p:spPr>
          <a:xfrm>
            <a:off x="6778972" y="4666655"/>
            <a:ext cx="1793528" cy="1339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55"/>
              </a:lnSpc>
              <a:buNone/>
            </a:pPr>
            <a:r>
              <a:rPr lang="en-US" sz="703" dirty="0">
                <a:solidFill>
                  <a:srgbClr val="A8CC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架构已预留 </a:t>
            </a:r>
            <a:pPr algn="l" indent="0" marL="0">
              <a:lnSpc>
                <a:spcPts val="1055"/>
              </a:lnSpc>
              <a:buNone/>
            </a:pPr>
            <a:r>
              <a:rPr lang="en-US" sz="703" dirty="0">
                <a:solidFill>
                  <a:srgbClr val="A8CCB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ONNX</a:t>
            </a:r>
            <a:pPr algn="l" indent="0" marL="0">
              <a:lnSpc>
                <a:spcPts val="1055"/>
              </a:lnSpc>
              <a:buNone/>
            </a:pPr>
            <a:r>
              <a:rPr lang="en-US" sz="703" dirty="0">
                <a:solidFill>
                  <a:srgbClr val="A8CC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替换接口，业务层零改动</a:t>
            </a:r>
            <a:endParaRPr lang="en-US" sz="703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A14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71500" y="1328738"/>
            <a:ext cx="6687052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81"/>
              </a:lnSpc>
              <a:buNone/>
            </a:pPr>
            <a:r>
              <a:rPr lang="en-US" sz="800" spc="394" kern="0" dirty="0">
                <a:solidFill>
                  <a:srgbClr val="73917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SHIELDEAR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71500" y="1693069"/>
            <a:ext cx="4458035" cy="18053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388"/>
              </a:lnSpc>
              <a:buNone/>
            </a:pPr>
            <a:r>
              <a:rPr lang="en-US" sz="2925" b="1" dirty="0">
                <a:solidFill>
                  <a:srgbClr val="EAF6E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下一次接到「熟人」来电，</a:t>
            </a:r>
            <a:endParaRPr lang="en-US" sz="2925" dirty="0"/>
          </a:p>
          <a:p>
            <a:pPr algn="l" indent="0" marL="0">
              <a:lnSpc>
                <a:spcPts val="4388"/>
              </a:lnSpc>
              <a:buNone/>
            </a:pPr>
            <a:r>
              <a:rPr lang="en-US" sz="2925" b="1" dirty="0">
                <a:solidFill>
                  <a:srgbClr val="EAF6E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希望几秒钟后，你手里</a:t>
            </a:r>
            <a:endParaRPr lang="en-US" sz="2925" dirty="0"/>
          </a:p>
          <a:p>
            <a:pPr algn="l" indent="0" marL="0">
              <a:lnSpc>
                <a:spcPts val="4388"/>
              </a:lnSpc>
              <a:buNone/>
            </a:pPr>
            <a:r>
              <a:rPr lang="en-US" sz="2925" b="1" dirty="0">
                <a:solidFill>
                  <a:srgbClr val="EAF6E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能有一个</a:t>
            </a:r>
            <a:pPr algn="l" indent="0" marL="0">
              <a:lnSpc>
                <a:spcPts val="4388"/>
              </a:lnSpc>
              <a:buNone/>
            </a:pPr>
            <a:r>
              <a:rPr lang="en-US" sz="2925" b="1" dirty="0">
                <a:solidFill>
                  <a:srgbClr val="34D3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可以相信的答案</a:t>
            </a:r>
            <a:pPr algn="l" indent="0" marL="0">
              <a:lnSpc>
                <a:spcPts val="4388"/>
              </a:lnSpc>
              <a:buNone/>
            </a:pPr>
            <a:r>
              <a:rPr lang="en-US" sz="2925" b="1" dirty="0">
                <a:solidFill>
                  <a:srgbClr val="EAF6E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2925" dirty="0"/>
          </a:p>
        </p:txBody>
      </p:sp>
      <p:sp>
        <p:nvSpPr>
          <p:cNvPr id="4" name="Text 2"/>
          <p:cNvSpPr/>
          <p:nvPr/>
        </p:nvSpPr>
        <p:spPr>
          <a:xfrm>
            <a:off x="6832038" y="1071563"/>
            <a:ext cx="1740462" cy="14401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928"/>
              </a:lnSpc>
              <a:buNone/>
            </a:pPr>
            <a:r>
              <a:rPr lang="en-US" sz="700" spc="111" kern="0" dirty="0">
                <a:solidFill>
                  <a:srgbClr val="73917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案例库 · 随时可查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7040075" y="1246584"/>
            <a:ext cx="1532425" cy="2198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1603"/>
              </a:lnSpc>
              <a:buNone/>
            </a:pPr>
            <a:r>
              <a:rPr lang="en-US" sz="1069" dirty="0">
                <a:solidFill>
                  <a:srgbClr val="A8CCB8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SS-20261028-0003</a:t>
            </a:r>
            <a:endParaRPr lang="en-US" sz="1069" dirty="0"/>
          </a:p>
        </p:txBody>
      </p:sp>
      <p:sp>
        <p:nvSpPr>
          <p:cNvPr id="6" name="Text 4"/>
          <p:cNvSpPr/>
          <p:nvPr/>
        </p:nvSpPr>
        <p:spPr>
          <a:xfrm>
            <a:off x="7264971" y="1507331"/>
            <a:ext cx="1307529" cy="3262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48"/>
              </a:lnSpc>
              <a:buNone/>
            </a:pPr>
            <a:r>
              <a:rPr lang="en-US" sz="700" dirty="0">
                <a:solidFill>
                  <a:srgbClr val="73917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现场合成 · 当场检出 · 双哈希入库</a:t>
            </a:r>
            <a:endParaRPr lang="en-US" sz="700" dirty="0"/>
          </a:p>
          <a:p>
            <a:pPr algn="r" indent="0" marL="0">
              <a:lnSpc>
                <a:spcPts val="1148"/>
              </a:lnSpc>
              <a:buNone/>
            </a:pPr>
            <a:r>
              <a:rPr lang="en-US" sz="700" dirty="0">
                <a:solidFill>
                  <a:srgbClr val="73917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答辩中生成的每一件证据都可复核</a:t>
            </a:r>
            <a:endParaRPr lang="en-US" sz="700" dirty="0"/>
          </a:p>
        </p:txBody>
      </p:sp>
      <p:sp>
        <p:nvSpPr>
          <p:cNvPr id="7" name="Text 5"/>
          <p:cNvSpPr/>
          <p:nvPr/>
        </p:nvSpPr>
        <p:spPr>
          <a:xfrm>
            <a:off x="7186613" y="3464496"/>
            <a:ext cx="1385888" cy="6560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595"/>
              </a:lnSpc>
              <a:buNone/>
            </a:pPr>
            <a:r>
              <a:rPr lang="en-US" sz="759" dirty="0">
                <a:solidFill>
                  <a:srgbClr val="A8CC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现场演示就绪 · 评审可任意出题</a:t>
            </a:r>
            <a:endParaRPr lang="en-US" sz="759" dirty="0"/>
          </a:p>
          <a:p>
            <a:pPr algn="r" indent="0" marL="0">
              <a:lnSpc>
                <a:spcPts val="1595"/>
              </a:lnSpc>
              <a:buNone/>
            </a:pPr>
            <a:r>
              <a:rPr lang="en-US" sz="759" dirty="0">
                <a:solidFill>
                  <a:srgbClr val="A8CC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证据链与案件库可当场复核</a:t>
            </a:r>
            <a:endParaRPr lang="en-US" sz="759" dirty="0"/>
          </a:p>
          <a:p>
            <a:pPr algn="r" indent="0" marL="0">
              <a:lnSpc>
                <a:spcPts val="1595"/>
              </a:lnSpc>
              <a:buNone/>
            </a:pPr>
            <a:r>
              <a:rPr lang="en-US" sz="759" dirty="0">
                <a:solidFill>
                  <a:srgbClr val="A8CC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引擎与测试代码随作品提交</a:t>
            </a:r>
            <a:endParaRPr lang="en-US" sz="759" dirty="0"/>
          </a:p>
        </p:txBody>
      </p:sp>
      <p:sp>
        <p:nvSpPr>
          <p:cNvPr id="8" name="Shape 6"/>
          <p:cNvSpPr/>
          <p:nvPr/>
        </p:nvSpPr>
        <p:spPr>
          <a:xfrm>
            <a:off x="571500" y="4513064"/>
            <a:ext cx="8001000" cy="0"/>
          </a:xfrm>
          <a:prstGeom prst="line">
            <a:avLst/>
          </a:prstGeom>
          <a:noFill/>
          <a:ln w="7144">
            <a:solidFill>
              <a:srgbClr val="34D39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71500" y="4645223"/>
            <a:ext cx="6315745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23"/>
              </a:lnSpc>
              <a:buNone/>
            </a:pPr>
            <a:r>
              <a:rPr lang="en-US" sz="816" dirty="0">
                <a:solidFill>
                  <a:srgbClr val="EAF6E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谢谢聆听，恳请各位评委批评指正</a:t>
            </a:r>
            <a:endParaRPr lang="en-US" sz="816" dirty="0"/>
          </a:p>
        </p:txBody>
      </p:sp>
      <p:sp>
        <p:nvSpPr>
          <p:cNvPr id="10" name="Text 8"/>
          <p:cNvSpPr/>
          <p:nvPr/>
        </p:nvSpPr>
        <p:spPr>
          <a:xfrm>
            <a:off x="6901532" y="4652367"/>
            <a:ext cx="1670968" cy="14823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731" dirty="0">
                <a:solidFill>
                  <a:srgbClr val="73917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【团队名称】 · 大连理工大学 · </a:t>
            </a:r>
            <a:pPr algn="l" indent="0" marL="0">
              <a:lnSpc>
                <a:spcPts val="1200"/>
              </a:lnSpc>
              <a:buNone/>
            </a:pPr>
            <a:r>
              <a:rPr lang="en-US" sz="800" dirty="0">
                <a:solidFill>
                  <a:srgbClr val="73917F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2026.10</a:t>
            </a:r>
            <a:endParaRPr lang="en-US" sz="731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2026-10-28T03:35:18Z</dcterms:created>
  <dcterms:modified xsi:type="dcterms:W3CDTF">2026-10-28T03:35:18Z</dcterms:modified>
</cp:coreProperties>
</file>