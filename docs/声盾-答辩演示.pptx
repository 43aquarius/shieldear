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开场 30 秒：完成自我介绍与团队亮相，语速沉稳。
- 一句话定位：声盾 = 面向 AI 语音诈骗的实时鉴伪反诈平台。
- 抛出钩子——「声音」是人际信任中最少被怀疑的信任凭证。
- 不在封面展开技术细节，为下一页诈骗话术演示留悬念。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用真实诈骗话术开场制造代入感——现场将用同类文本做 TTS 合成挑战演示鉴伪。
- 三个数据点递进讲：克隆成本消费级化 → 「声音熟悉」最少被怀疑 → 通话进行中零验真手段。
- 强调政策与工具的落差：反诈法（2022.12）与深度合成规定（2023.01）均已施行，用户侧验真工具仍缺位——这正是作品切口。
- 收尾落在警句：反诈的最后一公里，发生在接听电话的那几秒。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讲清收缩决策：第一版「大而全」方案主动收缩为单点问题，体现方法论成熟度。
- 核心命题完整读一遍：这通电话里的语音，是不是 AI 合成的？
- 选题依据：大连理工大学 2022–2024 年九件全国获奖作品（含国家一等奖2件）实证归纳的获奖规律。
- 四原则快节奏过：单点深挖 / 算法可量化 / 热点同频 / 轻量平台。
- 以三枚差异化标签收尾，为后续架构页与引擎页做铺垫。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自上而下过五层：采集 / 检测引擎 / 判决融合 / 业务 / 展示，每层只讲一句要点。
- 强调解耦价值：后续深度引擎替换只动引擎层，其余各层零改动。
- 重点讲同构引擎的取证价值：浏览器与服务端运行同一份代码，双端判决互相验证。
- 报出关键参数：2s 窗 · 1s 步进 · 50% 重叠，纯 TypeScript 零依赖。
- 技术栈一句带过：Next.js 16 · TypeScript · Prisma/SQLite · Web Audio 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设计哲学先行：不追求黑盒精度，追求可审计性——这是反诈取证场景的刚性要求。
- 八维特征不必逐卡细讲，挑代表展开：高频谱平坦度、基音微扰、高频周期性。
- 点出高频周期性为自研特征，且复用已有 FFT 计算，零额外开销。
- 每一维 = 「自然发声生理」vs「声码器生成机制」的物理差异，可逐特征追溯、第三方复算。
- 收尾过渡：这些特征的先验与权重全部来自数据拟合（引出下一页校准方法）。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方法论亮点：先验与权重不拍脑袋，全部由 50 条特征记录拟合得出——让数据纠正人的直觉。
- 重点讲「数据证伪直觉」：高频谱平坦度直觉上有效，实测分离度仅 0.10，拟合权重自动趋零。
- 对照讲「数据验证自研」：高频周期性分离度 1.28、获得权重 0.289，自研特征被数据确认。
- 校准全流程脚本化（scripts/fit-weights.ts），样本扩展可一键重拟合——可复现是作品可信度关键。
- 四步流程按 01–04 顺讲：样本构造 → 先验拟合 → 权重拟合 → 验证（含 LOO 稳定性检验）。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先报实测成绩：宽带合成检出 20/20、自然语音放行 4/5、RTF 0.003–0.015（纯 CPU）、判决时延 ≤1s。
- 主动讲边界反而建立可信度：窄带电话信道 16/20——300–3400Hz 带宽抹除高频信息，退化如实标注。
- 有声书误判引出深度引擎动机：轻量特征耦合「生产洁净度」与「人声性」。
- 三层口径划分体现诚实性设计：权威基准（既定指标）/ 本阶段实测 / 业务端到端——不把计划指标包装为已有指标。
- 图表解读：逐文件整段置信度，自然 n=5 与 TTS 合成 n=20 在宽带信道下分离清晰。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逐个点题：每个创新点都对应「别人没做 / 做不了」的具体差异，答辩时逐个点题。
- ①实时流式：既有研究与获奖作品均为离线文件检测；声盾边通话边判决，提前一分钟告警可能直接阻断一笔转账，RTF&lt;0.015 纯 CPU。
- ②可解释 + 数据校准：判决展开为标准化偏离、权重留痕，校准可证伪可重拟合。
- ③反诈业务闭环：检测→告警→存证→报告，结论无须二次加工即可进入举报协查流程。
- ④双端一致性：同构引擎互相验证，双哈希锚定构成无法事后构造的现场自证。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演示是最大杀器：TTS 当场生成、当场检出，全程不依赖预置素材。
- 三步动线顺讲：现场合成挑战 → 实时鉴听（波形滚动、逐窗置信度、红色告警 + 提示音）→ 存证与报告。
- 双哈希锚定 TTS 原始输出与分析副本，构成无法事后构造的现场自证。
- 预置样本可兜底限流场景，正常动线以现场自证为主。
- 主动邀请评委亲手输入文本验证，展示答辩现场全程演示。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尊重获奖前辈：谛听、白泽均为同方向优秀作品，声盾强调互补补位，不是碾压。
- 逐维度讲对照表：检测对象、技术核心、业务形态、指标口径、部署要求。
- 点明互补关系：谛听的 RawGAT-ST 技术路线正是声盾第二阶段的集成对象。
- 收束一句：不在「更低EER」上与深度模型正面竞争，而在实时性、业务闭环与可解释性上完成方向补位。
- 可指右侧截图佐证：判决卡与逐窗置信度曲线正是「可解释性」的直观体现。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社会价值是竞赛评委最看重的维度之一，本页放慢语速、逐列讲透。
- 公众端重点讲适老化：老年群体是AI语音诈骗高受害人群，子女为父母预装是最具体可落地方向。
- 机构端重点讲银行风控：大额转账附加风控信号，高风险通话触发人工复核或延迟到账。
- 治理端点到两部法规支点与电子材料规范化即可，不必展开。
- 收尾读合规声明：辅助验真、附带置信度与不确定性，不构成执法结论。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强调每一项都有明确交付物：基线EER、消融表、RTF&lt;1、8kHz窄带子集、报告与视频定稿。
- 第一周即复现AASIST基线，是锁定整条技术路线的关键决策——先立工程正确性锚点再深化。
- 全程依托成熟开源底座，架构已预留ONNX替换接口，业务层零改动。
- 如被追问周期风险：底座成熟、接口已预留，深度引擎替换不动业务层，路线可检验。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收尾控制在15秒以内，不再引入新信息。
- 大字念一遍标语收束全场：让AI无处遁形，让信任回归真实。
- 主动邀请评委现场出题，测试现场合成挑战。
- 致谢并恳请批评指正，保持眼神接触与从容姿态。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image" Target="../media/image-5-25.pn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image" Target="../media/image-5-29.png"/><Relationship Id="rId30" Type="http://schemas.openxmlformats.org/officeDocument/2006/relationships/image" Target="../media/image-5-30.png"/><Relationship Id="rId31" Type="http://schemas.openxmlformats.org/officeDocument/2006/relationships/image" Target="../media/image-5-31.png"/><Relationship Id="rId32" Type="http://schemas.openxmlformats.org/officeDocument/2006/relationships/image" Target="../media/image-5-32.png"/><Relationship Id="rId33" Type="http://schemas.openxmlformats.org/officeDocument/2006/relationships/image" Target="../media/image-5-33.png"/><Relationship Id="rId34" Type="http://schemas.openxmlformats.org/officeDocument/2006/relationships/image" Target="../media/image-5-34.png"/><Relationship Id="rId35" Type="http://schemas.openxmlformats.org/officeDocument/2006/relationships/image" Target="../media/image-5-35.png"/><Relationship Id="rId36" Type="http://schemas.openxmlformats.org/officeDocument/2006/relationships/image" Target="../media/image-5-36.png"/><Relationship Id="rId37" Type="http://schemas.openxmlformats.org/officeDocument/2006/relationships/image" Target="../media/image-5-37.png"/><Relationship Id="rId38" Type="http://schemas.openxmlformats.org/officeDocument/2006/relationships/image" Target="../media/image-5-38.png"/><Relationship Id="rId39" Type="http://schemas.openxmlformats.org/officeDocument/2006/relationships/image" Target="../media/image-5-39.png"/><Relationship Id="rId40" Type="http://schemas.openxmlformats.org/officeDocument/2006/relationships/image" Target="../media/image-5-40.png"/><Relationship Id="rId41" Type="http://schemas.openxmlformats.org/officeDocument/2006/relationships/image" Target="../media/image-5-41.png"/><Relationship Id="rId42" Type="http://schemas.openxmlformats.org/officeDocument/2006/relationships/image" Target="../media/image-5-42.png"/><Relationship Id="rId43" Type="http://schemas.openxmlformats.org/officeDocument/2006/relationships/slideLayout" Target="../slideLayouts/slideLayout1.xml"/><Relationship Id="rId4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image" Target="../media/image-13-21.png"/><Relationship Id="rId22" Type="http://schemas.openxmlformats.org/officeDocument/2006/relationships/image" Target="../media/image-13-22.png"/><Relationship Id="rId23" Type="http://schemas.openxmlformats.org/officeDocument/2006/relationships/image" Target="../media/image-13-23.png"/><Relationship Id="rId24" Type="http://schemas.openxmlformats.org/officeDocument/2006/relationships/image" Target="../media/image-13-24.png"/><Relationship Id="rId25" Type="http://schemas.openxmlformats.org/officeDocument/2006/relationships/image" Target="../media/image-13-25.png"/><Relationship Id="rId26" Type="http://schemas.openxmlformats.org/officeDocument/2006/relationships/image" Target="../media/image-13-26.png"/><Relationship Id="rId27" Type="http://schemas.openxmlformats.org/officeDocument/2006/relationships/image" Target="../media/image-13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0772" y="289322"/>
            <a:ext cx="2858281" cy="232172"/>
          </a:xfrm>
          <a:prstGeom prst="roundRect">
            <a:avLst>
              <a:gd name="adj" fmla="val 41021516"/>
            </a:avLst>
          </a:prstGeom>
          <a:solidFill>
            <a:srgbClr val="12201A">
              <a:alpha val="62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1"/>
          <p:cNvSpPr/>
          <p:nvPr/>
        </p:nvSpPr>
        <p:spPr>
          <a:xfrm>
            <a:off x="578644" y="34825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6" name="Text 2"/>
          <p:cNvSpPr/>
          <p:nvPr/>
        </p:nvSpPr>
        <p:spPr>
          <a:xfrm>
            <a:off x="764381" y="335756"/>
            <a:ext cx="243680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37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全国大学生信息安全竞赛作品赛 · 应用安全（内容安全）</a:t>
            </a:r>
            <a:endParaRPr lang="en-US" sz="731" dirty="0"/>
          </a:p>
        </p:txBody>
      </p:sp>
      <p:sp>
        <p:nvSpPr>
          <p:cNvPr id="7" name="Text 3"/>
          <p:cNvSpPr/>
          <p:nvPr/>
        </p:nvSpPr>
        <p:spPr>
          <a:xfrm>
            <a:off x="6021177" y="376833"/>
            <a:ext cx="57150" cy="57150"/>
          </a:xfrm>
          <a:prstGeom prst="ellipse">
            <a:avLst/>
          </a:prstGeom>
          <a:solidFill>
            <a:srgbClr val="34D399">
              <a:alpha val="5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6149764" y="341114"/>
            <a:ext cx="29942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9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 · REALTIME AUDIO FORENSICS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33103"/>
            <a:ext cx="314325" cy="14288"/>
          </a:xfrm>
          <a:prstGeom prst="rect">
            <a:avLst/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914400" y="1322375"/>
            <a:ext cx="4757738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spc="52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</a:t>
            </a:r>
            <a:endParaRPr lang="en-US" sz="1238" dirty="0"/>
          </a:p>
        </p:txBody>
      </p:sp>
      <p:sp>
        <p:nvSpPr>
          <p:cNvPr id="11" name="Text 7"/>
          <p:cNvSpPr/>
          <p:nvPr/>
        </p:nvSpPr>
        <p:spPr>
          <a:xfrm>
            <a:off x="457200" y="1686706"/>
            <a:ext cx="8343900" cy="1290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10"/>
              </a:lnSpc>
              <a:buNone/>
            </a:pPr>
            <a:r>
              <a:rPr lang="en-US" sz="9225" b="1" spc="461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</a:t>
            </a:r>
            <a:endParaRPr lang="en-US" sz="9225" dirty="0"/>
          </a:p>
        </p:txBody>
      </p:sp>
      <p:sp>
        <p:nvSpPr>
          <p:cNvPr id="12" name="Text 8"/>
          <p:cNvSpPr/>
          <p:nvPr/>
        </p:nvSpPr>
        <p:spPr>
          <a:xfrm>
            <a:off x="457200" y="3038773"/>
            <a:ext cx="65291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9"/>
              </a:lnSpc>
              <a:buNone/>
            </a:pPr>
            <a:r>
              <a:rPr lang="en-US" sz="1406" spc="113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</a:t>
            </a:r>
            <a:pPr algn="l" indent="0" marL="0">
              <a:lnSpc>
                <a:spcPts val="2109"/>
              </a:lnSpc>
              <a:buNone/>
            </a:pPr>
            <a:r>
              <a:rPr lang="en-US" sz="1406" spc="113" kern="0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2109"/>
              </a:lnSpc>
              <a:buNone/>
            </a:pPr>
            <a:r>
              <a:rPr lang="en-US" sz="1406" spc="113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语音诈骗的实时鉴伪反诈平台</a:t>
            </a:r>
            <a:endParaRPr lang="en-US" sz="1406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49551"/>
            <a:ext cx="3057525" cy="42862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71488" y="3549551"/>
            <a:ext cx="0" cy="428625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42938" y="3656707"/>
            <a:ext cx="27146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让每一通</a:t>
            </a:r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「熟悉的声音」</a:t>
            </a:r>
            <a:pPr algn="l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，都经得起验证。</a:t>
            </a:r>
            <a:endParaRPr lang="en-US" sz="1125" dirty="0"/>
          </a:p>
        </p:txBody>
      </p:sp>
      <p:sp>
        <p:nvSpPr>
          <p:cNvPr id="16" name="Shape 11"/>
          <p:cNvSpPr/>
          <p:nvPr/>
        </p:nvSpPr>
        <p:spPr>
          <a:xfrm>
            <a:off x="6543675" y="1143000"/>
            <a:ext cx="142875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50819" y="1135856"/>
            <a:ext cx="0" cy="142875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43925" y="1143000"/>
            <a:ext cx="142875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679656" y="1135856"/>
            <a:ext cx="0" cy="142875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43675" y="4157663"/>
            <a:ext cx="142875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50819" y="4021931"/>
            <a:ext cx="0" cy="142875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679656" y="4021931"/>
            <a:ext cx="0" cy="142875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543925" y="4157663"/>
            <a:ext cx="142875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821165" y="1278731"/>
            <a:ext cx="204175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9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LIVE INPUT · 16 kHz MONO</a:t>
            </a:r>
            <a:endParaRPr lang="en-US" sz="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141" y="1543050"/>
            <a:ext cx="64294" cy="385763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441" y="1543050"/>
            <a:ext cx="64294" cy="714375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741" y="1543050"/>
            <a:ext cx="64294" cy="300038"/>
          </a:xfrm>
          <a:prstGeom prst="rect">
            <a:avLst/>
          </a:prstGeom>
        </p:spPr>
      </p:pic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3041" y="1543050"/>
            <a:ext cx="64294" cy="914400"/>
          </a:xfrm>
          <a:prstGeom prst="rect">
            <a:avLst/>
          </a:prstGeom>
        </p:spPr>
      </p:pic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7341" y="1543050"/>
            <a:ext cx="64294" cy="628650"/>
          </a:xfrm>
          <a:prstGeom prst="rect">
            <a:avLst/>
          </a:prstGeom>
        </p:spPr>
      </p:pic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1641" y="1543050"/>
            <a:ext cx="64294" cy="1071563"/>
          </a:xfrm>
          <a:prstGeom prst="rect">
            <a:avLst/>
          </a:prstGeom>
        </p:spPr>
      </p:pic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25941" y="1543050"/>
            <a:ext cx="64294" cy="457200"/>
          </a:xfrm>
          <a:prstGeom prst="rect">
            <a:avLst/>
          </a:prstGeom>
        </p:spPr>
      </p:pic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0241" y="1543050"/>
            <a:ext cx="64294" cy="842963"/>
          </a:xfrm>
          <a:prstGeom prst="rect">
            <a:avLst/>
          </a:prstGeom>
        </p:spPr>
      </p:pic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4541" y="1543050"/>
            <a:ext cx="64294" cy="1014413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8841" y="1543050"/>
            <a:ext cx="64294" cy="557213"/>
          </a:xfrm>
          <a:prstGeom prst="rect">
            <a:avLst/>
          </a:prstGeom>
        </p:spPr>
      </p:pic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83141" y="1543050"/>
            <a:ext cx="64294" cy="885825"/>
          </a:xfrm>
          <a:prstGeom prst="rect">
            <a:avLst/>
          </a:prstGeom>
        </p:spPr>
      </p:pic>
      <p:pic>
        <p:nvPicPr>
          <p:cNvPr id="3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97441" y="1543050"/>
            <a:ext cx="64294" cy="414338"/>
          </a:xfrm>
          <a:prstGeom prst="rect">
            <a:avLst/>
          </a:prstGeom>
        </p:spPr>
      </p:pic>
      <p:pic>
        <p:nvPicPr>
          <p:cNvPr id="3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1741" y="1543050"/>
            <a:ext cx="64294" cy="685800"/>
          </a:xfrm>
          <a:prstGeom prst="rect">
            <a:avLst/>
          </a:prstGeom>
        </p:spPr>
      </p:pic>
      <p:pic>
        <p:nvPicPr>
          <p:cNvPr id="3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26041" y="1543050"/>
            <a:ext cx="64294" cy="328613"/>
          </a:xfrm>
          <a:prstGeom prst="rect">
            <a:avLst/>
          </a:prstGeom>
        </p:spPr>
      </p:pic>
      <p:pic>
        <p:nvPicPr>
          <p:cNvPr id="3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40141" y="2643188"/>
            <a:ext cx="1550194" cy="14288"/>
          </a:xfrm>
          <a:prstGeom prst="rect">
            <a:avLst/>
          </a:prstGeom>
        </p:spPr>
      </p:pic>
      <p:pic>
        <p:nvPicPr>
          <p:cNvPr id="4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0141" y="3371850"/>
            <a:ext cx="64294" cy="385763"/>
          </a:xfrm>
          <a:prstGeom prst="rect">
            <a:avLst/>
          </a:prstGeom>
        </p:spPr>
      </p:pic>
      <p:pic>
        <p:nvPicPr>
          <p:cNvPr id="4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4441" y="3043238"/>
            <a:ext cx="64294" cy="714375"/>
          </a:xfrm>
          <a:prstGeom prst="rect">
            <a:avLst/>
          </a:prstGeom>
        </p:spPr>
      </p:pic>
      <p:pic>
        <p:nvPicPr>
          <p:cNvPr id="42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068741" y="3457575"/>
            <a:ext cx="64294" cy="300038"/>
          </a:xfrm>
          <a:prstGeom prst="rect">
            <a:avLst/>
          </a:prstGeom>
        </p:spPr>
      </p:pic>
      <p:pic>
        <p:nvPicPr>
          <p:cNvPr id="4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183041" y="2843213"/>
            <a:ext cx="64294" cy="914400"/>
          </a:xfrm>
          <a:prstGeom prst="rect">
            <a:avLst/>
          </a:prstGeom>
        </p:spPr>
      </p:pic>
      <p:pic>
        <p:nvPicPr>
          <p:cNvPr id="4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97341" y="3128963"/>
            <a:ext cx="64294" cy="628650"/>
          </a:xfrm>
          <a:prstGeom prst="rect">
            <a:avLst/>
          </a:prstGeom>
        </p:spPr>
      </p:pic>
      <p:pic>
        <p:nvPicPr>
          <p:cNvPr id="4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11641" y="2686050"/>
            <a:ext cx="64294" cy="1071563"/>
          </a:xfrm>
          <a:prstGeom prst="rect">
            <a:avLst/>
          </a:prstGeom>
        </p:spPr>
      </p:pic>
      <p:pic>
        <p:nvPicPr>
          <p:cNvPr id="4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525941" y="3300413"/>
            <a:ext cx="64294" cy="457200"/>
          </a:xfrm>
          <a:prstGeom prst="rect">
            <a:avLst/>
          </a:prstGeom>
        </p:spPr>
      </p:pic>
      <p:pic>
        <p:nvPicPr>
          <p:cNvPr id="4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40241" y="2914650"/>
            <a:ext cx="64294" cy="842963"/>
          </a:xfrm>
          <a:prstGeom prst="rect">
            <a:avLst/>
          </a:prstGeom>
        </p:spPr>
      </p:pic>
      <p:pic>
        <p:nvPicPr>
          <p:cNvPr id="48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754541" y="2743200"/>
            <a:ext cx="64294" cy="1014413"/>
          </a:xfrm>
          <a:prstGeom prst="rect">
            <a:avLst/>
          </a:prstGeom>
        </p:spPr>
      </p:pic>
      <p:pic>
        <p:nvPicPr>
          <p:cNvPr id="49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868841" y="3200400"/>
            <a:ext cx="64294" cy="557213"/>
          </a:xfrm>
          <a:prstGeom prst="rect">
            <a:avLst/>
          </a:prstGeom>
        </p:spPr>
      </p:pic>
      <p:pic>
        <p:nvPicPr>
          <p:cNvPr id="50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983141" y="2871788"/>
            <a:ext cx="64294" cy="885825"/>
          </a:xfrm>
          <a:prstGeom prst="rect">
            <a:avLst/>
          </a:prstGeom>
        </p:spPr>
      </p:pic>
      <p:pic>
        <p:nvPicPr>
          <p:cNvPr id="51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097441" y="3343275"/>
            <a:ext cx="64294" cy="414338"/>
          </a:xfrm>
          <a:prstGeom prst="rect">
            <a:avLst/>
          </a:prstGeom>
        </p:spPr>
      </p:pic>
      <p:pic>
        <p:nvPicPr>
          <p:cNvPr id="5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211741" y="3071813"/>
            <a:ext cx="64294" cy="685800"/>
          </a:xfrm>
          <a:prstGeom prst="rect">
            <a:avLst/>
          </a:prstGeom>
        </p:spPr>
      </p:pic>
      <p:pic>
        <p:nvPicPr>
          <p:cNvPr id="53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26041" y="3429000"/>
            <a:ext cx="64294" cy="328613"/>
          </a:xfrm>
          <a:prstGeom prst="rect">
            <a:avLst/>
          </a:prstGeom>
        </p:spPr>
      </p:pic>
      <p:sp>
        <p:nvSpPr>
          <p:cNvPr id="54" name="Text 20"/>
          <p:cNvSpPr/>
          <p:nvPr/>
        </p:nvSpPr>
        <p:spPr>
          <a:xfrm>
            <a:off x="6788014" y="3904059"/>
            <a:ext cx="212685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9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· REALTIME VERDICT</a:t>
            </a:r>
            <a:endParaRPr lang="en-US" sz="800" dirty="0"/>
          </a:p>
        </p:txBody>
      </p:sp>
      <p:sp>
        <p:nvSpPr>
          <p:cNvPr id="55" name="Shape 21"/>
          <p:cNvSpPr/>
          <p:nvPr/>
        </p:nvSpPr>
        <p:spPr>
          <a:xfrm>
            <a:off x="457200" y="4532709"/>
            <a:ext cx="82296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6" name="Text 22"/>
          <p:cNvSpPr/>
          <p:nvPr/>
        </p:nvSpPr>
        <p:spPr>
          <a:xfrm>
            <a:off x="457200" y="4679156"/>
            <a:ext cx="753487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参赛团队：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【团队名称】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答辩人：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【成员姓名】</a:t>
            </a:r>
            <a:endParaRPr lang="en-US" sz="788" dirty="0"/>
          </a:p>
        </p:txBody>
      </p:sp>
      <p:sp>
        <p:nvSpPr>
          <p:cNvPr id="57" name="Text 23"/>
          <p:cNvSpPr/>
          <p:nvPr/>
        </p:nvSpPr>
        <p:spPr>
          <a:xfrm>
            <a:off x="7970888" y="4684514"/>
            <a:ext cx="75138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spc="59" kern="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</a:t>
            </a:r>
            <a:pPr algn="l" indent="0" marL="0">
              <a:lnSpc>
                <a:spcPts val="1200"/>
              </a:lnSpc>
              <a:buNone/>
            </a:pPr>
            <a:r>
              <a:rPr lang="en-US" sz="731" spc="5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 </a:t>
            </a:r>
            <a:pPr algn="l" indent="0" marL="0">
              <a:lnSpc>
                <a:spcPts val="1200"/>
              </a:lnSpc>
              <a:buNone/>
            </a:pPr>
            <a:r>
              <a:rPr lang="en-US" sz="800" spc="59" kern="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pPr algn="l" indent="0" marL="0">
              <a:lnSpc>
                <a:spcPts val="1200"/>
              </a:lnSpc>
              <a:buNone/>
            </a:pPr>
            <a:r>
              <a:rPr lang="en-US" sz="731" spc="5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月</a:t>
            </a:r>
            <a:endParaRPr lang="en-US" sz="73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145604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PAIN POINT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632347" y="405408"/>
            <a:ext cx="7144" cy="100013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725216" y="385763"/>
            <a:ext cx="386477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1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731" dirty="0"/>
          </a:p>
        </p:txBody>
      </p:sp>
      <p:sp>
        <p:nvSpPr>
          <p:cNvPr id="5" name="Text 3"/>
          <p:cNvSpPr/>
          <p:nvPr/>
        </p:nvSpPr>
        <p:spPr>
          <a:xfrm>
            <a:off x="7105352" y="391120"/>
            <a:ext cx="200646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VOICE CLONE SCENARIO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625078"/>
            <a:ext cx="8636000" cy="356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2"/>
              </a:lnSpc>
              <a:buNone/>
            </a:pPr>
            <a:r>
              <a:rPr lang="en-US" sz="20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一通「熟悉的声音」，可能是 </a:t>
            </a:r>
            <a:pPr algn="l" indent="0" marL="0">
              <a:lnSpc>
                <a:spcPts val="2602"/>
              </a:lnSpc>
              <a:buNone/>
            </a:pPr>
            <a:r>
              <a:rPr lang="en-US" sz="2081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2602"/>
              </a:lnSpc>
              <a:buNone/>
            </a:pPr>
            <a:r>
              <a:rPr lang="en-US" sz="2081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的表演</a:t>
            </a:r>
            <a:pPr algn="l" indent="0" marL="0">
              <a:lnSpc>
                <a:spcPts val="2602"/>
              </a:lnSpc>
              <a:buNone/>
            </a:pPr>
            <a:r>
              <a:rPr lang="en-US" sz="20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081" dirty="0"/>
          </a:p>
        </p:txBody>
      </p:sp>
      <p:sp>
        <p:nvSpPr>
          <p:cNvPr id="7" name="Text 5"/>
          <p:cNvSpPr/>
          <p:nvPr/>
        </p:nvSpPr>
        <p:spPr>
          <a:xfrm>
            <a:off x="460772" y="1116211"/>
            <a:ext cx="3364706" cy="2944118"/>
          </a:xfrm>
          <a:prstGeom prst="roundRect">
            <a:avLst>
              <a:gd name="adj" fmla="val 4529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7941" y="1294805"/>
            <a:ext cx="307181" cy="307181"/>
          </a:xfrm>
          <a:prstGeom prst="roundRect">
            <a:avLst>
              <a:gd name="adj" fmla="val 3410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588" y="1334453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▯</a:t>
            </a:r>
            <a:endParaRPr lang="en-US" sz="1547" dirty="0"/>
          </a:p>
        </p:txBody>
      </p:sp>
      <p:sp>
        <p:nvSpPr>
          <p:cNvPr id="10" name="Text 8"/>
          <p:cNvSpPr/>
          <p:nvPr/>
        </p:nvSpPr>
        <p:spPr>
          <a:xfrm>
            <a:off x="1064419" y="1307306"/>
            <a:ext cx="1040451" cy="1047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3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REPLAY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64419" y="1439466"/>
            <a:ext cx="992267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通话场景还原</a:t>
            </a:r>
            <a:endParaRPr lang="en-US" sz="788" dirty="0"/>
          </a:p>
        </p:txBody>
      </p:sp>
      <p:sp>
        <p:nvSpPr>
          <p:cNvPr id="12" name="Text 10"/>
          <p:cNvSpPr/>
          <p:nvPr/>
        </p:nvSpPr>
        <p:spPr>
          <a:xfrm>
            <a:off x="3564731" y="1419820"/>
            <a:ext cx="57150" cy="57150"/>
          </a:xfrm>
          <a:prstGeom prst="ellipse">
            <a:avLst/>
          </a:prstGeom>
          <a:solidFill>
            <a:srgbClr val="FBBF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4369" y="1748433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31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“</a:t>
            </a:r>
            <a:endParaRPr lang="en-US" sz="2531" dirty="0"/>
          </a:p>
        </p:txBody>
      </p:sp>
      <p:sp>
        <p:nvSpPr>
          <p:cNvPr id="14" name="Text 12"/>
          <p:cNvSpPr/>
          <p:nvPr/>
        </p:nvSpPr>
        <p:spPr>
          <a:xfrm>
            <a:off x="664369" y="2048470"/>
            <a:ext cx="2957513" cy="659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3"/>
              </a:lnSpc>
              <a:buNone/>
            </a:pPr>
            <a:r>
              <a:rPr lang="en-US" sz="135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「妈，是我啊，我手机摔坏了，急需</a:t>
            </a:r>
            <a:pPr algn="l" indent="0" marL="0">
              <a:lnSpc>
                <a:spcPts val="2403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八千块</a:t>
            </a:r>
            <a:pPr algn="l" indent="0" marL="0">
              <a:lnSpc>
                <a:spcPts val="2403"/>
              </a:lnSpc>
              <a:buNone/>
            </a:pPr>
            <a:r>
              <a:rPr lang="en-US" sz="135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周转……」</a:t>
            </a:r>
            <a:endParaRPr lang="en-US" sz="13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369" y="3473648"/>
            <a:ext cx="35719" cy="5715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06" y="3416498"/>
            <a:ext cx="35719" cy="11430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44" y="3345061"/>
            <a:ext cx="35719" cy="185738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681" y="3445073"/>
            <a:ext cx="35719" cy="85725"/>
          </a:xfrm>
          <a:prstGeom prst="rect">
            <a:avLst/>
          </a:prstGeom>
        </p:spPr>
      </p:pic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119" y="3387923"/>
            <a:ext cx="35719" cy="142875"/>
          </a:xfrm>
          <a:prstGeom prst="rect">
            <a:avLst/>
          </a:prstGeom>
        </p:spPr>
      </p:pic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556" y="3330773"/>
            <a:ext cx="35719" cy="200025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994" y="3459361"/>
            <a:ext cx="35719" cy="71438"/>
          </a:xfrm>
          <a:prstGeom prst="rect">
            <a:avLst/>
          </a:prstGeom>
        </p:spPr>
      </p:pic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4431" y="3402211"/>
            <a:ext cx="35719" cy="128588"/>
          </a:xfrm>
          <a:prstGeom prst="rect">
            <a:avLst/>
          </a:prstGeom>
        </p:spPr>
      </p:pic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5869" y="3359348"/>
            <a:ext cx="35719" cy="171450"/>
          </a:xfrm>
          <a:prstGeom prst="rect">
            <a:avLst/>
          </a:prstGeom>
        </p:spPr>
      </p:pic>
      <p:pic>
        <p:nvPicPr>
          <p:cNvPr id="2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7306" y="3430786"/>
            <a:ext cx="35719" cy="100013"/>
          </a:xfrm>
          <a:prstGeom prst="rect">
            <a:avLst/>
          </a:prstGeom>
        </p:spPr>
      </p:pic>
      <p:pic>
        <p:nvPicPr>
          <p:cNvPr id="2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78744" y="3373636"/>
            <a:ext cx="35719" cy="157163"/>
          </a:xfrm>
          <a:prstGeom prst="rect">
            <a:avLst/>
          </a:prstGeom>
        </p:spPr>
      </p:pic>
      <p:pic>
        <p:nvPicPr>
          <p:cNvPr id="2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50181" y="3466505"/>
            <a:ext cx="35719" cy="64294"/>
          </a:xfrm>
          <a:prstGeom prst="rect">
            <a:avLst/>
          </a:prstGeom>
        </p:spPr>
      </p:pic>
      <p:sp>
        <p:nvSpPr>
          <p:cNvPr id="27" name="Shape 13"/>
          <p:cNvSpPr/>
          <p:nvPr/>
        </p:nvSpPr>
        <p:spPr>
          <a:xfrm>
            <a:off x="664369" y="3634383"/>
            <a:ext cx="29575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8" name="Text 14"/>
          <p:cNvSpPr/>
          <p:nvPr/>
        </p:nvSpPr>
        <p:spPr>
          <a:xfrm>
            <a:off x="664369" y="3752255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055" dirty="0"/>
          </a:p>
        </p:txBody>
      </p:sp>
      <p:sp>
        <p:nvSpPr>
          <p:cNvPr id="29" name="Text 15"/>
          <p:cNvSpPr/>
          <p:nvPr/>
        </p:nvSpPr>
        <p:spPr>
          <a:xfrm>
            <a:off x="828675" y="3737967"/>
            <a:ext cx="279320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标注｜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诈骗话术示例，声盾现场合成挑战即用此类文本演示鉴伪。</a:t>
            </a:r>
            <a:endParaRPr lang="en-US" sz="703" dirty="0"/>
          </a:p>
        </p:txBody>
      </p:sp>
      <p:sp>
        <p:nvSpPr>
          <p:cNvPr id="30" name="Text 16"/>
          <p:cNvSpPr/>
          <p:nvPr/>
        </p:nvSpPr>
        <p:spPr>
          <a:xfrm>
            <a:off x="4004072" y="1116211"/>
            <a:ext cx="4679156" cy="919423"/>
          </a:xfrm>
          <a:prstGeom prst="roundRect">
            <a:avLst>
              <a:gd name="adj" fmla="val 14504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17"/>
          <p:cNvSpPr/>
          <p:nvPr/>
        </p:nvSpPr>
        <p:spPr>
          <a:xfrm>
            <a:off x="4168378" y="1422276"/>
            <a:ext cx="307181" cy="307181"/>
          </a:xfrm>
          <a:prstGeom prst="roundRect">
            <a:avLst>
              <a:gd name="adj" fmla="val 3410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/>
        </p:nvSpPr>
        <p:spPr>
          <a:xfrm>
            <a:off x="4208026" y="146192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⎘</a:t>
            </a:r>
            <a:endParaRPr lang="en-US" sz="1547" dirty="0"/>
          </a:p>
        </p:txBody>
      </p:sp>
      <p:sp>
        <p:nvSpPr>
          <p:cNvPr id="33" name="Text 19"/>
          <p:cNvSpPr/>
          <p:nvPr/>
        </p:nvSpPr>
        <p:spPr>
          <a:xfrm>
            <a:off x="4593431" y="1294581"/>
            <a:ext cx="239670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spc="98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pPr algn="l" indent="0" marL="0">
              <a:lnSpc>
                <a:spcPts val="1200"/>
              </a:lnSpc>
              <a:buNone/>
            </a:pPr>
            <a:r>
              <a:rPr lang="en-US" sz="800" spc="98" kern="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</a:t>
            </a:r>
            <a:pPr algn="l" indent="0" marL="0">
              <a:lnSpc>
                <a:spcPts val="1200"/>
              </a:lnSpc>
              <a:buNone/>
            </a:pPr>
            <a:r>
              <a:rPr lang="en-US" sz="703" spc="98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克隆成本</a:t>
            </a:r>
            <a:endParaRPr lang="en-US" sz="703" dirty="0"/>
          </a:p>
        </p:txBody>
      </p:sp>
      <p:sp>
        <p:nvSpPr>
          <p:cNvPr id="34" name="Text 20"/>
          <p:cNvSpPr/>
          <p:nvPr/>
        </p:nvSpPr>
        <p:spPr>
          <a:xfrm>
            <a:off x="4468072" y="1471389"/>
            <a:ext cx="2022932" cy="224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分钟级采样 </a:t>
            </a:r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/</a:t>
            </a:r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个位数人民币</a:t>
            </a:r>
            <a:endParaRPr lang="en-US" sz="1097" dirty="0"/>
          </a:p>
        </p:txBody>
      </p:sp>
      <p:sp>
        <p:nvSpPr>
          <p:cNvPr id="35" name="Text 21"/>
          <p:cNvSpPr/>
          <p:nvPr/>
        </p:nvSpPr>
        <p:spPr>
          <a:xfrm>
            <a:off x="4593431" y="1723206"/>
            <a:ext cx="177221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开源声码器与商业克隆服务已消费级化</a:t>
            </a:r>
            <a:endParaRPr lang="en-US" sz="703" dirty="0"/>
          </a:p>
        </p:txBody>
      </p:sp>
      <p:sp>
        <p:nvSpPr>
          <p:cNvPr id="36" name="Text 22"/>
          <p:cNvSpPr/>
          <p:nvPr/>
        </p:nvSpPr>
        <p:spPr>
          <a:xfrm>
            <a:off x="4004072" y="2128503"/>
            <a:ext cx="4679156" cy="919423"/>
          </a:xfrm>
          <a:prstGeom prst="roundRect">
            <a:avLst>
              <a:gd name="adj" fmla="val 14504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23"/>
          <p:cNvSpPr/>
          <p:nvPr/>
        </p:nvSpPr>
        <p:spPr>
          <a:xfrm>
            <a:off x="4168378" y="2434568"/>
            <a:ext cx="307181" cy="307181"/>
          </a:xfrm>
          <a:prstGeom prst="roundRect">
            <a:avLst>
              <a:gd name="adj" fmla="val 3410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24"/>
          <p:cNvSpPr/>
          <p:nvPr/>
        </p:nvSpPr>
        <p:spPr>
          <a:xfrm>
            <a:off x="4208026" y="2474215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39" name="Text 25"/>
          <p:cNvSpPr/>
          <p:nvPr/>
        </p:nvSpPr>
        <p:spPr>
          <a:xfrm>
            <a:off x="4593431" y="2395277"/>
            <a:ext cx="3929063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spc="98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pPr algn="l" indent="0" marL="0">
              <a:lnSpc>
                <a:spcPts val="1200"/>
              </a:lnSpc>
              <a:buNone/>
            </a:pPr>
            <a:r>
              <a:rPr lang="en-US" sz="800" spc="98" kern="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</a:t>
            </a:r>
            <a:pPr algn="l" indent="0" marL="0">
              <a:lnSpc>
                <a:spcPts val="1200"/>
              </a:lnSpc>
              <a:buNone/>
            </a:pPr>
            <a:r>
              <a:rPr lang="en-US" sz="703" spc="98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受害依据</a:t>
            </a:r>
            <a:endParaRPr lang="en-US" sz="703" dirty="0"/>
          </a:p>
        </p:txBody>
      </p:sp>
      <p:sp>
        <p:nvSpPr>
          <p:cNvPr id="40" name="Text 26"/>
          <p:cNvSpPr/>
          <p:nvPr/>
        </p:nvSpPr>
        <p:spPr>
          <a:xfrm>
            <a:off x="4593431" y="2572085"/>
            <a:ext cx="3000375" cy="225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「声音熟悉」</a:t>
            </a:r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是人际信任中最少被怀疑的一环</a:t>
            </a:r>
            <a:endParaRPr lang="en-US" sz="1097" dirty="0"/>
          </a:p>
        </p:txBody>
      </p:sp>
      <p:sp>
        <p:nvSpPr>
          <p:cNvPr id="41" name="Text 27"/>
          <p:cNvSpPr/>
          <p:nvPr/>
        </p:nvSpPr>
        <p:spPr>
          <a:xfrm>
            <a:off x="4004072" y="3140794"/>
            <a:ext cx="4679156" cy="919423"/>
          </a:xfrm>
          <a:prstGeom prst="roundRect">
            <a:avLst>
              <a:gd name="adj" fmla="val 14504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28"/>
          <p:cNvSpPr/>
          <p:nvPr/>
        </p:nvSpPr>
        <p:spPr>
          <a:xfrm>
            <a:off x="4168378" y="3446859"/>
            <a:ext cx="307181" cy="307181"/>
          </a:xfrm>
          <a:prstGeom prst="roundRect">
            <a:avLst>
              <a:gd name="adj" fmla="val 3410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29"/>
          <p:cNvSpPr/>
          <p:nvPr/>
        </p:nvSpPr>
        <p:spPr>
          <a:xfrm>
            <a:off x="4208026" y="348650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1547" dirty="0"/>
          </a:p>
        </p:txBody>
      </p:sp>
      <p:sp>
        <p:nvSpPr>
          <p:cNvPr id="44" name="Text 30"/>
          <p:cNvSpPr/>
          <p:nvPr/>
        </p:nvSpPr>
        <p:spPr>
          <a:xfrm>
            <a:off x="4593431" y="3407569"/>
            <a:ext cx="3449003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spc="98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pPr algn="l" indent="0" marL="0">
              <a:lnSpc>
                <a:spcPts val="1200"/>
              </a:lnSpc>
              <a:buNone/>
            </a:pPr>
            <a:r>
              <a:rPr lang="en-US" sz="800" spc="98" kern="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</a:t>
            </a:r>
            <a:pPr algn="l" indent="0" marL="0">
              <a:lnSpc>
                <a:spcPts val="1200"/>
              </a:lnSpc>
              <a:buNone/>
            </a:pPr>
            <a:r>
              <a:rPr lang="en-US" sz="703" spc="98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工具现状</a:t>
            </a:r>
            <a:endParaRPr lang="en-US" sz="703" dirty="0"/>
          </a:p>
        </p:txBody>
      </p:sp>
      <p:sp>
        <p:nvSpPr>
          <p:cNvPr id="45" name="Text 31"/>
          <p:cNvSpPr/>
          <p:nvPr/>
        </p:nvSpPr>
        <p:spPr>
          <a:xfrm>
            <a:off x="4593431" y="3584377"/>
            <a:ext cx="2550319" cy="225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通话进行中，普通人</a:t>
            </a:r>
            <a:pPr algn="l" indent="0" marL="0">
              <a:lnSpc>
                <a:spcPts val="1645"/>
              </a:lnSpc>
              <a:buNone/>
            </a:pPr>
            <a:r>
              <a:rPr lang="en-US" sz="1097" b="1" dirty="0">
                <a:solidFill>
                  <a:srgbClr val="F871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没有任何验真手段</a:t>
            </a:r>
            <a:endParaRPr lang="en-US" sz="1097" dirty="0"/>
          </a:p>
        </p:txBody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206776"/>
            <a:ext cx="5729288" cy="565249"/>
          </a:xfrm>
          <a:prstGeom prst="rect">
            <a:avLst/>
          </a:prstGeom>
        </p:spPr>
      </p:pic>
      <p:sp>
        <p:nvSpPr>
          <p:cNvPr id="47" name="Shape 32"/>
          <p:cNvSpPr/>
          <p:nvPr/>
        </p:nvSpPr>
        <p:spPr>
          <a:xfrm>
            <a:off x="471488" y="4206776"/>
            <a:ext cx="0" cy="565249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48" name="Text 33"/>
          <p:cNvSpPr/>
          <p:nvPr/>
        </p:nvSpPr>
        <p:spPr>
          <a:xfrm>
            <a:off x="628650" y="4410819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547" dirty="0"/>
          </a:p>
        </p:txBody>
      </p:sp>
      <p:sp>
        <p:nvSpPr>
          <p:cNvPr id="49" name="Text 34"/>
          <p:cNvSpPr/>
          <p:nvPr/>
        </p:nvSpPr>
        <p:spPr>
          <a:xfrm>
            <a:off x="900113" y="4333131"/>
            <a:ext cx="4099173" cy="151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2022.12</a:t>
            </a:r>
            <a:pPr algn="l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施行、《互联网信息服务深度合成管理规定》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2023.01</a:t>
            </a:r>
            <a:pPr algn="l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</a:t>
            </a:r>
            <a:endParaRPr lang="en-US" sz="788" dirty="0"/>
          </a:p>
        </p:txBody>
      </p:sp>
      <p:sp>
        <p:nvSpPr>
          <p:cNvPr id="50" name="Text 35"/>
          <p:cNvSpPr/>
          <p:nvPr/>
        </p:nvSpPr>
        <p:spPr>
          <a:xfrm>
            <a:off x="900113" y="4511725"/>
            <a:ext cx="430413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治理框架已就位，用户侧验真工具仍缺位</a:t>
            </a:r>
            <a:endParaRPr lang="en-US" sz="703" dirty="0"/>
          </a:p>
        </p:txBody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9363" y="4206776"/>
            <a:ext cx="2357438" cy="565249"/>
          </a:xfrm>
          <a:prstGeom prst="rect">
            <a:avLst/>
          </a:prstGeom>
        </p:spPr>
      </p:pic>
      <p:sp>
        <p:nvSpPr>
          <p:cNvPr id="52" name="Shape 36"/>
          <p:cNvSpPr/>
          <p:nvPr/>
        </p:nvSpPr>
        <p:spPr>
          <a:xfrm>
            <a:off x="6343650" y="4206776"/>
            <a:ext cx="0" cy="565249"/>
          </a:xfrm>
          <a:prstGeom prst="line">
            <a:avLst/>
          </a:prstGeom>
          <a:noFill/>
          <a:ln w="28575">
            <a:solidFill>
              <a:srgbClr val="FBBF24"/>
            </a:solidFill>
            <a:prstDash val="solid"/>
          </a:ln>
        </p:spPr>
      </p:sp>
      <p:sp>
        <p:nvSpPr>
          <p:cNvPr id="53" name="Text 37"/>
          <p:cNvSpPr/>
          <p:nvPr/>
        </p:nvSpPr>
        <p:spPr>
          <a:xfrm>
            <a:off x="6486525" y="4410819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BBF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54" name="Text 38"/>
          <p:cNvSpPr/>
          <p:nvPr/>
        </p:nvSpPr>
        <p:spPr>
          <a:xfrm>
            <a:off x="6729413" y="4306788"/>
            <a:ext cx="1828800" cy="36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9"/>
              </a:lnSpc>
              <a:buNone/>
            </a:pPr>
            <a:r>
              <a:rPr lang="en-US" sz="928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反诈的最后一公里，</a:t>
            </a:r>
            <a:endParaRPr lang="en-US" sz="928" dirty="0"/>
          </a:p>
          <a:p>
            <a:pPr algn="l" indent="0" marL="0">
              <a:lnSpc>
                <a:spcPts val="1439"/>
              </a:lnSpc>
              <a:buNone/>
            </a:pPr>
            <a:r>
              <a:rPr lang="en-US" sz="928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发生在接听电话的那几秒。</a:t>
            </a:r>
            <a:endParaRPr lang="en-US" sz="92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15531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POSITIONING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705012" y="405408"/>
            <a:ext cx="7144" cy="100013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797881" y="385763"/>
            <a:ext cx="1267792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1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定位与设计原则</a:t>
            </a:r>
            <a:endParaRPr lang="en-US" sz="731" dirty="0"/>
          </a:p>
        </p:txBody>
      </p:sp>
      <p:sp>
        <p:nvSpPr>
          <p:cNvPr id="5" name="Text 3"/>
          <p:cNvSpPr/>
          <p:nvPr/>
        </p:nvSpPr>
        <p:spPr>
          <a:xfrm>
            <a:off x="7242870" y="391120"/>
            <a:ext cx="190113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FOCUS ON ONE QUESTION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625078"/>
            <a:ext cx="8636000" cy="366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2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单点深挖：只回答一个问题。</a:t>
            </a:r>
            <a:endParaRPr lang="en-US" sz="2138" dirty="0"/>
          </a:p>
        </p:txBody>
      </p:sp>
      <p:sp>
        <p:nvSpPr>
          <p:cNvPr id="7" name="Text 5"/>
          <p:cNvSpPr/>
          <p:nvPr/>
        </p:nvSpPr>
        <p:spPr>
          <a:xfrm>
            <a:off x="457200" y="106263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628650" y="1050131"/>
            <a:ext cx="8058150" cy="15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以大连理工大学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2022–2024</a:t>
            </a:r>
            <a:pPr algn="l" indent="0" marL="0">
              <a:lnSpc>
                <a:spcPts val="1200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年九件全国获奖作品（含国家一等奖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pPr algn="l" indent="0" marL="0">
              <a:lnSpc>
                <a:spcPts val="1200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件）实证归纳的获奖规律校准选题</a:t>
            </a:r>
            <a:endParaRPr lang="en-US" sz="731" dirty="0"/>
          </a:p>
        </p:txBody>
      </p:sp>
      <p:sp>
        <p:nvSpPr>
          <p:cNvPr id="9" name="Text 7"/>
          <p:cNvSpPr/>
          <p:nvPr/>
        </p:nvSpPr>
        <p:spPr>
          <a:xfrm>
            <a:off x="460772" y="1335881"/>
            <a:ext cx="8222456" cy="1091543"/>
          </a:xfrm>
          <a:prstGeom prst="roundRect">
            <a:avLst>
              <a:gd name="adj" fmla="val 12217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4344" y="1346597"/>
            <a:ext cx="128588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1488" y="1339453"/>
            <a:ext cx="0" cy="128588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51069" y="1346597"/>
            <a:ext cx="128588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72513" y="1339453"/>
            <a:ext cx="0" cy="128588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4344" y="2416708"/>
            <a:ext cx="128588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1488" y="2295265"/>
            <a:ext cx="0" cy="128588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72513" y="2295265"/>
            <a:ext cx="0" cy="128588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51069" y="2416708"/>
            <a:ext cx="128588" cy="0"/>
          </a:xfrm>
          <a:prstGeom prst="line">
            <a:avLst/>
          </a:prstGeom>
          <a:noFill/>
          <a:ln w="14288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7244" y="1553766"/>
            <a:ext cx="752951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00" spc="20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核心命题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7244" y="1768078"/>
            <a:ext cx="7529513" cy="427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64"/>
              </a:lnSpc>
              <a:buNone/>
            </a:pPr>
            <a:r>
              <a:rPr lang="en-US" sz="25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这通电话里的语音，</a:t>
            </a:r>
            <a:pPr algn="ctr" indent="0" marL="0">
              <a:lnSpc>
                <a:spcPts val="3364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是不是 </a:t>
            </a:r>
            <a:pPr algn="ctr" indent="0" marL="0">
              <a:lnSpc>
                <a:spcPts val="3364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ctr" indent="0" marL="0">
              <a:lnSpc>
                <a:spcPts val="3364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合成的？</a:t>
            </a:r>
            <a:endParaRPr lang="en-US" sz="2588" dirty="0"/>
          </a:p>
        </p:txBody>
      </p:sp>
      <p:sp>
        <p:nvSpPr>
          <p:cNvPr id="20" name="Text 18"/>
          <p:cNvSpPr/>
          <p:nvPr/>
        </p:nvSpPr>
        <p:spPr>
          <a:xfrm>
            <a:off x="460772" y="2577443"/>
            <a:ext cx="1964531" cy="1612367"/>
          </a:xfrm>
          <a:prstGeom prst="roundRect">
            <a:avLst>
              <a:gd name="adj" fmla="val 8270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1506" y="2723890"/>
            <a:ext cx="1643063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621506" y="3113224"/>
            <a:ext cx="16430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506" y="3216808"/>
            <a:ext cx="1643063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单点深挖</a:t>
            </a:r>
            <a:endParaRPr lang="en-US" sz="1069" dirty="0"/>
          </a:p>
        </p:txBody>
      </p:sp>
      <p:sp>
        <p:nvSpPr>
          <p:cNvPr id="24" name="Text 22"/>
          <p:cNvSpPr/>
          <p:nvPr/>
        </p:nvSpPr>
        <p:spPr>
          <a:xfrm>
            <a:off x="621506" y="3477555"/>
            <a:ext cx="1643063" cy="170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题目即卖点，评委三秒理解</a:t>
            </a:r>
            <a:endParaRPr lang="en-US" sz="731" dirty="0"/>
          </a:p>
        </p:txBody>
      </p:sp>
      <p:sp>
        <p:nvSpPr>
          <p:cNvPr id="25" name="Text 23"/>
          <p:cNvSpPr/>
          <p:nvPr/>
        </p:nvSpPr>
        <p:spPr>
          <a:xfrm>
            <a:off x="2546747" y="2577443"/>
            <a:ext cx="1964531" cy="1612367"/>
          </a:xfrm>
          <a:prstGeom prst="roundRect">
            <a:avLst>
              <a:gd name="adj" fmla="val 8270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707481" y="2723890"/>
            <a:ext cx="1643063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575" dirty="0"/>
          </a:p>
        </p:txBody>
      </p:sp>
      <p:sp>
        <p:nvSpPr>
          <p:cNvPr id="27" name="Shape 25"/>
          <p:cNvSpPr/>
          <p:nvPr/>
        </p:nvSpPr>
        <p:spPr>
          <a:xfrm>
            <a:off x="2707481" y="3113224"/>
            <a:ext cx="16430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07481" y="3216808"/>
            <a:ext cx="1643063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算法可量化</a:t>
            </a:r>
            <a:endParaRPr lang="en-US" sz="1069" dirty="0"/>
          </a:p>
        </p:txBody>
      </p:sp>
      <p:sp>
        <p:nvSpPr>
          <p:cNvPr id="29" name="Text 27"/>
          <p:cNvSpPr/>
          <p:nvPr/>
        </p:nvSpPr>
        <p:spPr>
          <a:xfrm>
            <a:off x="2707481" y="3477555"/>
            <a:ext cx="1643063" cy="170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公开数据集给硬指标</a:t>
            </a:r>
            <a:endParaRPr lang="en-US" sz="731" dirty="0"/>
          </a:p>
        </p:txBody>
      </p:sp>
      <p:sp>
        <p:nvSpPr>
          <p:cNvPr id="30" name="Text 28"/>
          <p:cNvSpPr/>
          <p:nvPr/>
        </p:nvSpPr>
        <p:spPr>
          <a:xfrm>
            <a:off x="4632722" y="2577443"/>
            <a:ext cx="1964531" cy="1612367"/>
          </a:xfrm>
          <a:prstGeom prst="roundRect">
            <a:avLst>
              <a:gd name="adj" fmla="val 8270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793456" y="2723890"/>
            <a:ext cx="1643063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575" dirty="0"/>
          </a:p>
        </p:txBody>
      </p:sp>
      <p:sp>
        <p:nvSpPr>
          <p:cNvPr id="32" name="Shape 30"/>
          <p:cNvSpPr/>
          <p:nvPr/>
        </p:nvSpPr>
        <p:spPr>
          <a:xfrm>
            <a:off x="4793456" y="3113224"/>
            <a:ext cx="16430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3456" y="3216808"/>
            <a:ext cx="1643062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热点同频</a:t>
            </a:r>
            <a:endParaRPr lang="en-US" sz="1069" dirty="0"/>
          </a:p>
        </p:txBody>
      </p:sp>
      <p:sp>
        <p:nvSpPr>
          <p:cNvPr id="34" name="Text 32"/>
          <p:cNvSpPr/>
          <p:nvPr/>
        </p:nvSpPr>
        <p:spPr>
          <a:xfrm>
            <a:off x="4793456" y="3477555"/>
            <a:ext cx="1643063" cy="170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反诈法与深度合成治理双支点</a:t>
            </a:r>
            <a:endParaRPr lang="en-US" sz="731" dirty="0"/>
          </a:p>
        </p:txBody>
      </p:sp>
      <p:sp>
        <p:nvSpPr>
          <p:cNvPr id="35" name="Text 33"/>
          <p:cNvSpPr/>
          <p:nvPr/>
        </p:nvSpPr>
        <p:spPr>
          <a:xfrm>
            <a:off x="6718697" y="2577443"/>
            <a:ext cx="1964531" cy="1612367"/>
          </a:xfrm>
          <a:prstGeom prst="roundRect">
            <a:avLst>
              <a:gd name="adj" fmla="val 8270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879431" y="2723890"/>
            <a:ext cx="1643063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575" dirty="0"/>
          </a:p>
        </p:txBody>
      </p:sp>
      <p:sp>
        <p:nvSpPr>
          <p:cNvPr id="37" name="Shape 35"/>
          <p:cNvSpPr/>
          <p:nvPr/>
        </p:nvSpPr>
        <p:spPr>
          <a:xfrm>
            <a:off x="6879431" y="3113224"/>
            <a:ext cx="16430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9431" y="3216808"/>
            <a:ext cx="1643062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轻量平台</a:t>
            </a:r>
            <a:endParaRPr lang="en-US" sz="1069" dirty="0"/>
          </a:p>
        </p:txBody>
      </p:sp>
      <p:sp>
        <p:nvSpPr>
          <p:cNvPr id="39" name="Text 37"/>
          <p:cNvSpPr/>
          <p:nvPr/>
        </p:nvSpPr>
        <p:spPr>
          <a:xfrm>
            <a:off x="6879431" y="3477555"/>
            <a:ext cx="1643063" cy="170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三到四人、可闭环完成</a:t>
            </a:r>
            <a:endParaRPr lang="en-US" sz="731" dirty="0"/>
          </a:p>
        </p:txBody>
      </p:sp>
      <p:sp>
        <p:nvSpPr>
          <p:cNvPr id="40" name="Shape 38"/>
          <p:cNvSpPr/>
          <p:nvPr/>
        </p:nvSpPr>
        <p:spPr>
          <a:xfrm>
            <a:off x="457200" y="4354116"/>
            <a:ext cx="82296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72630" y="4559498"/>
            <a:ext cx="1036569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176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差异化三件套</a:t>
            </a:r>
            <a:endParaRPr lang="en-US" sz="731" dirty="0"/>
          </a:p>
        </p:txBody>
      </p:sp>
      <p:sp>
        <p:nvSpPr>
          <p:cNvPr id="42" name="Text 40"/>
          <p:cNvSpPr/>
          <p:nvPr/>
        </p:nvSpPr>
        <p:spPr>
          <a:xfrm>
            <a:off x="3277977" y="4572000"/>
            <a:ext cx="7144" cy="114300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376560" y="4473473"/>
            <a:ext cx="952976" cy="311353"/>
          </a:xfrm>
          <a:prstGeom prst="roundRect">
            <a:avLst>
              <a:gd name="adj" fmla="val 3056169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549439" y="4568428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195" dirty="0"/>
          </a:p>
        </p:txBody>
      </p:sp>
      <p:sp>
        <p:nvSpPr>
          <p:cNvPr id="45" name="Text 43"/>
          <p:cNvSpPr/>
          <p:nvPr/>
        </p:nvSpPr>
        <p:spPr>
          <a:xfrm>
            <a:off x="3670704" y="4548783"/>
            <a:ext cx="543282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实时流式</a:t>
            </a:r>
            <a:endParaRPr lang="en-US" sz="844" dirty="0"/>
          </a:p>
        </p:txBody>
      </p:sp>
      <p:sp>
        <p:nvSpPr>
          <p:cNvPr id="46" name="Text 44"/>
          <p:cNvSpPr/>
          <p:nvPr/>
        </p:nvSpPr>
        <p:spPr>
          <a:xfrm>
            <a:off x="4398117" y="4473473"/>
            <a:ext cx="1060133" cy="311353"/>
          </a:xfrm>
          <a:prstGeom prst="roundRect">
            <a:avLst>
              <a:gd name="adj" fmla="val 3056169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570995" y="4568428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195" dirty="0"/>
          </a:p>
        </p:txBody>
      </p:sp>
      <p:sp>
        <p:nvSpPr>
          <p:cNvPr id="48" name="Text 46"/>
          <p:cNvSpPr/>
          <p:nvPr/>
        </p:nvSpPr>
        <p:spPr>
          <a:xfrm>
            <a:off x="4682617" y="4548783"/>
            <a:ext cx="669727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轻量可解释</a:t>
            </a:r>
            <a:endParaRPr lang="en-US" sz="844" dirty="0"/>
          </a:p>
        </p:txBody>
      </p:sp>
      <p:sp>
        <p:nvSpPr>
          <p:cNvPr id="49" name="Text 47"/>
          <p:cNvSpPr/>
          <p:nvPr/>
        </p:nvSpPr>
        <p:spPr>
          <a:xfrm>
            <a:off x="5526829" y="4473473"/>
            <a:ext cx="1167289" cy="311353"/>
          </a:xfrm>
          <a:prstGeom prst="roundRect">
            <a:avLst>
              <a:gd name="adj" fmla="val 3056169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699708" y="4568428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51" name="Text 49"/>
          <p:cNvSpPr/>
          <p:nvPr/>
        </p:nvSpPr>
        <p:spPr>
          <a:xfrm>
            <a:off x="5801685" y="4548783"/>
            <a:ext cx="796171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反诈存证闭环</a:t>
            </a:r>
            <a:endParaRPr lang="en-US" sz="84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165028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777678" y="405408"/>
            <a:ext cx="7144" cy="100013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70546" y="385763"/>
            <a:ext cx="772775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1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</a:t>
            </a:r>
            <a:endParaRPr lang="en-US" sz="731" dirty="0"/>
          </a:p>
        </p:txBody>
      </p:sp>
      <p:sp>
        <p:nvSpPr>
          <p:cNvPr id="5" name="Text 3"/>
          <p:cNvSpPr/>
          <p:nvPr/>
        </p:nvSpPr>
        <p:spPr>
          <a:xfrm>
            <a:off x="7517904" y="391120"/>
            <a:ext cx="156719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 LAYERS · 2 ENDS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625078"/>
            <a:ext cx="8636000" cy="366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2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五层架构，</a:t>
            </a:r>
            <a:pPr algn="l" indent="0" marL="0">
              <a:lnSpc>
                <a:spcPts val="2672"/>
              </a:lnSpc>
              <a:buNone/>
            </a:pPr>
            <a:r>
              <a:rPr lang="en-US" sz="213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双端一致</a:t>
            </a:r>
            <a:pPr algn="l" indent="0" marL="0">
              <a:lnSpc>
                <a:spcPts val="2672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138" dirty="0"/>
          </a:p>
        </p:txBody>
      </p:sp>
      <p:sp>
        <p:nvSpPr>
          <p:cNvPr id="7" name="Text 5"/>
          <p:cNvSpPr/>
          <p:nvPr/>
        </p:nvSpPr>
        <p:spPr>
          <a:xfrm>
            <a:off x="460772" y="1110853"/>
            <a:ext cx="4848262" cy="682228"/>
          </a:xfrm>
          <a:prstGeom prst="roundRect">
            <a:avLst>
              <a:gd name="adj" fmla="val 1954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6503" y="1262658"/>
            <a:ext cx="378619" cy="378619"/>
          </a:xfrm>
          <a:prstGeom prst="roundRect">
            <a:avLst>
              <a:gd name="adj" fmla="val 3018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231" y="1312664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547" dirty="0"/>
          </a:p>
        </p:txBody>
      </p:sp>
      <p:sp>
        <p:nvSpPr>
          <p:cNvPr id="10" name="Text 8"/>
          <p:cNvSpPr/>
          <p:nvPr/>
        </p:nvSpPr>
        <p:spPr>
          <a:xfrm>
            <a:off x="723750" y="1484114"/>
            <a:ext cx="1842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5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994" y="1185863"/>
            <a:ext cx="58293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956" dirty="0"/>
          </a:p>
        </p:txBody>
      </p:sp>
      <p:sp>
        <p:nvSpPr>
          <p:cNvPr id="12" name="Text 10"/>
          <p:cNvSpPr/>
          <p:nvPr/>
        </p:nvSpPr>
        <p:spPr>
          <a:xfrm>
            <a:off x="1543050" y="1235869"/>
            <a:ext cx="2382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18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2994" y="1403747"/>
            <a:ext cx="2832162" cy="152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麦克风实时流（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AudioWorklet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16kHz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）/ 文件导入 / 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现场合成</a:t>
            </a:r>
            <a:endParaRPr lang="en-US" sz="759" dirty="0"/>
          </a:p>
        </p:txBody>
      </p:sp>
      <p:sp>
        <p:nvSpPr>
          <p:cNvPr id="14" name="Text 12"/>
          <p:cNvSpPr/>
          <p:nvPr/>
        </p:nvSpPr>
        <p:spPr>
          <a:xfrm>
            <a:off x="1092994" y="1584127"/>
            <a:ext cx="2973770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统一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16kHz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单声道标准</a:t>
            </a:r>
            <a:endParaRPr lang="en-US" sz="703" dirty="0"/>
          </a:p>
        </p:txBody>
      </p:sp>
      <p:sp>
        <p:nvSpPr>
          <p:cNvPr id="15" name="Text 13"/>
          <p:cNvSpPr/>
          <p:nvPr/>
        </p:nvSpPr>
        <p:spPr>
          <a:xfrm>
            <a:off x="460772" y="1871663"/>
            <a:ext cx="4848262" cy="675084"/>
          </a:xfrm>
          <a:prstGeom prst="roundRect">
            <a:avLst>
              <a:gd name="adj" fmla="val 1975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96503" y="2019895"/>
            <a:ext cx="378619" cy="378619"/>
          </a:xfrm>
          <a:prstGeom prst="roundRect">
            <a:avLst>
              <a:gd name="adj" fmla="val 3018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7231" y="2069902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18" name="Text 16"/>
          <p:cNvSpPr/>
          <p:nvPr/>
        </p:nvSpPr>
        <p:spPr>
          <a:xfrm>
            <a:off x="723750" y="2241352"/>
            <a:ext cx="1842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5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92994" y="1946672"/>
            <a:ext cx="97155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检测引擎层</a:t>
            </a:r>
            <a:endParaRPr lang="en-US" sz="956" dirty="0"/>
          </a:p>
        </p:txBody>
      </p:sp>
      <p:sp>
        <p:nvSpPr>
          <p:cNvPr id="20" name="Text 18"/>
          <p:cNvSpPr/>
          <p:nvPr/>
        </p:nvSpPr>
        <p:spPr>
          <a:xfrm>
            <a:off x="1785938" y="1996678"/>
            <a:ext cx="14313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18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994" y="2164556"/>
            <a:ext cx="2230474" cy="1458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ShieldEar</a:t>
            </a:r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轻量可解释引擎</a:t>
            </a:r>
            <a:endParaRPr lang="en-US" sz="759" dirty="0"/>
          </a:p>
        </p:txBody>
      </p:sp>
      <p:sp>
        <p:nvSpPr>
          <p:cNvPr id="22" name="Text 20"/>
          <p:cNvSpPr/>
          <p:nvPr/>
        </p:nvSpPr>
        <p:spPr>
          <a:xfrm>
            <a:off x="1092994" y="2337792"/>
            <a:ext cx="2124261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2s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·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1s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步进 ·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50%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重叠，纯 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零依赖</a:t>
            </a:r>
            <a:endParaRPr lang="en-US" sz="703" dirty="0"/>
          </a:p>
        </p:txBody>
      </p:sp>
      <p:sp>
        <p:nvSpPr>
          <p:cNvPr id="23" name="Text 21"/>
          <p:cNvSpPr/>
          <p:nvPr/>
        </p:nvSpPr>
        <p:spPr>
          <a:xfrm>
            <a:off x="460772" y="2625328"/>
            <a:ext cx="4848262" cy="675084"/>
          </a:xfrm>
          <a:prstGeom prst="roundRect">
            <a:avLst>
              <a:gd name="adj" fmla="val 1975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96503" y="2773561"/>
            <a:ext cx="378619" cy="378619"/>
          </a:xfrm>
          <a:prstGeom prst="roundRect">
            <a:avLst>
              <a:gd name="adj" fmla="val 3018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231" y="2823567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6" name="Text 24"/>
          <p:cNvSpPr/>
          <p:nvPr/>
        </p:nvSpPr>
        <p:spPr>
          <a:xfrm>
            <a:off x="723750" y="2995017"/>
            <a:ext cx="1842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5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2994" y="2700338"/>
            <a:ext cx="97155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判决融合层</a:t>
            </a:r>
            <a:endParaRPr lang="en-US" sz="956" dirty="0"/>
          </a:p>
        </p:txBody>
      </p:sp>
      <p:sp>
        <p:nvSpPr>
          <p:cNvPr id="28" name="Text 26"/>
          <p:cNvSpPr/>
          <p:nvPr/>
        </p:nvSpPr>
        <p:spPr>
          <a:xfrm>
            <a:off x="1785938" y="2750344"/>
            <a:ext cx="11271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18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2994" y="2918222"/>
            <a:ext cx="1911098" cy="1458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中值滤波 + 指数平滑 + 能量加权整段判决</a:t>
            </a:r>
            <a:endParaRPr lang="en-US" sz="759" dirty="0"/>
          </a:p>
        </p:txBody>
      </p:sp>
      <p:sp>
        <p:nvSpPr>
          <p:cNvPr id="30" name="Text 28"/>
          <p:cNvSpPr/>
          <p:nvPr/>
        </p:nvSpPr>
        <p:spPr>
          <a:xfrm>
            <a:off x="1092994" y="3091458"/>
            <a:ext cx="2329720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静音窗显式排除</a:t>
            </a:r>
            <a:endParaRPr lang="en-US" sz="703" dirty="0"/>
          </a:p>
        </p:txBody>
      </p:sp>
      <p:sp>
        <p:nvSpPr>
          <p:cNvPr id="31" name="Text 29"/>
          <p:cNvSpPr/>
          <p:nvPr/>
        </p:nvSpPr>
        <p:spPr>
          <a:xfrm>
            <a:off x="460772" y="3378994"/>
            <a:ext cx="4848262" cy="655439"/>
          </a:xfrm>
          <a:prstGeom prst="roundRect">
            <a:avLst>
              <a:gd name="adj" fmla="val 20345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6503" y="3517404"/>
            <a:ext cx="378619" cy="378619"/>
          </a:xfrm>
          <a:prstGeom prst="roundRect">
            <a:avLst>
              <a:gd name="adj" fmla="val 3018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07231" y="356741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34" name="Text 32"/>
          <p:cNvSpPr/>
          <p:nvPr/>
        </p:nvSpPr>
        <p:spPr>
          <a:xfrm>
            <a:off x="723750" y="3738860"/>
            <a:ext cx="1842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5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92994" y="3525441"/>
            <a:ext cx="58293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业务层</a:t>
            </a:r>
            <a:endParaRPr lang="en-US" sz="956" dirty="0"/>
          </a:p>
        </p:txBody>
      </p:sp>
      <p:sp>
        <p:nvSpPr>
          <p:cNvPr id="36" name="Text 34"/>
          <p:cNvSpPr/>
          <p:nvPr/>
        </p:nvSpPr>
        <p:spPr>
          <a:xfrm>
            <a:off x="1543050" y="3575447"/>
            <a:ext cx="133967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18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92994" y="3743325"/>
            <a:ext cx="1879219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</a:t>
            </a:r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-256</a:t>
            </a:r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证据固定 · 案件入库 · 核验报告</a:t>
            </a:r>
            <a:endParaRPr lang="en-US" sz="759" dirty="0"/>
          </a:p>
        </p:txBody>
      </p:sp>
      <p:sp>
        <p:nvSpPr>
          <p:cNvPr id="38" name="Text 36"/>
          <p:cNvSpPr/>
          <p:nvPr/>
        </p:nvSpPr>
        <p:spPr>
          <a:xfrm>
            <a:off x="460772" y="4113014"/>
            <a:ext cx="4848262" cy="655439"/>
          </a:xfrm>
          <a:prstGeom prst="roundRect">
            <a:avLst>
              <a:gd name="adj" fmla="val 20345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96503" y="4251424"/>
            <a:ext cx="378619" cy="378619"/>
          </a:xfrm>
          <a:prstGeom prst="roundRect">
            <a:avLst>
              <a:gd name="adj" fmla="val 30189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07231" y="430143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▢</a:t>
            </a:r>
            <a:endParaRPr lang="en-US" sz="1547" dirty="0"/>
          </a:p>
        </p:txBody>
      </p:sp>
      <p:sp>
        <p:nvSpPr>
          <p:cNvPr id="41" name="Text 39"/>
          <p:cNvSpPr/>
          <p:nvPr/>
        </p:nvSpPr>
        <p:spPr>
          <a:xfrm>
            <a:off x="723750" y="4472880"/>
            <a:ext cx="1842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5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92994" y="4259461"/>
            <a:ext cx="58293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展示层</a:t>
            </a:r>
            <a:endParaRPr lang="en-US" sz="956" dirty="0"/>
          </a:p>
        </p:txBody>
      </p:sp>
      <p:sp>
        <p:nvSpPr>
          <p:cNvPr id="43" name="Text 41"/>
          <p:cNvSpPr/>
          <p:nvPr/>
        </p:nvSpPr>
        <p:spPr>
          <a:xfrm>
            <a:off x="1543050" y="4309467"/>
            <a:ext cx="10501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18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92994" y="4477345"/>
            <a:ext cx="1575197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单页应用零跳转承载全部演示动线</a:t>
            </a:r>
            <a:endParaRPr lang="en-US" sz="759" dirty="0"/>
          </a:p>
        </p:txBody>
      </p:sp>
      <p:sp>
        <p:nvSpPr>
          <p:cNvPr id="45" name="Text 43"/>
          <p:cNvSpPr/>
          <p:nvPr/>
        </p:nvSpPr>
        <p:spPr>
          <a:xfrm>
            <a:off x="5459053" y="1110853"/>
            <a:ext cx="1572853" cy="650081"/>
          </a:xfrm>
          <a:prstGeom prst="roundRect">
            <a:avLst>
              <a:gd name="adj" fmla="val 20513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591212" y="1275159"/>
            <a:ext cx="412909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5935005" y="1292126"/>
            <a:ext cx="964741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五层架构</a:t>
            </a:r>
            <a:endParaRPr lang="en-US" sz="788" dirty="0"/>
          </a:p>
        </p:txBody>
      </p:sp>
      <p:sp>
        <p:nvSpPr>
          <p:cNvPr id="48" name="Text 46"/>
          <p:cNvSpPr/>
          <p:nvPr/>
        </p:nvSpPr>
        <p:spPr>
          <a:xfrm>
            <a:off x="5925854" y="1456432"/>
            <a:ext cx="87138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展示全链路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10487" y="1110853"/>
            <a:ext cx="1572853" cy="650081"/>
          </a:xfrm>
          <a:prstGeom prst="roundRect">
            <a:avLst>
              <a:gd name="adj" fmla="val 20513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242646" y="1275159"/>
            <a:ext cx="412909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688" dirty="0"/>
          </a:p>
        </p:txBody>
      </p:sp>
      <p:sp>
        <p:nvSpPr>
          <p:cNvPr id="51" name="Text 49"/>
          <p:cNvSpPr/>
          <p:nvPr/>
        </p:nvSpPr>
        <p:spPr>
          <a:xfrm>
            <a:off x="7586439" y="1292126"/>
            <a:ext cx="960640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双端一致</a:t>
            </a:r>
            <a:endParaRPr lang="en-US" sz="788" dirty="0"/>
          </a:p>
        </p:txBody>
      </p:sp>
      <p:sp>
        <p:nvSpPr>
          <p:cNvPr id="52" name="Text 50"/>
          <p:cNvSpPr/>
          <p:nvPr/>
        </p:nvSpPr>
        <p:spPr>
          <a:xfrm>
            <a:off x="7586439" y="1456432"/>
            <a:ext cx="77824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+ 服务端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459053" y="1839516"/>
            <a:ext cx="3224175" cy="1975247"/>
          </a:xfrm>
          <a:prstGeom prst="roundRect">
            <a:avLst>
              <a:gd name="adj" fmla="val 675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  <a:effectLst>
            <a:outerShdw sx="100000" sy="100000" kx="0" ky="0" algn="bl" rotWithShape="0" blurRad="266700" dist="50800" dir="16200000">
              <a:srgbClr val="34D399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623359" y="2152055"/>
            <a:ext cx="278606" cy="278606"/>
          </a:xfrm>
          <a:prstGeom prst="roundRect">
            <a:avLst>
              <a:gd name="adj" fmla="val 34188"/>
            </a:avLst>
          </a:prstGeom>
          <a:solidFill>
            <a:srgbClr val="34D399">
              <a:alpha val="12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653899" y="2182594"/>
            <a:ext cx="217527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7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477" dirty="0"/>
          </a:p>
        </p:txBody>
      </p:sp>
      <p:sp>
        <p:nvSpPr>
          <p:cNvPr id="56" name="Text 54"/>
          <p:cNvSpPr/>
          <p:nvPr/>
        </p:nvSpPr>
        <p:spPr>
          <a:xfrm>
            <a:off x="5991262" y="2117229"/>
            <a:ext cx="212387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30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ISOMORPHIC ENGINE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970838" y="2251174"/>
            <a:ext cx="190621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同构引擎</a:t>
            </a:r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取证级一致性</a:t>
            </a:r>
            <a:endParaRPr lang="en-US" sz="1125" dirty="0"/>
          </a:p>
        </p:txBody>
      </p:sp>
      <p:sp>
        <p:nvSpPr>
          <p:cNvPr id="58" name="Text 56"/>
          <p:cNvSpPr/>
          <p:nvPr/>
        </p:nvSpPr>
        <p:spPr>
          <a:xfrm>
            <a:off x="5623359" y="2597646"/>
            <a:ext cx="1258528" cy="483989"/>
          </a:xfrm>
          <a:prstGeom prst="roundRect">
            <a:avLst>
              <a:gd name="adj" fmla="val 27552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684081" y="2694087"/>
            <a:ext cx="1137084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spc="124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684081" y="2829818"/>
            <a:ext cx="113708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· 实时初判</a:t>
            </a:r>
            <a:endParaRPr lang="en-US" sz="816" dirty="0"/>
          </a:p>
        </p:txBody>
      </p:sp>
      <p:sp>
        <p:nvSpPr>
          <p:cNvPr id="61" name="Text 59"/>
          <p:cNvSpPr/>
          <p:nvPr/>
        </p:nvSpPr>
        <p:spPr>
          <a:xfrm>
            <a:off x="6946181" y="2714625"/>
            <a:ext cx="250031" cy="250031"/>
          </a:xfrm>
          <a:prstGeom prst="roundRect">
            <a:avLst>
              <a:gd name="adj" fmla="val 38091467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72791" y="2741235"/>
            <a:ext cx="196810" cy="196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336" dirty="0"/>
          </a:p>
        </p:txBody>
      </p:sp>
      <p:sp>
        <p:nvSpPr>
          <p:cNvPr id="63" name="Text 61"/>
          <p:cNvSpPr/>
          <p:nvPr/>
        </p:nvSpPr>
        <p:spPr>
          <a:xfrm>
            <a:off x="7260506" y="2597646"/>
            <a:ext cx="1258528" cy="483989"/>
          </a:xfrm>
          <a:prstGeom prst="roundRect">
            <a:avLst>
              <a:gd name="adj" fmla="val 27552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321228" y="2694087"/>
            <a:ext cx="1137084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spc="124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321228" y="2829818"/>
            <a:ext cx="113708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 · 复核存证</a:t>
            </a:r>
            <a:endParaRPr lang="en-US" sz="816" dirty="0"/>
          </a:p>
        </p:txBody>
      </p:sp>
      <p:sp>
        <p:nvSpPr>
          <p:cNvPr id="66" name="Text 64"/>
          <p:cNvSpPr/>
          <p:nvPr/>
        </p:nvSpPr>
        <p:spPr>
          <a:xfrm>
            <a:off x="5619787" y="3199507"/>
            <a:ext cx="2902707" cy="364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浏览器实时初判与服务端复核存证运行</a:t>
            </a:r>
            <a:pPr algn="l" indent="0" marL="0">
              <a:lnSpc>
                <a:spcPts val="1329"/>
              </a:lnSpc>
              <a:buNone/>
            </a:pPr>
            <a:r>
              <a:rPr lang="en-US" sz="759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同一份代码</a:t>
            </a:r>
            <a:pPr algn="l" indent="0" marL="0">
              <a:lnSpc>
                <a:spcPts val="1329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，双端判决可互相验证。</a:t>
            </a:r>
            <a:endParaRPr lang="en-US" sz="759" dirty="0"/>
          </a:p>
        </p:txBody>
      </p:sp>
      <p:sp>
        <p:nvSpPr>
          <p:cNvPr id="67" name="Text 65"/>
          <p:cNvSpPr/>
          <p:nvPr/>
        </p:nvSpPr>
        <p:spPr>
          <a:xfrm>
            <a:off x="5459053" y="3893344"/>
            <a:ext cx="3224175" cy="875109"/>
          </a:xfrm>
          <a:prstGeom prst="roundRect">
            <a:avLst>
              <a:gd name="adj" fmla="val 15238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91212" y="4009430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69" name="Text 67"/>
          <p:cNvSpPr/>
          <p:nvPr/>
        </p:nvSpPr>
        <p:spPr>
          <a:xfrm>
            <a:off x="5762662" y="3996928"/>
            <a:ext cx="445770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731" dirty="0"/>
          </a:p>
        </p:txBody>
      </p:sp>
      <p:sp>
        <p:nvSpPr>
          <p:cNvPr id="70" name="Text 68"/>
          <p:cNvSpPr/>
          <p:nvPr/>
        </p:nvSpPr>
        <p:spPr>
          <a:xfrm>
            <a:off x="6098418" y="4013002"/>
            <a:ext cx="24526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24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591212" y="4195667"/>
            <a:ext cx="673298" cy="224028"/>
          </a:xfrm>
          <a:prstGeom prst="roundRect">
            <a:avLst>
              <a:gd name="adj" fmla="val 34014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5591212" y="4207669"/>
            <a:ext cx="67329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21661" y="4195667"/>
            <a:ext cx="673298" cy="224028"/>
          </a:xfrm>
          <a:prstGeom prst="roundRect">
            <a:avLst>
              <a:gd name="adj" fmla="val 34014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316832" y="4207669"/>
            <a:ext cx="6829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TypeScript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7052109" y="4195667"/>
            <a:ext cx="828117" cy="224028"/>
          </a:xfrm>
          <a:prstGeom prst="roundRect">
            <a:avLst>
              <a:gd name="adj" fmla="val 34014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7052109" y="4207669"/>
            <a:ext cx="82811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Prisma/SQLite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568352" y="4452842"/>
            <a:ext cx="873837" cy="224028"/>
          </a:xfrm>
          <a:prstGeom prst="roundRect">
            <a:avLst>
              <a:gd name="adj" fmla="val 34014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5581070" y="4464844"/>
            <a:ext cx="84840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Audio API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71475"/>
            <a:ext cx="2038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DETECTION ENGINE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068116" y="391120"/>
            <a:ext cx="7144" cy="100013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160984" y="371475"/>
            <a:ext cx="1575674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19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检测引擎 · 八维特征</a:t>
            </a:r>
            <a:endParaRPr lang="en-US" sz="731" dirty="0"/>
          </a:p>
        </p:txBody>
      </p:sp>
      <p:sp>
        <p:nvSpPr>
          <p:cNvPr id="5" name="Text 3"/>
          <p:cNvSpPr/>
          <p:nvPr/>
        </p:nvSpPr>
        <p:spPr>
          <a:xfrm>
            <a:off x="7036594" y="376833"/>
            <a:ext cx="20936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8-D FEATURES · AUDITABLE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596503"/>
            <a:ext cx="8636000" cy="327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91"/>
              </a:lnSpc>
              <a:buNone/>
            </a:pPr>
            <a:r>
              <a:rPr lang="en-US" sz="19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八维可解释声学特征——每个判决都</a:t>
            </a:r>
            <a:pPr algn="l" indent="0" marL="0">
              <a:lnSpc>
                <a:spcPts val="2391"/>
              </a:lnSpc>
              <a:buNone/>
            </a:pPr>
            <a:r>
              <a:rPr lang="en-US" sz="1913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pPr algn="l" indent="0" marL="0">
              <a:lnSpc>
                <a:spcPts val="2391"/>
              </a:lnSpc>
              <a:buNone/>
            </a:pPr>
            <a:r>
              <a:rPr lang="en-US" sz="19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913" dirty="0"/>
          </a:p>
        </p:txBody>
      </p:sp>
      <p:sp>
        <p:nvSpPr>
          <p:cNvPr id="7" name="Text 5"/>
          <p:cNvSpPr/>
          <p:nvPr/>
        </p:nvSpPr>
        <p:spPr>
          <a:xfrm>
            <a:off x="460772" y="1032272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85788" y="1143000"/>
            <a:ext cx="1248705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069" dirty="0"/>
          </a:p>
        </p:txBody>
      </p:sp>
      <p:sp>
        <p:nvSpPr>
          <p:cNvPr id="9" name="Text 7"/>
          <p:cNvSpPr/>
          <p:nvPr/>
        </p:nvSpPr>
        <p:spPr>
          <a:xfrm>
            <a:off x="1829863" y="1146786"/>
            <a:ext cx="510774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8780" y="1157288"/>
            <a:ext cx="47293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4–8 kHz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85788" y="1410891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高频谱平坦度</a:t>
            </a:r>
            <a:endParaRPr lang="en-US" sz="984" dirty="0"/>
          </a:p>
        </p:txBody>
      </p:sp>
      <p:sp>
        <p:nvSpPr>
          <p:cNvPr id="12" name="Text 10"/>
          <p:cNvSpPr/>
          <p:nvPr/>
        </p:nvSpPr>
        <p:spPr>
          <a:xfrm>
            <a:off x="585788" y="1648420"/>
            <a:ext cx="1735931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声码器高频噪声填充 </a:t>
            </a:r>
            <a:pPr algn="l" indent="0" marL="0">
              <a:lnSpc>
                <a:spcPts val="1344"/>
              </a:lnSpc>
              <a:buNone/>
            </a:pPr>
            <a:r>
              <a:rPr lang="en-US" sz="800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自然谐波-气流混合形态</a:t>
            </a:r>
            <a:endParaRPr lang="en-US" sz="703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788" y="2479774"/>
            <a:ext cx="35719" cy="35719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444055"/>
            <a:ext cx="35719" cy="71438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63" y="2401193"/>
            <a:ext cx="35719" cy="114300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458343"/>
            <a:ext cx="35719" cy="5715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8" y="2429768"/>
            <a:ext cx="35719" cy="857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539603" y="1032272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2"/>
          <p:cNvSpPr/>
          <p:nvPr/>
        </p:nvSpPr>
        <p:spPr>
          <a:xfrm>
            <a:off x="2664619" y="1143000"/>
            <a:ext cx="1173026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069" dirty="0"/>
          </a:p>
        </p:txBody>
      </p:sp>
      <p:sp>
        <p:nvSpPr>
          <p:cNvPr id="20" name="Text 13"/>
          <p:cNvSpPr/>
          <p:nvPr/>
        </p:nvSpPr>
        <p:spPr>
          <a:xfrm>
            <a:off x="3829988" y="1146786"/>
            <a:ext cx="592507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4"/>
          <p:cNvSpPr/>
          <p:nvPr/>
        </p:nvSpPr>
        <p:spPr>
          <a:xfrm>
            <a:off x="3826724" y="1157288"/>
            <a:ext cx="59903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&gt;3.25 kHz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2664619" y="1410891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高频能量占比</a:t>
            </a:r>
            <a:endParaRPr lang="en-US" sz="984" dirty="0"/>
          </a:p>
        </p:txBody>
      </p:sp>
      <p:sp>
        <p:nvSpPr>
          <p:cNvPr id="23" name="Text 16"/>
          <p:cNvSpPr/>
          <p:nvPr/>
        </p:nvSpPr>
        <p:spPr>
          <a:xfrm>
            <a:off x="2664619" y="1648420"/>
            <a:ext cx="173593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梅尔谱合成器高频能量分布系统性偏移</a:t>
            </a:r>
            <a:endParaRPr lang="en-US" sz="703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4619" y="2465487"/>
            <a:ext cx="35719" cy="50006"/>
          </a:xfrm>
          <a:prstGeom prst="rect">
            <a:avLst/>
          </a:prstGeom>
        </p:spPr>
      </p:pic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6056" y="2415480"/>
            <a:ext cx="35719" cy="100013"/>
          </a:xfrm>
          <a:prstGeom prst="rect">
            <a:avLst/>
          </a:prstGeom>
        </p:spPr>
      </p:pic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07494" y="2451199"/>
            <a:ext cx="35719" cy="64294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78931" y="2401193"/>
            <a:ext cx="35719" cy="114300"/>
          </a:xfrm>
          <a:prstGeom prst="rect">
            <a:avLst/>
          </a:prstGeom>
        </p:spPr>
      </p:pic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369" y="2472630"/>
            <a:ext cx="35719" cy="42863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4618434" y="1032272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18"/>
          <p:cNvSpPr/>
          <p:nvPr/>
        </p:nvSpPr>
        <p:spPr>
          <a:xfrm>
            <a:off x="4743450" y="1143000"/>
            <a:ext cx="139939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069" dirty="0"/>
          </a:p>
        </p:txBody>
      </p:sp>
      <p:sp>
        <p:nvSpPr>
          <p:cNvPr id="31" name="Text 19"/>
          <p:cNvSpPr/>
          <p:nvPr/>
        </p:nvSpPr>
        <p:spPr>
          <a:xfrm>
            <a:off x="6144241" y="1146786"/>
            <a:ext cx="348030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0"/>
          <p:cNvSpPr/>
          <p:nvPr/>
        </p:nvSpPr>
        <p:spPr>
          <a:xfrm>
            <a:off x="6157131" y="1157288"/>
            <a:ext cx="322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700" spc="31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全带</a:t>
            </a:r>
            <a:endParaRPr lang="en-US" sz="700" dirty="0"/>
          </a:p>
        </p:txBody>
      </p:sp>
      <p:sp>
        <p:nvSpPr>
          <p:cNvPr id="33" name="Text 21"/>
          <p:cNvSpPr/>
          <p:nvPr/>
        </p:nvSpPr>
        <p:spPr>
          <a:xfrm>
            <a:off x="4743450" y="1410891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谐波规整度</a:t>
            </a:r>
            <a:endParaRPr lang="en-US" sz="984" dirty="0"/>
          </a:p>
        </p:txBody>
      </p:sp>
      <p:sp>
        <p:nvSpPr>
          <p:cNvPr id="34" name="Text 22"/>
          <p:cNvSpPr/>
          <p:nvPr/>
        </p:nvSpPr>
        <p:spPr>
          <a:xfrm>
            <a:off x="4743450" y="1648420"/>
            <a:ext cx="1735931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自然嗓音谐波纯度随生理动态起伏，合成语音异常规整</a:t>
            </a:r>
            <a:endParaRPr lang="en-US" sz="703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450" y="2429768"/>
            <a:ext cx="35719" cy="85725"/>
          </a:xfrm>
          <a:prstGeom prst="rect">
            <a:avLst/>
          </a:prstGeom>
        </p:spPr>
      </p:pic>
      <p:pic>
        <p:nvPicPr>
          <p:cNvPr id="3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14888" y="2472630"/>
            <a:ext cx="35719" cy="42863"/>
          </a:xfrm>
          <a:prstGeom prst="rect">
            <a:avLst/>
          </a:prstGeom>
        </p:spPr>
      </p:pic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86325" y="2415480"/>
            <a:ext cx="35719" cy="100013"/>
          </a:xfrm>
          <a:prstGeom prst="rect">
            <a:avLst/>
          </a:prstGeom>
        </p:spPr>
      </p:pic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57763" y="2458343"/>
            <a:ext cx="35719" cy="57150"/>
          </a:xfrm>
          <a:prstGeom prst="rect">
            <a:avLst/>
          </a:prstGeom>
        </p:spPr>
      </p:pic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29200" y="2401193"/>
            <a:ext cx="35719" cy="114300"/>
          </a:xfrm>
          <a:prstGeom prst="rect">
            <a:avLst/>
          </a:prstGeom>
        </p:spPr>
      </p:pic>
      <p:sp>
        <p:nvSpPr>
          <p:cNvPr id="40" name="Text 23"/>
          <p:cNvSpPr/>
          <p:nvPr/>
        </p:nvSpPr>
        <p:spPr>
          <a:xfrm>
            <a:off x="6697266" y="1032272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24"/>
          <p:cNvSpPr/>
          <p:nvPr/>
        </p:nvSpPr>
        <p:spPr>
          <a:xfrm>
            <a:off x="6822281" y="1143000"/>
            <a:ext cx="139939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069" dirty="0"/>
          </a:p>
        </p:txBody>
      </p:sp>
      <p:sp>
        <p:nvSpPr>
          <p:cNvPr id="42" name="Text 25"/>
          <p:cNvSpPr/>
          <p:nvPr/>
        </p:nvSpPr>
        <p:spPr>
          <a:xfrm>
            <a:off x="8223072" y="1146786"/>
            <a:ext cx="348030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26"/>
          <p:cNvSpPr/>
          <p:nvPr/>
        </p:nvSpPr>
        <p:spPr>
          <a:xfrm>
            <a:off x="8235962" y="1157288"/>
            <a:ext cx="322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700" spc="31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全带</a:t>
            </a:r>
            <a:endParaRPr lang="en-US" sz="700" dirty="0"/>
          </a:p>
        </p:txBody>
      </p:sp>
      <p:sp>
        <p:nvSpPr>
          <p:cNvPr id="44" name="Text 27"/>
          <p:cNvSpPr/>
          <p:nvPr/>
        </p:nvSpPr>
        <p:spPr>
          <a:xfrm>
            <a:off x="6822281" y="1410891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嗓音动力波动</a:t>
            </a:r>
            <a:endParaRPr lang="en-US" sz="984" dirty="0"/>
          </a:p>
        </p:txBody>
      </p:sp>
      <p:sp>
        <p:nvSpPr>
          <p:cNvPr id="45" name="Text 28"/>
          <p:cNvSpPr/>
          <p:nvPr/>
        </p:nvSpPr>
        <p:spPr>
          <a:xfrm>
            <a:off x="6822281" y="1648420"/>
            <a:ext cx="173593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重音与气息的动力变化 </a:t>
            </a:r>
            <a:pPr algn="l" indent="0" marL="0">
              <a:lnSpc>
                <a:spcPts val="1344"/>
              </a:lnSpc>
              <a:buNone/>
            </a:pPr>
            <a:r>
              <a:rPr lang="en-US" sz="800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合成的均匀性</a:t>
            </a:r>
            <a:endParaRPr lang="en-US" sz="703" dirty="0"/>
          </a:p>
        </p:txBody>
      </p:sp>
      <p:pic>
        <p:nvPicPr>
          <p:cNvPr id="4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281" y="2458343"/>
            <a:ext cx="35719" cy="57150"/>
          </a:xfrm>
          <a:prstGeom prst="rect">
            <a:avLst/>
          </a:prstGeom>
        </p:spPr>
      </p:pic>
      <p:pic>
        <p:nvPicPr>
          <p:cNvPr id="4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93719" y="2401193"/>
            <a:ext cx="35719" cy="114300"/>
          </a:xfrm>
          <a:prstGeom prst="rect">
            <a:avLst/>
          </a:prstGeom>
        </p:spPr>
      </p:pic>
      <p:pic>
        <p:nvPicPr>
          <p:cNvPr id="4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65156" y="2444055"/>
            <a:ext cx="35719" cy="71438"/>
          </a:xfrm>
          <a:prstGeom prst="rect">
            <a:avLst/>
          </a:prstGeom>
        </p:spPr>
      </p:pic>
      <p:pic>
        <p:nvPicPr>
          <p:cNvPr id="4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36594" y="2479774"/>
            <a:ext cx="35719" cy="35719"/>
          </a:xfrm>
          <a:prstGeom prst="rect">
            <a:avLst/>
          </a:prstGeom>
        </p:spPr>
      </p:pic>
      <p:pic>
        <p:nvPicPr>
          <p:cNvPr id="5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08031" y="2429768"/>
            <a:ext cx="35719" cy="85725"/>
          </a:xfrm>
          <a:prstGeom prst="rect">
            <a:avLst/>
          </a:prstGeom>
        </p:spPr>
      </p:pic>
      <p:sp>
        <p:nvSpPr>
          <p:cNvPr id="51" name="Text 29"/>
          <p:cNvSpPr/>
          <p:nvPr/>
        </p:nvSpPr>
        <p:spPr>
          <a:xfrm>
            <a:off x="460772" y="2719090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30"/>
          <p:cNvSpPr/>
          <p:nvPr/>
        </p:nvSpPr>
        <p:spPr>
          <a:xfrm>
            <a:off x="585788" y="2829818"/>
            <a:ext cx="139939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069" dirty="0"/>
          </a:p>
        </p:txBody>
      </p:sp>
      <p:sp>
        <p:nvSpPr>
          <p:cNvPr id="53" name="Text 31"/>
          <p:cNvSpPr/>
          <p:nvPr/>
        </p:nvSpPr>
        <p:spPr>
          <a:xfrm>
            <a:off x="1986579" y="2833604"/>
            <a:ext cx="348030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32"/>
          <p:cNvSpPr/>
          <p:nvPr/>
        </p:nvSpPr>
        <p:spPr>
          <a:xfrm>
            <a:off x="1999469" y="2844105"/>
            <a:ext cx="322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700" spc="31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全带</a:t>
            </a:r>
            <a:endParaRPr lang="en-US" sz="700" dirty="0"/>
          </a:p>
        </p:txBody>
      </p:sp>
      <p:sp>
        <p:nvSpPr>
          <p:cNvPr id="55" name="Text 33"/>
          <p:cNvSpPr/>
          <p:nvPr/>
        </p:nvSpPr>
        <p:spPr>
          <a:xfrm>
            <a:off x="585788" y="3097709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谱通量波动度</a:t>
            </a:r>
            <a:endParaRPr lang="en-US" sz="984" dirty="0"/>
          </a:p>
        </p:txBody>
      </p:sp>
      <p:sp>
        <p:nvSpPr>
          <p:cNvPr id="56" name="Text 34"/>
          <p:cNvSpPr/>
          <p:nvPr/>
        </p:nvSpPr>
        <p:spPr>
          <a:xfrm>
            <a:off x="585788" y="3335238"/>
            <a:ext cx="173593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神经声码器帧边界微观不连续指纹</a:t>
            </a:r>
            <a:endParaRPr lang="en-US" sz="703" dirty="0"/>
          </a:p>
        </p:txBody>
      </p:sp>
      <p:pic>
        <p:nvPicPr>
          <p:cNvPr id="5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5788" y="4159448"/>
            <a:ext cx="35719" cy="42863"/>
          </a:xfrm>
          <a:prstGeom prst="rect">
            <a:avLst/>
          </a:prstGeom>
        </p:spPr>
      </p:pic>
      <p:pic>
        <p:nvPicPr>
          <p:cNvPr id="5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7225" y="4116586"/>
            <a:ext cx="35719" cy="85725"/>
          </a:xfrm>
          <a:prstGeom prst="rect">
            <a:avLst/>
          </a:prstGeom>
        </p:spPr>
      </p:pic>
      <p:pic>
        <p:nvPicPr>
          <p:cNvPr id="5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8663" y="4088011"/>
            <a:ext cx="35719" cy="114300"/>
          </a:xfrm>
          <a:prstGeom prst="rect">
            <a:avLst/>
          </a:prstGeom>
        </p:spPr>
      </p:pic>
      <p:pic>
        <p:nvPicPr>
          <p:cNvPr id="6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0100" y="4145161"/>
            <a:ext cx="35719" cy="57150"/>
          </a:xfrm>
          <a:prstGeom prst="rect">
            <a:avLst/>
          </a:prstGeom>
        </p:spPr>
      </p:pic>
      <p:pic>
        <p:nvPicPr>
          <p:cNvPr id="6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1538" y="4102298"/>
            <a:ext cx="35719" cy="100013"/>
          </a:xfrm>
          <a:prstGeom prst="rect">
            <a:avLst/>
          </a:prstGeom>
        </p:spPr>
      </p:pic>
      <p:sp>
        <p:nvSpPr>
          <p:cNvPr id="62" name="Text 35"/>
          <p:cNvSpPr/>
          <p:nvPr/>
        </p:nvSpPr>
        <p:spPr>
          <a:xfrm>
            <a:off x="2539603" y="2719090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36"/>
          <p:cNvSpPr/>
          <p:nvPr/>
        </p:nvSpPr>
        <p:spPr>
          <a:xfrm>
            <a:off x="2664619" y="2829818"/>
            <a:ext cx="139939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1069" dirty="0"/>
          </a:p>
        </p:txBody>
      </p:sp>
      <p:sp>
        <p:nvSpPr>
          <p:cNvPr id="64" name="Text 37"/>
          <p:cNvSpPr/>
          <p:nvPr/>
        </p:nvSpPr>
        <p:spPr>
          <a:xfrm>
            <a:off x="4065410" y="2833604"/>
            <a:ext cx="348030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38"/>
          <p:cNvSpPr/>
          <p:nvPr/>
        </p:nvSpPr>
        <p:spPr>
          <a:xfrm>
            <a:off x="4078300" y="2844105"/>
            <a:ext cx="322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700" spc="31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基音</a:t>
            </a:r>
            <a:endParaRPr lang="en-US" sz="700" dirty="0"/>
          </a:p>
        </p:txBody>
      </p:sp>
      <p:sp>
        <p:nvSpPr>
          <p:cNvPr id="66" name="Text 39"/>
          <p:cNvSpPr/>
          <p:nvPr/>
        </p:nvSpPr>
        <p:spPr>
          <a:xfrm>
            <a:off x="2664619" y="3097709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基音微扰</a:t>
            </a:r>
            <a:endParaRPr lang="en-US" sz="984" dirty="0"/>
          </a:p>
        </p:txBody>
      </p:sp>
      <p:sp>
        <p:nvSpPr>
          <p:cNvPr id="67" name="Text 40"/>
          <p:cNvSpPr/>
          <p:nvPr/>
        </p:nvSpPr>
        <p:spPr>
          <a:xfrm>
            <a:off x="2664619" y="3335238"/>
            <a:ext cx="173593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自然声带生理性抖动 </a:t>
            </a:r>
            <a:pPr algn="l" indent="0" marL="0">
              <a:lnSpc>
                <a:spcPts val="1344"/>
              </a:lnSpc>
              <a:buNone/>
            </a:pPr>
            <a:r>
              <a:rPr lang="en-US" sz="800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声码器周期稳定度</a:t>
            </a:r>
            <a:endParaRPr lang="en-US" sz="703" dirty="0"/>
          </a:p>
        </p:txBody>
      </p:sp>
      <p:pic>
        <p:nvPicPr>
          <p:cNvPr id="6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64619" y="4130873"/>
            <a:ext cx="35719" cy="71438"/>
          </a:xfrm>
          <a:prstGeom prst="rect">
            <a:avLst/>
          </a:prstGeom>
        </p:spPr>
      </p:pic>
      <p:pic>
        <p:nvPicPr>
          <p:cNvPr id="6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736056" y="4166592"/>
            <a:ext cx="35719" cy="35719"/>
          </a:xfrm>
          <a:prstGeom prst="rect">
            <a:avLst/>
          </a:prstGeom>
        </p:spPr>
      </p:pic>
      <p:pic>
        <p:nvPicPr>
          <p:cNvPr id="7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807494" y="4102298"/>
            <a:ext cx="35719" cy="100013"/>
          </a:xfrm>
          <a:prstGeom prst="rect">
            <a:avLst/>
          </a:prstGeom>
        </p:spPr>
      </p:pic>
      <p:pic>
        <p:nvPicPr>
          <p:cNvPr id="71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78931" y="4088011"/>
            <a:ext cx="35719" cy="114300"/>
          </a:xfrm>
          <a:prstGeom prst="rect">
            <a:avLst/>
          </a:prstGeom>
        </p:spPr>
      </p:pic>
      <p:pic>
        <p:nvPicPr>
          <p:cNvPr id="72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950369" y="4152305"/>
            <a:ext cx="35719" cy="50006"/>
          </a:xfrm>
          <a:prstGeom prst="rect">
            <a:avLst/>
          </a:prstGeom>
        </p:spPr>
      </p:pic>
      <p:sp>
        <p:nvSpPr>
          <p:cNvPr id="73" name="Text 41"/>
          <p:cNvSpPr/>
          <p:nvPr/>
        </p:nvSpPr>
        <p:spPr>
          <a:xfrm>
            <a:off x="4618434" y="2719090"/>
            <a:ext cx="1985963" cy="1593949"/>
          </a:xfrm>
          <a:prstGeom prst="roundRect">
            <a:avLst>
              <a:gd name="adj" fmla="val 836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42"/>
          <p:cNvSpPr/>
          <p:nvPr/>
        </p:nvSpPr>
        <p:spPr>
          <a:xfrm>
            <a:off x="4743450" y="2829818"/>
            <a:ext cx="139939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1069" dirty="0"/>
          </a:p>
        </p:txBody>
      </p:sp>
      <p:sp>
        <p:nvSpPr>
          <p:cNvPr id="75" name="Text 43"/>
          <p:cNvSpPr/>
          <p:nvPr/>
        </p:nvSpPr>
        <p:spPr>
          <a:xfrm>
            <a:off x="6144241" y="2833604"/>
            <a:ext cx="348030" cy="196025"/>
          </a:xfrm>
          <a:prstGeom prst="roundRect">
            <a:avLst>
              <a:gd name="adj" fmla="val 4854215"/>
            </a:avLst>
          </a:prstGeom>
          <a:noFill/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44"/>
          <p:cNvSpPr/>
          <p:nvPr/>
        </p:nvSpPr>
        <p:spPr>
          <a:xfrm>
            <a:off x="6157131" y="2844105"/>
            <a:ext cx="322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700" spc="31" kern="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全带</a:t>
            </a:r>
            <a:endParaRPr lang="en-US" sz="700" dirty="0"/>
          </a:p>
        </p:txBody>
      </p:sp>
      <p:sp>
        <p:nvSpPr>
          <p:cNvPr id="77" name="Text 45"/>
          <p:cNvSpPr/>
          <p:nvPr/>
        </p:nvSpPr>
        <p:spPr>
          <a:xfrm>
            <a:off x="4743450" y="3097709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过零率波动度</a:t>
            </a:r>
            <a:endParaRPr lang="en-US" sz="984" dirty="0"/>
          </a:p>
        </p:txBody>
      </p:sp>
      <p:sp>
        <p:nvSpPr>
          <p:cNvPr id="78" name="Text 46"/>
          <p:cNvSpPr/>
          <p:nvPr/>
        </p:nvSpPr>
        <p:spPr>
          <a:xfrm>
            <a:off x="4743450" y="3335238"/>
            <a:ext cx="1735931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辅音元音交替的自然波动 </a:t>
            </a:r>
            <a:pPr algn="l" indent="0" marL="0">
              <a:lnSpc>
                <a:spcPts val="1344"/>
              </a:lnSpc>
              <a:buNone/>
            </a:pPr>
            <a:r>
              <a:rPr lang="en-US" sz="800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344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合成稳定性</a:t>
            </a:r>
            <a:endParaRPr lang="en-US" sz="703" dirty="0"/>
          </a:p>
        </p:txBody>
      </p:sp>
      <p:pic>
        <p:nvPicPr>
          <p:cNvPr id="7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43450" y="4102298"/>
            <a:ext cx="35719" cy="100013"/>
          </a:xfrm>
          <a:prstGeom prst="rect">
            <a:avLst/>
          </a:prstGeom>
        </p:spPr>
      </p:pic>
      <p:pic>
        <p:nvPicPr>
          <p:cNvPr id="8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14888" y="4145161"/>
            <a:ext cx="35719" cy="57150"/>
          </a:xfrm>
          <a:prstGeom prst="rect">
            <a:avLst/>
          </a:prstGeom>
        </p:spPr>
      </p:pic>
      <p:pic>
        <p:nvPicPr>
          <p:cNvPr id="81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86325" y="4088011"/>
            <a:ext cx="35719" cy="114300"/>
          </a:xfrm>
          <a:prstGeom prst="rect">
            <a:avLst/>
          </a:prstGeom>
        </p:spPr>
      </p:pic>
      <p:pic>
        <p:nvPicPr>
          <p:cNvPr id="82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57763" y="4159448"/>
            <a:ext cx="35719" cy="42863"/>
          </a:xfrm>
          <a:prstGeom prst="rect">
            <a:avLst/>
          </a:prstGeom>
        </p:spPr>
      </p:pic>
      <p:pic>
        <p:nvPicPr>
          <p:cNvPr id="83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029200" y="4123730"/>
            <a:ext cx="35719" cy="78581"/>
          </a:xfrm>
          <a:prstGeom prst="rect">
            <a:avLst/>
          </a:prstGeom>
        </p:spPr>
      </p:pic>
      <p:pic>
        <p:nvPicPr>
          <p:cNvPr id="84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693694" y="2715518"/>
            <a:ext cx="1993106" cy="1601093"/>
          </a:xfrm>
          <a:prstGeom prst="rect">
            <a:avLst/>
          </a:prstGeom>
        </p:spPr>
      </p:pic>
      <p:sp>
        <p:nvSpPr>
          <p:cNvPr id="85" name="Text 47"/>
          <p:cNvSpPr/>
          <p:nvPr/>
        </p:nvSpPr>
        <p:spPr>
          <a:xfrm>
            <a:off x="6697266" y="2719090"/>
            <a:ext cx="1985963" cy="1593949"/>
          </a:xfrm>
          <a:prstGeom prst="roundRect">
            <a:avLst>
              <a:gd name="adj" fmla="val 8366"/>
            </a:avLst>
          </a:prstGeom>
          <a:noFill/>
          <a:ln w="7144">
            <a:solidFill>
              <a:srgbClr val="34D399"/>
            </a:solidFill>
            <a:prstDash val="solid"/>
          </a:ln>
          <a:effectLst>
            <a:outerShdw sx="100000" sy="100000" kx="0" ky="0" algn="bl" rotWithShape="0" blurRad="247650" dist="50800" dir="16200000">
              <a:srgbClr val="34D399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48"/>
          <p:cNvSpPr/>
          <p:nvPr/>
        </p:nvSpPr>
        <p:spPr>
          <a:xfrm>
            <a:off x="6822281" y="2829818"/>
            <a:ext cx="905024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1069" dirty="0"/>
          </a:p>
        </p:txBody>
      </p:sp>
      <p:sp>
        <p:nvSpPr>
          <p:cNvPr id="87" name="Text 49"/>
          <p:cNvSpPr/>
          <p:nvPr/>
        </p:nvSpPr>
        <p:spPr>
          <a:xfrm>
            <a:off x="8257394" y="2850356"/>
            <a:ext cx="300819" cy="162520"/>
          </a:xfrm>
          <a:prstGeom prst="roundRect">
            <a:avLst>
              <a:gd name="adj" fmla="val 5854956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50"/>
          <p:cNvSpPr/>
          <p:nvPr/>
        </p:nvSpPr>
        <p:spPr>
          <a:xfrm>
            <a:off x="7731347" y="2844105"/>
            <a:ext cx="837110" cy="189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00" spc="31" kern="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4–8 kHz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350"/>
              </a:lnSpc>
              <a:buNone/>
            </a:pPr>
            <a:r>
              <a:rPr lang="en-US" sz="700" b="1" spc="59" kern="0" dirty="0">
                <a:solidFill>
                  <a:srgbClr val="06231A"/>
                </a:solidFill>
                <a:highlight>
                  <a:srgbClr val="34D399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</a:t>
            </a:r>
            <a:endParaRPr lang="en-US" sz="900" dirty="0"/>
          </a:p>
        </p:txBody>
      </p:sp>
      <p:sp>
        <p:nvSpPr>
          <p:cNvPr id="89" name="Text 51"/>
          <p:cNvSpPr/>
          <p:nvPr/>
        </p:nvSpPr>
        <p:spPr>
          <a:xfrm>
            <a:off x="6822281" y="3097709"/>
            <a:ext cx="173593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高频周期性</a:t>
            </a:r>
            <a:endParaRPr lang="en-US" sz="984" dirty="0"/>
          </a:p>
        </p:txBody>
      </p:sp>
      <p:sp>
        <p:nvSpPr>
          <p:cNvPr id="90" name="Text 52"/>
          <p:cNvSpPr/>
          <p:nvPr/>
        </p:nvSpPr>
        <p:spPr>
          <a:xfrm>
            <a:off x="6822281" y="3335238"/>
            <a:ext cx="1735931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03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声码器把谐波延展到高频，自然语音高频以气息噪声为主</a:t>
            </a:r>
            <a:endParaRPr lang="en-US" sz="703" dirty="0"/>
          </a:p>
        </p:txBody>
      </p:sp>
      <p:pic>
        <p:nvPicPr>
          <p:cNvPr id="91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822281" y="4145161"/>
            <a:ext cx="35719" cy="57150"/>
          </a:xfrm>
          <a:prstGeom prst="rect">
            <a:avLst/>
          </a:prstGeom>
        </p:spPr>
      </p:pic>
      <p:pic>
        <p:nvPicPr>
          <p:cNvPr id="92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893719" y="4102298"/>
            <a:ext cx="35719" cy="100013"/>
          </a:xfrm>
          <a:prstGeom prst="rect">
            <a:avLst/>
          </a:prstGeom>
        </p:spPr>
      </p:pic>
      <p:pic>
        <p:nvPicPr>
          <p:cNvPr id="93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965156" y="4159448"/>
            <a:ext cx="35719" cy="42863"/>
          </a:xfrm>
          <a:prstGeom prst="rect">
            <a:avLst/>
          </a:prstGeom>
        </p:spPr>
      </p:pic>
      <p:pic>
        <p:nvPicPr>
          <p:cNvPr id="94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036594" y="4088011"/>
            <a:ext cx="35719" cy="114300"/>
          </a:xfrm>
          <a:prstGeom prst="rect">
            <a:avLst/>
          </a:prstGeom>
        </p:spPr>
      </p:pic>
      <p:pic>
        <p:nvPicPr>
          <p:cNvPr id="95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108031" y="4130873"/>
            <a:ext cx="35719" cy="71438"/>
          </a:xfrm>
          <a:prstGeom prst="rect">
            <a:avLst/>
          </a:prstGeom>
        </p:spPr>
      </p:pic>
      <p:pic>
        <p:nvPicPr>
          <p:cNvPr id="96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57200" y="4430911"/>
            <a:ext cx="8229600" cy="341114"/>
          </a:xfrm>
          <a:prstGeom prst="rect">
            <a:avLst/>
          </a:prstGeom>
        </p:spPr>
      </p:pic>
      <p:sp>
        <p:nvSpPr>
          <p:cNvPr id="97" name="Shape 53"/>
          <p:cNvSpPr/>
          <p:nvPr/>
        </p:nvSpPr>
        <p:spPr>
          <a:xfrm>
            <a:off x="471488" y="4430911"/>
            <a:ext cx="0" cy="341114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98" name="Text 54"/>
          <p:cNvSpPr/>
          <p:nvPr/>
        </p:nvSpPr>
        <p:spPr>
          <a:xfrm>
            <a:off x="628650" y="4526459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7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77" dirty="0"/>
          </a:p>
        </p:txBody>
      </p:sp>
      <p:sp>
        <p:nvSpPr>
          <p:cNvPr id="99" name="Text 55"/>
          <p:cNvSpPr/>
          <p:nvPr/>
        </p:nvSpPr>
        <p:spPr>
          <a:xfrm>
            <a:off x="892969" y="4523780"/>
            <a:ext cx="765095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每一维都对应</a:t>
            </a:r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「自然发声生理」</a:t>
            </a:r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「声码器生成机制」</a:t>
            </a:r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的物理差异——判决依据可逐特征追溯、可第三方复算。</a:t>
            </a:r>
            <a:endParaRPr lang="en-US" sz="81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881" y="528638"/>
            <a:ext cx="35719" cy="71438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319" y="442913"/>
            <a:ext cx="35719" cy="157163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6756" y="492919"/>
            <a:ext cx="35719" cy="107156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194" y="385763"/>
            <a:ext cx="35719" cy="214313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9631" y="478631"/>
            <a:ext cx="35719" cy="121444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1069" y="421481"/>
            <a:ext cx="35719" cy="178594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2506" y="514350"/>
            <a:ext cx="35719" cy="85725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93944" y="464344"/>
            <a:ext cx="35719" cy="135731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400050" y="271463"/>
            <a:ext cx="8636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METHODOLOGY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数据驱动校准</a:t>
            </a:r>
            <a:endParaRPr lang="en-US" sz="700" dirty="0"/>
          </a:p>
        </p:txBody>
      </p:sp>
      <p:sp>
        <p:nvSpPr>
          <p:cNvPr id="13" name="Text 1"/>
          <p:cNvSpPr/>
          <p:nvPr/>
        </p:nvSpPr>
        <p:spPr>
          <a:xfrm>
            <a:off x="400050" y="453628"/>
            <a:ext cx="8636000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8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不拍脑袋——先验与权重全部来自数据</a:t>
            </a:r>
            <a:endParaRPr lang="en-US" sz="1856" dirty="0"/>
          </a:p>
        </p:txBody>
      </p:sp>
      <p:sp>
        <p:nvSpPr>
          <p:cNvPr id="14" name="Text 2"/>
          <p:cNvSpPr/>
          <p:nvPr/>
        </p:nvSpPr>
        <p:spPr>
          <a:xfrm>
            <a:off x="403622" y="923330"/>
            <a:ext cx="1869877" cy="2064544"/>
          </a:xfrm>
          <a:prstGeom prst="roundRect">
            <a:avLst>
              <a:gd name="adj" fmla="val 713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3"/>
          <p:cNvSpPr/>
          <p:nvPr/>
        </p:nvSpPr>
        <p:spPr>
          <a:xfrm>
            <a:off x="535781" y="1055489"/>
            <a:ext cx="1229171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9"/>
              </a:lnSpc>
              <a:buNone/>
            </a:pPr>
            <a:r>
              <a:rPr lang="en-US" sz="1406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406" dirty="0"/>
          </a:p>
        </p:txBody>
      </p:sp>
      <p:sp>
        <p:nvSpPr>
          <p:cNvPr id="16" name="Text 4"/>
          <p:cNvSpPr/>
          <p:nvPr/>
        </p:nvSpPr>
        <p:spPr>
          <a:xfrm>
            <a:off x="1751837" y="1176933"/>
            <a:ext cx="41690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</a:t>
            </a:r>
            <a:endParaRPr lang="en-US" sz="600" dirty="0"/>
          </a:p>
        </p:txBody>
      </p:sp>
      <p:sp>
        <p:nvSpPr>
          <p:cNvPr id="17" name="Text 5"/>
          <p:cNvSpPr/>
          <p:nvPr/>
        </p:nvSpPr>
        <p:spPr>
          <a:xfrm>
            <a:off x="535781" y="1373386"/>
            <a:ext cx="1605558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样本构造</a:t>
            </a:r>
            <a:endParaRPr lang="en-US" sz="1069" dirty="0"/>
          </a:p>
        </p:txBody>
      </p:sp>
      <p:sp>
        <p:nvSpPr>
          <p:cNvPr id="18" name="Text 6"/>
          <p:cNvSpPr/>
          <p:nvPr/>
        </p:nvSpPr>
        <p:spPr>
          <a:xfrm>
            <a:off x="535781" y="1641277"/>
            <a:ext cx="185738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7"/>
          <p:cNvSpPr/>
          <p:nvPr/>
        </p:nvSpPr>
        <p:spPr>
          <a:xfrm>
            <a:off x="535781" y="1727002"/>
            <a:ext cx="1605558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自然类：公开人声录音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种（含有声书）；合成类：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音色 ×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文本 =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段；两类均构造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300–3400Hz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电话窄带退化版，合计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条特征记录。</a:t>
            </a:r>
            <a:endParaRPr lang="en-US" sz="703" dirty="0"/>
          </a:p>
        </p:txBody>
      </p:sp>
      <p:sp>
        <p:nvSpPr>
          <p:cNvPr id="20" name="Text 8"/>
          <p:cNvSpPr/>
          <p:nvPr/>
        </p:nvSpPr>
        <p:spPr>
          <a:xfrm>
            <a:off x="2348508" y="187702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sp>
        <p:nvSpPr>
          <p:cNvPr id="21" name="Text 9"/>
          <p:cNvSpPr/>
          <p:nvPr/>
        </p:nvSpPr>
        <p:spPr>
          <a:xfrm>
            <a:off x="2559248" y="923330"/>
            <a:ext cx="1869877" cy="2064544"/>
          </a:xfrm>
          <a:prstGeom prst="roundRect">
            <a:avLst>
              <a:gd name="adj" fmla="val 713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0"/>
          <p:cNvSpPr/>
          <p:nvPr/>
        </p:nvSpPr>
        <p:spPr>
          <a:xfrm>
            <a:off x="2691408" y="1055489"/>
            <a:ext cx="1125810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9"/>
              </a:lnSpc>
              <a:buNone/>
            </a:pPr>
            <a:r>
              <a:rPr lang="en-US" sz="1406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406" dirty="0"/>
          </a:p>
        </p:txBody>
      </p:sp>
      <p:sp>
        <p:nvSpPr>
          <p:cNvPr id="23" name="Text 11"/>
          <p:cNvSpPr/>
          <p:nvPr/>
        </p:nvSpPr>
        <p:spPr>
          <a:xfrm>
            <a:off x="3807678" y="1176933"/>
            <a:ext cx="5131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PRIOR-FIT</a:t>
            </a:r>
            <a:endParaRPr lang="en-US" sz="600" dirty="0"/>
          </a:p>
        </p:txBody>
      </p:sp>
      <p:sp>
        <p:nvSpPr>
          <p:cNvPr id="24" name="Text 12"/>
          <p:cNvSpPr/>
          <p:nvPr/>
        </p:nvSpPr>
        <p:spPr>
          <a:xfrm>
            <a:off x="2691408" y="1373386"/>
            <a:ext cx="1605558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先验拟合</a:t>
            </a:r>
            <a:endParaRPr lang="en-US" sz="1069" dirty="0"/>
          </a:p>
        </p:txBody>
      </p:sp>
      <p:sp>
        <p:nvSpPr>
          <p:cNvPr id="25" name="Text 13"/>
          <p:cNvSpPr/>
          <p:nvPr/>
        </p:nvSpPr>
        <p:spPr>
          <a:xfrm>
            <a:off x="2691408" y="1641277"/>
            <a:ext cx="185738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2691408" y="1727002"/>
            <a:ext cx="1605558" cy="513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按信道分别取自然类各特征</a:t>
            </a:r>
            <a:pPr algn="l" indent="0" marL="0">
              <a:lnSpc>
                <a:spcPts val="120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/ 标准差</a:t>
            </a:r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</a:t>
            </a:r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分数即偏离同信道自然语音的程度。</a:t>
            </a:r>
            <a:endParaRPr lang="en-US" sz="703" dirty="0"/>
          </a:p>
        </p:txBody>
      </p:sp>
      <p:sp>
        <p:nvSpPr>
          <p:cNvPr id="27" name="Text 15"/>
          <p:cNvSpPr/>
          <p:nvPr/>
        </p:nvSpPr>
        <p:spPr>
          <a:xfrm>
            <a:off x="4504134" y="187702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sp>
        <p:nvSpPr>
          <p:cNvPr id="28" name="Text 16"/>
          <p:cNvSpPr/>
          <p:nvPr/>
        </p:nvSpPr>
        <p:spPr>
          <a:xfrm>
            <a:off x="4714875" y="923330"/>
            <a:ext cx="1869877" cy="2064544"/>
          </a:xfrm>
          <a:prstGeom prst="roundRect">
            <a:avLst>
              <a:gd name="adj" fmla="val 713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17"/>
          <p:cNvSpPr/>
          <p:nvPr/>
        </p:nvSpPr>
        <p:spPr>
          <a:xfrm>
            <a:off x="4847034" y="1055489"/>
            <a:ext cx="1074018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9"/>
              </a:lnSpc>
              <a:buNone/>
            </a:pPr>
            <a:r>
              <a:rPr lang="en-US" sz="1406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406" dirty="0"/>
          </a:p>
        </p:txBody>
      </p:sp>
      <p:sp>
        <p:nvSpPr>
          <p:cNvPr id="30" name="Text 18"/>
          <p:cNvSpPr/>
          <p:nvPr/>
        </p:nvSpPr>
        <p:spPr>
          <a:xfrm>
            <a:off x="5909534" y="1176933"/>
            <a:ext cx="5688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WEIGHT-FIT</a:t>
            </a:r>
            <a:endParaRPr lang="en-US" sz="600" dirty="0"/>
          </a:p>
        </p:txBody>
      </p:sp>
      <p:sp>
        <p:nvSpPr>
          <p:cNvPr id="31" name="Text 19"/>
          <p:cNvSpPr/>
          <p:nvPr/>
        </p:nvSpPr>
        <p:spPr>
          <a:xfrm>
            <a:off x="4847034" y="1373386"/>
            <a:ext cx="1605558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权重拟合</a:t>
            </a:r>
            <a:endParaRPr lang="en-US" sz="1069" dirty="0"/>
          </a:p>
        </p:txBody>
      </p:sp>
      <p:sp>
        <p:nvSpPr>
          <p:cNvPr id="32" name="Text 20"/>
          <p:cNvSpPr/>
          <p:nvPr/>
        </p:nvSpPr>
        <p:spPr>
          <a:xfrm>
            <a:off x="4847034" y="1641277"/>
            <a:ext cx="185738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1"/>
          <p:cNvSpPr/>
          <p:nvPr/>
        </p:nvSpPr>
        <p:spPr>
          <a:xfrm>
            <a:off x="4847034" y="1727002"/>
            <a:ext cx="1605558" cy="52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类加权（自然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×4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正则逻辑回归，梯度下降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4000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轮；宽带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特征、窄带时域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l" indent="0" marL="0">
              <a:lnSpc>
                <a:spcPts val="137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特征。</a:t>
            </a:r>
            <a:endParaRPr lang="en-US" sz="703" dirty="0"/>
          </a:p>
        </p:txBody>
      </p:sp>
      <p:sp>
        <p:nvSpPr>
          <p:cNvPr id="34" name="Text 22"/>
          <p:cNvSpPr/>
          <p:nvPr/>
        </p:nvSpPr>
        <p:spPr>
          <a:xfrm>
            <a:off x="6659761" y="187702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sp>
        <p:nvSpPr>
          <p:cNvPr id="35" name="Text 23"/>
          <p:cNvSpPr/>
          <p:nvPr/>
        </p:nvSpPr>
        <p:spPr>
          <a:xfrm>
            <a:off x="6870502" y="923330"/>
            <a:ext cx="1869877" cy="2064544"/>
          </a:xfrm>
          <a:prstGeom prst="roundRect">
            <a:avLst>
              <a:gd name="adj" fmla="val 713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4"/>
          <p:cNvSpPr/>
          <p:nvPr/>
        </p:nvSpPr>
        <p:spPr>
          <a:xfrm>
            <a:off x="7002661" y="1055489"/>
            <a:ext cx="1177491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9"/>
              </a:lnSpc>
              <a:buNone/>
            </a:pPr>
            <a:r>
              <a:rPr lang="en-US" sz="1406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406" dirty="0"/>
          </a:p>
        </p:txBody>
      </p:sp>
      <p:sp>
        <p:nvSpPr>
          <p:cNvPr id="37" name="Text 25"/>
          <p:cNvSpPr/>
          <p:nvPr/>
        </p:nvSpPr>
        <p:spPr>
          <a:xfrm>
            <a:off x="8165002" y="1176933"/>
            <a:ext cx="4726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600" dirty="0"/>
          </a:p>
        </p:txBody>
      </p:sp>
      <p:sp>
        <p:nvSpPr>
          <p:cNvPr id="38" name="Text 26"/>
          <p:cNvSpPr/>
          <p:nvPr/>
        </p:nvSpPr>
        <p:spPr>
          <a:xfrm>
            <a:off x="7002661" y="1373386"/>
            <a:ext cx="1605558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1069" dirty="0"/>
          </a:p>
        </p:txBody>
      </p:sp>
      <p:sp>
        <p:nvSpPr>
          <p:cNvPr id="39" name="Text 27"/>
          <p:cNvSpPr/>
          <p:nvPr/>
        </p:nvSpPr>
        <p:spPr>
          <a:xfrm>
            <a:off x="7002661" y="1641277"/>
            <a:ext cx="185738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28"/>
          <p:cNvSpPr/>
          <p:nvPr/>
        </p:nvSpPr>
        <p:spPr>
          <a:xfrm>
            <a:off x="7002661" y="1727002"/>
            <a:ext cx="1605558" cy="34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</a:t>
            </a:r>
            <a:pPr algn="l" indent="0" marL="0">
              <a:lnSpc>
                <a:spcPts val="120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混淆矩阵</a:t>
            </a:r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自然类</a:t>
            </a:r>
            <a:pPr algn="l" indent="0" marL="0">
              <a:lnSpc>
                <a:spcPts val="120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留一法（</a:t>
            </a:r>
            <a:pPr algn="l" indent="0" marL="0">
              <a:lnSpc>
                <a:spcPts val="120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LOO</a:t>
            </a:r>
            <a:pPr algn="l" indent="0" marL="0">
              <a:lnSpc>
                <a:spcPts val="120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pPr algn="l" indent="0" marL="0">
              <a:lnSpc>
                <a:spcPts val="120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稳定性检验。</a:t>
            </a:r>
            <a:endParaRPr lang="en-US" sz="703" dirty="0"/>
          </a:p>
        </p:txBody>
      </p:sp>
      <p:sp>
        <p:nvSpPr>
          <p:cNvPr id="41" name="Text 29"/>
          <p:cNvSpPr/>
          <p:nvPr/>
        </p:nvSpPr>
        <p:spPr>
          <a:xfrm>
            <a:off x="400050" y="3134320"/>
            <a:ext cx="4107656" cy="1551980"/>
          </a:xfrm>
          <a:prstGeom prst="rect">
            <a:avLst/>
          </a:prstGeom>
          <a:solidFill>
            <a:srgbClr val="1220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0"/>
          <p:cNvSpPr/>
          <p:nvPr/>
        </p:nvSpPr>
        <p:spPr>
          <a:xfrm>
            <a:off x="400050" y="3137892"/>
            <a:ext cx="4107656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3" name="Shape 31"/>
          <p:cNvSpPr/>
          <p:nvPr/>
        </p:nvSpPr>
        <p:spPr>
          <a:xfrm>
            <a:off x="4504134" y="3134320"/>
            <a:ext cx="0" cy="155198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4" name="Shape 32"/>
          <p:cNvSpPr/>
          <p:nvPr/>
        </p:nvSpPr>
        <p:spPr>
          <a:xfrm>
            <a:off x="400050" y="4682728"/>
            <a:ext cx="4107656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14338" y="3134320"/>
            <a:ext cx="0" cy="1551980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585788" y="328166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406" dirty="0"/>
          </a:p>
        </p:txBody>
      </p:sp>
      <p:sp>
        <p:nvSpPr>
          <p:cNvPr id="47" name="Text 35"/>
          <p:cNvSpPr/>
          <p:nvPr/>
        </p:nvSpPr>
        <p:spPr>
          <a:xfrm>
            <a:off x="792956" y="3270052"/>
            <a:ext cx="3550444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数据证伪直觉</a:t>
            </a:r>
            <a:endParaRPr lang="en-US" sz="872" dirty="0"/>
          </a:p>
        </p:txBody>
      </p:sp>
      <p:sp>
        <p:nvSpPr>
          <p:cNvPr id="48" name="Text 36"/>
          <p:cNvSpPr/>
          <p:nvPr/>
        </p:nvSpPr>
        <p:spPr>
          <a:xfrm>
            <a:off x="585788" y="3692649"/>
            <a:ext cx="1489829" cy="3226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0.10</a:t>
            </a:r>
            <a:endParaRPr lang="en-US" sz="2363" dirty="0"/>
          </a:p>
        </p:txBody>
      </p:sp>
      <p:sp>
        <p:nvSpPr>
          <p:cNvPr id="49" name="Text 37"/>
          <p:cNvSpPr/>
          <p:nvPr/>
        </p:nvSpPr>
        <p:spPr>
          <a:xfrm>
            <a:off x="578157" y="4042693"/>
            <a:ext cx="110656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高频谱平坦度 · 类间分离度</a:t>
            </a:r>
            <a:endParaRPr lang="en-US" sz="600" dirty="0"/>
          </a:p>
        </p:txBody>
      </p:sp>
      <p:sp>
        <p:nvSpPr>
          <p:cNvPr id="50" name="Text 38"/>
          <p:cNvSpPr/>
          <p:nvPr/>
        </p:nvSpPr>
        <p:spPr>
          <a:xfrm>
            <a:off x="1788393" y="3692649"/>
            <a:ext cx="1098731" cy="3226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→0</a:t>
            </a:r>
            <a:endParaRPr lang="en-US" sz="2363" dirty="0"/>
          </a:p>
        </p:txBody>
      </p:sp>
      <p:sp>
        <p:nvSpPr>
          <p:cNvPr id="51" name="Text 39"/>
          <p:cNvSpPr/>
          <p:nvPr/>
        </p:nvSpPr>
        <p:spPr>
          <a:xfrm>
            <a:off x="1777491" y="4042693"/>
            <a:ext cx="83681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拟合权重 · 自动趋零</a:t>
            </a:r>
            <a:endParaRPr lang="en-US" sz="600" dirty="0"/>
          </a:p>
        </p:txBody>
      </p:sp>
      <p:sp>
        <p:nvSpPr>
          <p:cNvPr id="52" name="Text 40"/>
          <p:cNvSpPr/>
          <p:nvPr/>
        </p:nvSpPr>
        <p:spPr>
          <a:xfrm>
            <a:off x="585788" y="4411712"/>
            <a:ext cx="3757613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高频谱平坦度直觉上有效，但实测类间分离度仅 </a:t>
            </a:r>
            <a:pPr algn="l" indent="0" marL="0">
              <a:lnSpc>
                <a:spcPts val="1320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0.10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，拟合权重自动趋零。</a:t>
            </a:r>
            <a:endParaRPr lang="en-US" sz="731" dirty="0"/>
          </a:p>
        </p:txBody>
      </p:sp>
      <p:sp>
        <p:nvSpPr>
          <p:cNvPr id="53" name="Text 41"/>
          <p:cNvSpPr/>
          <p:nvPr/>
        </p:nvSpPr>
        <p:spPr>
          <a:xfrm>
            <a:off x="4636294" y="3134320"/>
            <a:ext cx="4107656" cy="1551980"/>
          </a:xfrm>
          <a:prstGeom prst="rect">
            <a:avLst/>
          </a:prstGeom>
          <a:solidFill>
            <a:srgbClr val="1220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42"/>
          <p:cNvSpPr/>
          <p:nvPr/>
        </p:nvSpPr>
        <p:spPr>
          <a:xfrm>
            <a:off x="4636294" y="3137892"/>
            <a:ext cx="4107656" cy="0"/>
          </a:xfrm>
          <a:prstGeom prst="line">
            <a:avLst/>
          </a:prstGeom>
          <a:noFill/>
          <a:ln w="7144">
            <a:solidFill>
              <a:srgbClr val="FBBF24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8740378" y="3134320"/>
            <a:ext cx="0" cy="1551980"/>
          </a:xfrm>
          <a:prstGeom prst="line">
            <a:avLst/>
          </a:prstGeom>
          <a:noFill/>
          <a:ln w="7144">
            <a:solidFill>
              <a:srgbClr val="FBBF24"/>
            </a:solidFill>
            <a:prstDash val="solid"/>
          </a:ln>
        </p:spPr>
      </p:sp>
      <p:sp>
        <p:nvSpPr>
          <p:cNvPr id="56" name="Shape 44"/>
          <p:cNvSpPr/>
          <p:nvPr/>
        </p:nvSpPr>
        <p:spPr>
          <a:xfrm>
            <a:off x="4636294" y="4682728"/>
            <a:ext cx="4107656" cy="0"/>
          </a:xfrm>
          <a:prstGeom prst="line">
            <a:avLst/>
          </a:prstGeom>
          <a:noFill/>
          <a:ln w="7144">
            <a:solidFill>
              <a:srgbClr val="FBBF24"/>
            </a:solidFill>
            <a:prstDash val="solid"/>
          </a:ln>
        </p:spPr>
      </p:sp>
      <p:sp>
        <p:nvSpPr>
          <p:cNvPr id="57" name="Shape 45"/>
          <p:cNvSpPr/>
          <p:nvPr/>
        </p:nvSpPr>
        <p:spPr>
          <a:xfrm>
            <a:off x="4650581" y="3134320"/>
            <a:ext cx="0" cy="1551980"/>
          </a:xfrm>
          <a:prstGeom prst="line">
            <a:avLst/>
          </a:prstGeom>
          <a:noFill/>
          <a:ln w="28575">
            <a:solidFill>
              <a:srgbClr val="FBBF24"/>
            </a:solidFill>
            <a:prstDash val="solid"/>
          </a:ln>
        </p:spPr>
      </p:sp>
      <p:sp>
        <p:nvSpPr>
          <p:cNvPr id="58" name="Text 46"/>
          <p:cNvSpPr/>
          <p:nvPr/>
        </p:nvSpPr>
        <p:spPr>
          <a:xfrm>
            <a:off x="4822031" y="328166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BBF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59" name="Text 47"/>
          <p:cNvSpPr/>
          <p:nvPr/>
        </p:nvSpPr>
        <p:spPr>
          <a:xfrm>
            <a:off x="5029200" y="3270052"/>
            <a:ext cx="3550444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数据验证自研</a:t>
            </a:r>
            <a:endParaRPr lang="en-US" sz="872" dirty="0"/>
          </a:p>
        </p:txBody>
      </p:sp>
      <p:sp>
        <p:nvSpPr>
          <p:cNvPr id="60" name="Text 48"/>
          <p:cNvSpPr/>
          <p:nvPr/>
        </p:nvSpPr>
        <p:spPr>
          <a:xfrm>
            <a:off x="4822031" y="3692649"/>
            <a:ext cx="1364099" cy="3226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1.28</a:t>
            </a:r>
            <a:endParaRPr lang="en-US" sz="2363" dirty="0"/>
          </a:p>
        </p:txBody>
      </p:sp>
      <p:sp>
        <p:nvSpPr>
          <p:cNvPr id="61" name="Text 49"/>
          <p:cNvSpPr/>
          <p:nvPr/>
        </p:nvSpPr>
        <p:spPr>
          <a:xfrm>
            <a:off x="4813310" y="4042693"/>
            <a:ext cx="101664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高频周期性 · 类间分离度</a:t>
            </a:r>
            <a:endParaRPr lang="en-US" sz="600" dirty="0"/>
          </a:p>
        </p:txBody>
      </p:sp>
      <p:sp>
        <p:nvSpPr>
          <p:cNvPr id="62" name="Text 50"/>
          <p:cNvSpPr/>
          <p:nvPr/>
        </p:nvSpPr>
        <p:spPr>
          <a:xfrm>
            <a:off x="5946056" y="3692649"/>
            <a:ext cx="1445181" cy="3226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0.289</a:t>
            </a:r>
            <a:endParaRPr lang="en-US" sz="2363" dirty="0"/>
          </a:p>
        </p:txBody>
      </p:sp>
      <p:sp>
        <p:nvSpPr>
          <p:cNvPr id="63" name="Text 51"/>
          <p:cNvSpPr/>
          <p:nvPr/>
        </p:nvSpPr>
        <p:spPr>
          <a:xfrm>
            <a:off x="5946056" y="4042693"/>
            <a:ext cx="105859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拟合权重 · 显著贡献</a:t>
            </a:r>
            <a:endParaRPr lang="en-US" sz="700" dirty="0"/>
          </a:p>
        </p:txBody>
      </p:sp>
      <p:sp>
        <p:nvSpPr>
          <p:cNvPr id="64" name="Text 52"/>
          <p:cNvSpPr/>
          <p:nvPr/>
        </p:nvSpPr>
        <p:spPr>
          <a:xfrm>
            <a:off x="4822031" y="4411712"/>
            <a:ext cx="3757613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高频周期性分离度 </a:t>
            </a:r>
            <a:pPr algn="l" indent="0" marL="0">
              <a:lnSpc>
                <a:spcPts val="1320"/>
              </a:lnSpc>
              <a:buNone/>
            </a:pPr>
            <a:r>
              <a:rPr lang="en-US" sz="800" b="1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1.28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，获得显著权重 </a:t>
            </a:r>
            <a:pPr algn="l" indent="0" marL="0">
              <a:lnSpc>
                <a:spcPts val="1320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0.289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731" dirty="0"/>
          </a:p>
        </p:txBody>
      </p:sp>
      <p:sp>
        <p:nvSpPr>
          <p:cNvPr id="65" name="Text 53"/>
          <p:cNvSpPr/>
          <p:nvPr/>
        </p:nvSpPr>
        <p:spPr>
          <a:xfrm>
            <a:off x="400050" y="4811316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66" name="Text 54"/>
          <p:cNvSpPr/>
          <p:nvPr/>
        </p:nvSpPr>
        <p:spPr>
          <a:xfrm>
            <a:off x="564356" y="4800600"/>
            <a:ext cx="8179594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7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校准全流程脚本化（</a:t>
            </a:r>
            <a:pPr algn="l" indent="0" marL="0">
              <a:lnSpc>
                <a:spcPts val="1157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scripts/fit-weights.ts</a:t>
            </a:r>
            <a:pPr algn="l" indent="0" marL="0">
              <a:lnSpc>
                <a:spcPts val="1157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），随样本扩展可一键重拟合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894" y="478631"/>
            <a:ext cx="35719" cy="64294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5331" y="400050"/>
            <a:ext cx="35719" cy="142875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6769" y="442913"/>
            <a:ext cx="35719" cy="100013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8206" y="350044"/>
            <a:ext cx="35719" cy="192881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9644" y="428625"/>
            <a:ext cx="35719" cy="1143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081" y="378619"/>
            <a:ext cx="35719" cy="164306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2519" y="464344"/>
            <a:ext cx="35719" cy="78581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385763" y="214313"/>
            <a:ext cx="8636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EVALUATION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实测与边界</a:t>
            </a:r>
            <a:endParaRPr lang="en-US" sz="700" dirty="0"/>
          </a:p>
        </p:txBody>
      </p:sp>
      <p:sp>
        <p:nvSpPr>
          <p:cNvPr id="12" name="Text 1"/>
          <p:cNvSpPr/>
          <p:nvPr/>
        </p:nvSpPr>
        <p:spPr>
          <a:xfrm>
            <a:off x="385763" y="389334"/>
            <a:ext cx="863600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实测结果，如实呈现边界</a:t>
            </a:r>
            <a:endParaRPr lang="en-US" sz="1800" dirty="0"/>
          </a:p>
        </p:txBody>
      </p:sp>
      <p:sp>
        <p:nvSpPr>
          <p:cNvPr id="13" name="Text 2"/>
          <p:cNvSpPr/>
          <p:nvPr/>
        </p:nvSpPr>
        <p:spPr>
          <a:xfrm>
            <a:off x="389334" y="764381"/>
            <a:ext cx="2010966" cy="584783"/>
          </a:xfrm>
          <a:prstGeom prst="roundRect">
            <a:avLst>
              <a:gd name="adj" fmla="val 2280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3"/>
          <p:cNvSpPr/>
          <p:nvPr/>
        </p:nvSpPr>
        <p:spPr>
          <a:xfrm>
            <a:off x="500063" y="832247"/>
            <a:ext cx="1789509" cy="99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59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宽带合成检出</a:t>
            </a:r>
            <a:endParaRPr lang="en-US" sz="700" dirty="0"/>
          </a:p>
        </p:txBody>
      </p:sp>
      <p:sp>
        <p:nvSpPr>
          <p:cNvPr id="15" name="Text 4"/>
          <p:cNvSpPr/>
          <p:nvPr/>
        </p:nvSpPr>
        <p:spPr>
          <a:xfrm>
            <a:off x="500063" y="959048"/>
            <a:ext cx="1789509" cy="1948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38"/>
              </a:lnSpc>
              <a:buNone/>
            </a:pPr>
            <a:r>
              <a:rPr lang="en-US" sz="146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20/20</a:t>
            </a:r>
            <a:endParaRPr lang="en-US" sz="1463" dirty="0"/>
          </a:p>
        </p:txBody>
      </p:sp>
      <p:sp>
        <p:nvSpPr>
          <p:cNvPr id="16" name="Text 5"/>
          <p:cNvSpPr/>
          <p:nvPr/>
        </p:nvSpPr>
        <p:spPr>
          <a:xfrm>
            <a:off x="500063" y="1181286"/>
            <a:ext cx="178950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 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</a:t>
            </a:r>
            <a:endParaRPr lang="en-US" sz="700" dirty="0"/>
          </a:p>
        </p:txBody>
      </p:sp>
      <p:sp>
        <p:nvSpPr>
          <p:cNvPr id="17" name="Text 6"/>
          <p:cNvSpPr/>
          <p:nvPr/>
        </p:nvSpPr>
        <p:spPr>
          <a:xfrm>
            <a:off x="2507456" y="764381"/>
            <a:ext cx="2010966" cy="584783"/>
          </a:xfrm>
          <a:prstGeom prst="roundRect">
            <a:avLst>
              <a:gd name="adj" fmla="val 2280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7"/>
          <p:cNvSpPr/>
          <p:nvPr/>
        </p:nvSpPr>
        <p:spPr>
          <a:xfrm>
            <a:off x="2618184" y="832247"/>
            <a:ext cx="1789509" cy="99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59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自然语音放行</a:t>
            </a:r>
            <a:endParaRPr lang="en-US" sz="700" dirty="0"/>
          </a:p>
        </p:txBody>
      </p:sp>
      <p:sp>
        <p:nvSpPr>
          <p:cNvPr id="19" name="Text 8"/>
          <p:cNvSpPr/>
          <p:nvPr/>
        </p:nvSpPr>
        <p:spPr>
          <a:xfrm>
            <a:off x="2618184" y="959048"/>
            <a:ext cx="1789509" cy="1948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38"/>
              </a:lnSpc>
              <a:buNone/>
            </a:pPr>
            <a:r>
              <a:rPr lang="en-US" sz="1463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4/5</a:t>
            </a:r>
            <a:endParaRPr lang="en-US" sz="1463" dirty="0"/>
          </a:p>
        </p:txBody>
      </p:sp>
      <p:sp>
        <p:nvSpPr>
          <p:cNvPr id="20" name="Text 9"/>
          <p:cNvSpPr/>
          <p:nvPr/>
        </p:nvSpPr>
        <p:spPr>
          <a:xfrm>
            <a:off x="2618184" y="1181286"/>
            <a:ext cx="178950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自然样本 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700" dirty="0"/>
          </a:p>
        </p:txBody>
      </p:sp>
      <p:sp>
        <p:nvSpPr>
          <p:cNvPr id="21" name="Text 10"/>
          <p:cNvSpPr/>
          <p:nvPr/>
        </p:nvSpPr>
        <p:spPr>
          <a:xfrm>
            <a:off x="4625578" y="764381"/>
            <a:ext cx="2010966" cy="584783"/>
          </a:xfrm>
          <a:prstGeom prst="roundRect">
            <a:avLst>
              <a:gd name="adj" fmla="val 2280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1"/>
          <p:cNvSpPr/>
          <p:nvPr/>
        </p:nvSpPr>
        <p:spPr>
          <a:xfrm>
            <a:off x="4736306" y="832247"/>
            <a:ext cx="1789509" cy="99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59" kern="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886"/>
              </a:lnSpc>
              <a:buNone/>
            </a:pPr>
            <a:r>
              <a:rPr lang="en-US" sz="700" spc="59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实时因子</a:t>
            </a:r>
            <a:endParaRPr lang="en-US" sz="700" dirty="0"/>
          </a:p>
        </p:txBody>
      </p:sp>
      <p:sp>
        <p:nvSpPr>
          <p:cNvPr id="23" name="Text 12"/>
          <p:cNvSpPr/>
          <p:nvPr/>
        </p:nvSpPr>
        <p:spPr>
          <a:xfrm>
            <a:off x="4736306" y="959048"/>
            <a:ext cx="1789509" cy="1948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38"/>
              </a:lnSpc>
              <a:buNone/>
            </a:pPr>
            <a:r>
              <a:rPr lang="en-US" sz="1463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0.003–0.015</a:t>
            </a:r>
            <a:endParaRPr lang="en-US" sz="1463" dirty="0"/>
          </a:p>
        </p:txBody>
      </p:sp>
      <p:sp>
        <p:nvSpPr>
          <p:cNvPr id="24" name="Text 13"/>
          <p:cNvSpPr/>
          <p:nvPr/>
        </p:nvSpPr>
        <p:spPr>
          <a:xfrm>
            <a:off x="4736306" y="1181286"/>
            <a:ext cx="178950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endParaRPr lang="en-US" sz="700" dirty="0"/>
          </a:p>
        </p:txBody>
      </p:sp>
      <p:sp>
        <p:nvSpPr>
          <p:cNvPr id="25" name="Text 14"/>
          <p:cNvSpPr/>
          <p:nvPr/>
        </p:nvSpPr>
        <p:spPr>
          <a:xfrm>
            <a:off x="6743700" y="764381"/>
            <a:ext cx="2010966" cy="584783"/>
          </a:xfrm>
          <a:prstGeom prst="roundRect">
            <a:avLst>
              <a:gd name="adj" fmla="val 22803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5"/>
          <p:cNvSpPr/>
          <p:nvPr/>
        </p:nvSpPr>
        <p:spPr>
          <a:xfrm>
            <a:off x="6854428" y="832247"/>
            <a:ext cx="1789509" cy="99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59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判决时延</a:t>
            </a:r>
            <a:endParaRPr lang="en-US" sz="700" dirty="0"/>
          </a:p>
        </p:txBody>
      </p:sp>
      <p:sp>
        <p:nvSpPr>
          <p:cNvPr id="27" name="Text 16"/>
          <p:cNvSpPr/>
          <p:nvPr/>
        </p:nvSpPr>
        <p:spPr>
          <a:xfrm>
            <a:off x="6854428" y="959048"/>
            <a:ext cx="1789509" cy="1948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38"/>
              </a:lnSpc>
              <a:buNone/>
            </a:pPr>
            <a:r>
              <a:rPr lang="en-US" sz="1463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≤1s</a:t>
            </a:r>
            <a:endParaRPr lang="en-US" sz="1463" dirty="0"/>
          </a:p>
        </p:txBody>
      </p:sp>
      <p:sp>
        <p:nvSpPr>
          <p:cNvPr id="28" name="Text 17"/>
          <p:cNvSpPr/>
          <p:nvPr/>
        </p:nvSpPr>
        <p:spPr>
          <a:xfrm>
            <a:off x="6854428" y="1181286"/>
            <a:ext cx="178950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窗口步进主导</a:t>
            </a:r>
            <a:endParaRPr lang="en-US" sz="700" dirty="0"/>
          </a:p>
        </p:txBody>
      </p:sp>
      <p:sp>
        <p:nvSpPr>
          <p:cNvPr id="29" name="Text 18"/>
          <p:cNvSpPr/>
          <p:nvPr/>
        </p:nvSpPr>
        <p:spPr>
          <a:xfrm>
            <a:off x="389334" y="1442033"/>
            <a:ext cx="4022936" cy="3540733"/>
          </a:xfrm>
          <a:prstGeom prst="roundRect">
            <a:avLst>
              <a:gd name="adj" fmla="val 3228"/>
            </a:avLst>
          </a:prstGeom>
          <a:solidFill>
            <a:srgbClr val="0D1712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9" descr="/home/z/my-project/download/assets/chart_file_score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906" y="1445605"/>
            <a:ext cx="4015792" cy="3362139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392906" y="4807744"/>
            <a:ext cx="4015792" cy="171450"/>
          </a:xfrm>
          <a:prstGeom prst="rect">
            <a:avLst/>
          </a:prstGeom>
          <a:noFill/>
          <a:ln/>
        </p:spPr>
        <p:txBody>
          <a:bodyPr wrap="none" lIns="100013" tIns="0" rIns="100013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逐文件整段合成置信度：自然 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 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，宽带信道</a:t>
            </a:r>
            <a:endParaRPr lang="en-US" sz="700" dirty="0"/>
          </a:p>
        </p:txBody>
      </p:sp>
      <p:sp>
        <p:nvSpPr>
          <p:cNvPr id="32" name="Text 20"/>
          <p:cNvSpPr/>
          <p:nvPr/>
        </p:nvSpPr>
        <p:spPr>
          <a:xfrm>
            <a:off x="4544430" y="1438461"/>
            <a:ext cx="4213808" cy="1723988"/>
          </a:xfrm>
          <a:prstGeom prst="rect">
            <a:avLst/>
          </a:prstGeom>
          <a:solidFill>
            <a:srgbClr val="1220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21"/>
          <p:cNvSpPr/>
          <p:nvPr/>
        </p:nvSpPr>
        <p:spPr>
          <a:xfrm>
            <a:off x="4544430" y="1442033"/>
            <a:ext cx="4213808" cy="0"/>
          </a:xfrm>
          <a:prstGeom prst="line">
            <a:avLst/>
          </a:prstGeom>
          <a:noFill/>
          <a:ln w="7144">
            <a:solidFill>
              <a:srgbClr val="F87171"/>
            </a:solidFill>
            <a:prstDash val="solid"/>
          </a:ln>
        </p:spPr>
      </p:sp>
      <p:sp>
        <p:nvSpPr>
          <p:cNvPr id="34" name="Shape 22"/>
          <p:cNvSpPr/>
          <p:nvPr/>
        </p:nvSpPr>
        <p:spPr>
          <a:xfrm>
            <a:off x="8754666" y="1438461"/>
            <a:ext cx="0" cy="1723988"/>
          </a:xfrm>
          <a:prstGeom prst="line">
            <a:avLst/>
          </a:prstGeom>
          <a:noFill/>
          <a:ln w="7144">
            <a:solidFill>
              <a:srgbClr val="F87171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4544430" y="3158877"/>
            <a:ext cx="4213808" cy="0"/>
          </a:xfrm>
          <a:prstGeom prst="line">
            <a:avLst/>
          </a:prstGeom>
          <a:noFill/>
          <a:ln w="7144">
            <a:solidFill>
              <a:srgbClr val="F87171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4558717" y="1438461"/>
            <a:ext cx="0" cy="1723988"/>
          </a:xfrm>
          <a:prstGeom prst="line">
            <a:avLst/>
          </a:prstGeom>
          <a:noFill/>
          <a:ln w="28575">
            <a:solidFill>
              <a:srgbClr val="F87171"/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4715880" y="157062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F8717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336" dirty="0"/>
          </a:p>
        </p:txBody>
      </p:sp>
      <p:sp>
        <p:nvSpPr>
          <p:cNvPr id="38" name="Text 26"/>
          <p:cNvSpPr/>
          <p:nvPr/>
        </p:nvSpPr>
        <p:spPr>
          <a:xfrm>
            <a:off x="4915905" y="1552761"/>
            <a:ext cx="2987762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900" dirty="0"/>
          </a:p>
        </p:txBody>
      </p:sp>
      <p:sp>
        <p:nvSpPr>
          <p:cNvPr id="39" name="Text 27"/>
          <p:cNvSpPr/>
          <p:nvPr/>
        </p:nvSpPr>
        <p:spPr>
          <a:xfrm>
            <a:off x="7911605" y="1587587"/>
            <a:ext cx="7208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600" dirty="0"/>
          </a:p>
        </p:txBody>
      </p:sp>
      <p:sp>
        <p:nvSpPr>
          <p:cNvPr id="40" name="Text 28"/>
          <p:cNvSpPr/>
          <p:nvPr/>
        </p:nvSpPr>
        <p:spPr>
          <a:xfrm>
            <a:off x="4715880" y="1969108"/>
            <a:ext cx="1348740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575" b="1" dirty="0">
                <a:solidFill>
                  <a:srgbClr val="F8717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16/20</a:t>
            </a:r>
            <a:endParaRPr lang="en-US" sz="1575" dirty="0"/>
          </a:p>
        </p:txBody>
      </p:sp>
      <p:sp>
        <p:nvSpPr>
          <p:cNvPr id="41" name="Text 29"/>
          <p:cNvSpPr/>
          <p:nvPr/>
        </p:nvSpPr>
        <p:spPr>
          <a:xfrm>
            <a:off x="4715880" y="2204851"/>
            <a:ext cx="107899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窄带电话信道检出</a:t>
            </a:r>
            <a:endParaRPr lang="en-US" sz="700" dirty="0"/>
          </a:p>
        </p:txBody>
      </p:sp>
      <p:sp>
        <p:nvSpPr>
          <p:cNvPr id="42" name="Text 30"/>
          <p:cNvSpPr/>
          <p:nvPr/>
        </p:nvSpPr>
        <p:spPr>
          <a:xfrm>
            <a:off x="5658855" y="1969108"/>
            <a:ext cx="7144" cy="348258"/>
          </a:xfrm>
          <a:prstGeom prst="rect">
            <a:avLst/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1"/>
          <p:cNvSpPr/>
          <p:nvPr/>
        </p:nvSpPr>
        <p:spPr>
          <a:xfrm>
            <a:off x="5766011" y="2070906"/>
            <a:ext cx="2842208" cy="15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300–3400Hz</a:t>
            </a:r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带宽抹除高频信息，退化如实标注。</a:t>
            </a:r>
            <a:endParaRPr lang="en-US" sz="703" dirty="0"/>
          </a:p>
        </p:txBody>
      </p:sp>
      <p:sp>
        <p:nvSpPr>
          <p:cNvPr id="44" name="Shape 32"/>
          <p:cNvSpPr/>
          <p:nvPr/>
        </p:nvSpPr>
        <p:spPr>
          <a:xfrm>
            <a:off x="4715880" y="2565834"/>
            <a:ext cx="3892339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4715880" y="2660489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FBBF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95" dirty="0"/>
          </a:p>
        </p:txBody>
      </p:sp>
      <p:sp>
        <p:nvSpPr>
          <p:cNvPr id="46" name="Text 34"/>
          <p:cNvSpPr/>
          <p:nvPr/>
        </p:nvSpPr>
        <p:spPr>
          <a:xfrm>
            <a:off x="4873042" y="2640843"/>
            <a:ext cx="68580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有声书</a:t>
            </a:r>
            <a:endParaRPr lang="en-US" sz="844" dirty="0"/>
          </a:p>
        </p:txBody>
      </p:sp>
      <p:sp>
        <p:nvSpPr>
          <p:cNvPr id="47" name="Text 35"/>
          <p:cNvSpPr/>
          <p:nvPr/>
        </p:nvSpPr>
        <p:spPr>
          <a:xfrm>
            <a:off x="4715880" y="2837297"/>
            <a:ext cx="987952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录音棚级自然音存在误判</a:t>
            </a:r>
            <a:endParaRPr lang="en-US" sz="700" dirty="0"/>
          </a:p>
        </p:txBody>
      </p:sp>
      <p:sp>
        <p:nvSpPr>
          <p:cNvPr id="48" name="Text 36"/>
          <p:cNvSpPr/>
          <p:nvPr/>
        </p:nvSpPr>
        <p:spPr>
          <a:xfrm>
            <a:off x="5658855" y="2640843"/>
            <a:ext cx="7144" cy="421481"/>
          </a:xfrm>
          <a:prstGeom prst="rect">
            <a:avLst/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37"/>
          <p:cNvSpPr/>
          <p:nvPr/>
        </p:nvSpPr>
        <p:spPr>
          <a:xfrm>
            <a:off x="5766011" y="2706923"/>
            <a:ext cx="2842208" cy="31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轻量特征刻画</a:t>
            </a:r>
            <a:pPr algn="l" indent="0" marL="0">
              <a:lnSpc>
                <a:spcPts val="1139"/>
              </a:lnSpc>
              <a:buNone/>
            </a:pPr>
            <a:r>
              <a:rPr lang="en-US" sz="70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「生产洁净度」与「人声性」的耦合</a:t>
            </a:r>
            <a:pPr algn="l" indent="0" marL="0">
              <a:lnSpc>
                <a:spcPts val="1139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，正是深度引擎的直接动机。</a:t>
            </a:r>
            <a:endParaRPr lang="en-US" sz="703" dirty="0"/>
          </a:p>
        </p:txBody>
      </p:sp>
      <p:sp>
        <p:nvSpPr>
          <p:cNvPr id="50" name="Text 38"/>
          <p:cNvSpPr/>
          <p:nvPr/>
        </p:nvSpPr>
        <p:spPr>
          <a:xfrm>
            <a:off x="4548001" y="3266033"/>
            <a:ext cx="4206664" cy="1716844"/>
          </a:xfrm>
          <a:prstGeom prst="roundRect">
            <a:avLst>
              <a:gd name="adj" fmla="val 776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39"/>
          <p:cNvSpPr/>
          <p:nvPr/>
        </p:nvSpPr>
        <p:spPr>
          <a:xfrm>
            <a:off x="4694448" y="3394621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336" dirty="0"/>
          </a:p>
        </p:txBody>
      </p:sp>
      <p:sp>
        <p:nvSpPr>
          <p:cNvPr id="52" name="Text 40"/>
          <p:cNvSpPr/>
          <p:nvPr/>
        </p:nvSpPr>
        <p:spPr>
          <a:xfrm>
            <a:off x="4894473" y="3376761"/>
            <a:ext cx="2905832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三层评测口径</a:t>
            </a:r>
            <a:endParaRPr lang="en-US" sz="900" dirty="0"/>
          </a:p>
        </p:txBody>
      </p:sp>
      <p:sp>
        <p:nvSpPr>
          <p:cNvPr id="53" name="Text 41"/>
          <p:cNvSpPr/>
          <p:nvPr/>
        </p:nvSpPr>
        <p:spPr>
          <a:xfrm>
            <a:off x="7832452" y="3411587"/>
            <a:ext cx="77576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8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3-TIER PROTOCOL</a:t>
            </a:r>
            <a:endParaRPr lang="en-US" sz="600" dirty="0"/>
          </a:p>
        </p:txBody>
      </p:sp>
      <p:sp>
        <p:nvSpPr>
          <p:cNvPr id="54" name="Text 42"/>
          <p:cNvSpPr/>
          <p:nvPr/>
        </p:nvSpPr>
        <p:spPr>
          <a:xfrm>
            <a:off x="4694448" y="3607112"/>
            <a:ext cx="657225" cy="234029"/>
          </a:xfrm>
          <a:prstGeom prst="roundRect">
            <a:avLst>
              <a:gd name="adj" fmla="val 24420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43"/>
          <p:cNvSpPr/>
          <p:nvPr/>
        </p:nvSpPr>
        <p:spPr>
          <a:xfrm>
            <a:off x="4694448" y="3619649"/>
            <a:ext cx="854392" cy="244204"/>
          </a:xfrm>
          <a:prstGeom prst="rect">
            <a:avLst/>
          </a:prstGeom>
          <a:noFill/>
          <a:ln/>
        </p:spPr>
        <p:txBody>
          <a:bodyPr wrap="none" lIns="0" tIns="35719" rIns="0" bIns="35719" rtlCol="0" anchor="t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7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权威基准</a:t>
            </a:r>
            <a:endParaRPr lang="en-US" sz="700" dirty="0"/>
          </a:p>
        </p:txBody>
      </p:sp>
      <p:sp>
        <p:nvSpPr>
          <p:cNvPr id="56" name="Text 44"/>
          <p:cNvSpPr/>
          <p:nvPr/>
        </p:nvSpPr>
        <p:spPr>
          <a:xfrm>
            <a:off x="5451686" y="3652689"/>
            <a:ext cx="3156533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EER / t-DCF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2019/2021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，深度引擎阶段既定指标）</a:t>
            </a:r>
            <a:endParaRPr lang="en-US" sz="703" dirty="0"/>
          </a:p>
        </p:txBody>
      </p:sp>
      <p:sp>
        <p:nvSpPr>
          <p:cNvPr id="57" name="Shape 45"/>
          <p:cNvSpPr/>
          <p:nvPr/>
        </p:nvSpPr>
        <p:spPr>
          <a:xfrm>
            <a:off x="4694448" y="4087788"/>
            <a:ext cx="391377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8" name="Text 46"/>
          <p:cNvSpPr/>
          <p:nvPr/>
        </p:nvSpPr>
        <p:spPr>
          <a:xfrm>
            <a:off x="4694448" y="4135972"/>
            <a:ext cx="657225" cy="234029"/>
          </a:xfrm>
          <a:prstGeom prst="roundRect">
            <a:avLst>
              <a:gd name="adj" fmla="val 24420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47"/>
          <p:cNvSpPr/>
          <p:nvPr/>
        </p:nvSpPr>
        <p:spPr>
          <a:xfrm>
            <a:off x="4694448" y="4148510"/>
            <a:ext cx="854392" cy="208955"/>
          </a:xfrm>
          <a:prstGeom prst="rect">
            <a:avLst/>
          </a:prstGeom>
          <a:noFill/>
          <a:ln/>
        </p:spPr>
        <p:txBody>
          <a:bodyPr wrap="none" lIns="0" tIns="35719" rIns="0" bIns="35719" rtlCol="0" anchor="t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7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本阶段实测</a:t>
            </a:r>
            <a:endParaRPr lang="en-US" sz="700" dirty="0"/>
          </a:p>
        </p:txBody>
      </p:sp>
      <p:sp>
        <p:nvSpPr>
          <p:cNvPr id="60" name="Text 48"/>
          <p:cNvSpPr/>
          <p:nvPr/>
        </p:nvSpPr>
        <p:spPr>
          <a:xfrm>
            <a:off x="5451686" y="4181549"/>
            <a:ext cx="315653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校准集检出率 +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endParaRPr lang="en-US" sz="703" dirty="0"/>
          </a:p>
        </p:txBody>
      </p:sp>
      <p:sp>
        <p:nvSpPr>
          <p:cNvPr id="61" name="Shape 49"/>
          <p:cNvSpPr/>
          <p:nvPr/>
        </p:nvSpPr>
        <p:spPr>
          <a:xfrm>
            <a:off x="4694448" y="4616648"/>
            <a:ext cx="391377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4694448" y="4664833"/>
            <a:ext cx="657225" cy="234029"/>
          </a:xfrm>
          <a:prstGeom prst="roundRect">
            <a:avLst>
              <a:gd name="adj" fmla="val 24420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51"/>
          <p:cNvSpPr/>
          <p:nvPr/>
        </p:nvSpPr>
        <p:spPr>
          <a:xfrm>
            <a:off x="4694448" y="4677370"/>
            <a:ext cx="854392" cy="208955"/>
          </a:xfrm>
          <a:prstGeom prst="rect">
            <a:avLst/>
          </a:prstGeom>
          <a:noFill/>
          <a:ln/>
        </p:spPr>
        <p:txBody>
          <a:bodyPr wrap="none" lIns="0" tIns="35719" rIns="0" bIns="35719" rtlCol="0" anchor="t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7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业务端到端</a:t>
            </a:r>
            <a:endParaRPr lang="en-US" sz="700" dirty="0"/>
          </a:p>
        </p:txBody>
      </p:sp>
      <p:sp>
        <p:nvSpPr>
          <p:cNvPr id="64" name="Text 52"/>
          <p:cNvSpPr/>
          <p:nvPr/>
        </p:nvSpPr>
        <p:spPr>
          <a:xfrm>
            <a:off x="5451686" y="4710410"/>
            <a:ext cx="315653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无头浏览器全流程通过</a:t>
            </a:r>
            <a:endParaRPr lang="en-US" sz="70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881" y="550069"/>
            <a:ext cx="35719" cy="78581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319" y="464344"/>
            <a:ext cx="35719" cy="164306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6756" y="514350"/>
            <a:ext cx="35719" cy="1143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194" y="407194"/>
            <a:ext cx="35719" cy="221456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9631" y="500063"/>
            <a:ext cx="35719" cy="128588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1069" y="442913"/>
            <a:ext cx="35719" cy="185738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2506" y="535781"/>
            <a:ext cx="35719" cy="92869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93944" y="478631"/>
            <a:ext cx="35719" cy="150019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400050" y="257175"/>
            <a:ext cx="8636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INNOVATION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核心创新</a:t>
            </a:r>
            <a:endParaRPr lang="en-US" sz="700" dirty="0"/>
          </a:p>
        </p:txBody>
      </p:sp>
      <p:sp>
        <p:nvSpPr>
          <p:cNvPr id="13" name="Text 1"/>
          <p:cNvSpPr/>
          <p:nvPr/>
        </p:nvSpPr>
        <p:spPr>
          <a:xfrm>
            <a:off x="400050" y="439341"/>
            <a:ext cx="8636000" cy="351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65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四个创新点</a:t>
            </a:r>
            <a:endParaRPr lang="en-US" sz="2138" dirty="0"/>
          </a:p>
        </p:txBody>
      </p:sp>
      <p:sp>
        <p:nvSpPr>
          <p:cNvPr id="14" name="Text 2"/>
          <p:cNvSpPr/>
          <p:nvPr/>
        </p:nvSpPr>
        <p:spPr>
          <a:xfrm>
            <a:off x="403622" y="897210"/>
            <a:ext cx="4107656" cy="1946337"/>
          </a:xfrm>
          <a:prstGeom prst="roundRect">
            <a:avLst>
              <a:gd name="adj" fmla="val 685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3"/>
          <p:cNvSpPr/>
          <p:nvPr/>
        </p:nvSpPr>
        <p:spPr>
          <a:xfrm>
            <a:off x="3323055" y="829345"/>
            <a:ext cx="1243493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E8F5EE">
                    <a:alpha val="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5400" dirty="0"/>
          </a:p>
        </p:txBody>
      </p:sp>
      <p:sp>
        <p:nvSpPr>
          <p:cNvPr id="16" name="Text 4"/>
          <p:cNvSpPr/>
          <p:nvPr/>
        </p:nvSpPr>
        <p:spPr>
          <a:xfrm>
            <a:off x="592931" y="1134740"/>
            <a:ext cx="340042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186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44" dirty="0"/>
          </a:p>
        </p:txBody>
      </p:sp>
      <p:sp>
        <p:nvSpPr>
          <p:cNvPr id="17" name="Text 5"/>
          <p:cNvSpPr/>
          <p:nvPr/>
        </p:nvSpPr>
        <p:spPr>
          <a:xfrm>
            <a:off x="4011216" y="1061517"/>
            <a:ext cx="307181" cy="307181"/>
          </a:xfrm>
          <a:prstGeom prst="roundRect">
            <a:avLst>
              <a:gd name="adj" fmla="val 31008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/>
        </p:nvSpPr>
        <p:spPr>
          <a:xfrm>
            <a:off x="4045684" y="1095985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617" dirty="0"/>
          </a:p>
        </p:txBody>
      </p:sp>
      <p:sp>
        <p:nvSpPr>
          <p:cNvPr id="19" name="Text 7"/>
          <p:cNvSpPr/>
          <p:nvPr/>
        </p:nvSpPr>
        <p:spPr>
          <a:xfrm>
            <a:off x="592931" y="1465138"/>
            <a:ext cx="3729038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从离线检测到通话级实时流式</a:t>
            </a:r>
            <a:endParaRPr lang="en-US" sz="1181" dirty="0"/>
          </a:p>
        </p:txBody>
      </p:sp>
      <p:sp>
        <p:nvSpPr>
          <p:cNvPr id="20" name="Text 8"/>
          <p:cNvSpPr/>
          <p:nvPr/>
        </p:nvSpPr>
        <p:spPr>
          <a:xfrm>
            <a:off x="592931" y="1761604"/>
            <a:ext cx="214313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9"/>
          <p:cNvSpPr/>
          <p:nvPr/>
        </p:nvSpPr>
        <p:spPr>
          <a:xfrm>
            <a:off x="592931" y="1854473"/>
            <a:ext cx="3729038" cy="58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既有研究与同方向获奖作品均为</a:t>
            </a:r>
            <a:pPr algn="l" indent="0" marL="0">
              <a:lnSpc>
                <a:spcPts val="1456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离线文件检测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；声盾滑窗流式管线</a:t>
            </a:r>
            <a:pPr algn="l" indent="0" marL="0">
              <a:lnSpc>
                <a:spcPts val="1456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边通话边判决、检出即告警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，提前一分钟的告警可能直接阻断一笔转账；</a:t>
            </a:r>
            <a:pPr algn="l" indent="0" marL="0">
              <a:lnSpc>
                <a:spcPts val="145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RTF&lt;0.015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纯 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可部署普通终端。</a:t>
            </a:r>
            <a:endParaRPr lang="en-US" sz="788" dirty="0"/>
          </a:p>
        </p:txBody>
      </p:sp>
      <p:sp>
        <p:nvSpPr>
          <p:cNvPr id="22" name="Text 10"/>
          <p:cNvSpPr/>
          <p:nvPr/>
        </p:nvSpPr>
        <p:spPr>
          <a:xfrm>
            <a:off x="4632722" y="897210"/>
            <a:ext cx="4107656" cy="1946337"/>
          </a:xfrm>
          <a:prstGeom prst="roundRect">
            <a:avLst>
              <a:gd name="adj" fmla="val 685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1"/>
          <p:cNvSpPr/>
          <p:nvPr/>
        </p:nvSpPr>
        <p:spPr>
          <a:xfrm>
            <a:off x="7552155" y="829345"/>
            <a:ext cx="1243493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E8F5EE">
                    <a:alpha val="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5400" dirty="0"/>
          </a:p>
        </p:txBody>
      </p:sp>
      <p:sp>
        <p:nvSpPr>
          <p:cNvPr id="24" name="Text 12"/>
          <p:cNvSpPr/>
          <p:nvPr/>
        </p:nvSpPr>
        <p:spPr>
          <a:xfrm>
            <a:off x="4822031" y="1134740"/>
            <a:ext cx="340042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186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44" dirty="0"/>
          </a:p>
        </p:txBody>
      </p:sp>
      <p:sp>
        <p:nvSpPr>
          <p:cNvPr id="25" name="Text 13"/>
          <p:cNvSpPr/>
          <p:nvPr/>
        </p:nvSpPr>
        <p:spPr>
          <a:xfrm>
            <a:off x="8240316" y="1061517"/>
            <a:ext cx="307181" cy="307181"/>
          </a:xfrm>
          <a:prstGeom prst="roundRect">
            <a:avLst>
              <a:gd name="adj" fmla="val 31008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8274784" y="1095985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17" dirty="0"/>
          </a:p>
        </p:txBody>
      </p:sp>
      <p:sp>
        <p:nvSpPr>
          <p:cNvPr id="27" name="Text 15"/>
          <p:cNvSpPr/>
          <p:nvPr/>
        </p:nvSpPr>
        <p:spPr>
          <a:xfrm>
            <a:off x="4822031" y="1465138"/>
            <a:ext cx="3729038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可解释引擎 + 数据驱动校准</a:t>
            </a:r>
            <a:endParaRPr lang="en-US" sz="1181" dirty="0"/>
          </a:p>
        </p:txBody>
      </p:sp>
      <p:sp>
        <p:nvSpPr>
          <p:cNvPr id="28" name="Text 16"/>
          <p:cNvSpPr/>
          <p:nvPr/>
        </p:nvSpPr>
        <p:spPr>
          <a:xfrm>
            <a:off x="4822031" y="1761604"/>
            <a:ext cx="214313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17"/>
          <p:cNvSpPr/>
          <p:nvPr/>
        </p:nvSpPr>
        <p:spPr>
          <a:xfrm>
            <a:off x="4822031" y="1854473"/>
            <a:ext cx="3729038" cy="392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判决可展开为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八维特征相对自然先验的标准化偏离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，逐窗明细与评分权重全部留痕；校准流程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主动证伪无效特征、验证自研特征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，可随样本扩展重拟合。</a:t>
            </a:r>
            <a:endParaRPr lang="en-US" sz="788" dirty="0"/>
          </a:p>
        </p:txBody>
      </p:sp>
      <p:sp>
        <p:nvSpPr>
          <p:cNvPr id="30" name="Text 18"/>
          <p:cNvSpPr/>
          <p:nvPr/>
        </p:nvSpPr>
        <p:spPr>
          <a:xfrm>
            <a:off x="403622" y="2964991"/>
            <a:ext cx="4107656" cy="1946337"/>
          </a:xfrm>
          <a:prstGeom prst="roundRect">
            <a:avLst>
              <a:gd name="adj" fmla="val 685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19"/>
          <p:cNvSpPr/>
          <p:nvPr/>
        </p:nvSpPr>
        <p:spPr>
          <a:xfrm>
            <a:off x="3323055" y="2897125"/>
            <a:ext cx="1243493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E8F5EE">
                    <a:alpha val="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5400" dirty="0"/>
          </a:p>
        </p:txBody>
      </p:sp>
      <p:sp>
        <p:nvSpPr>
          <p:cNvPr id="32" name="Text 20"/>
          <p:cNvSpPr/>
          <p:nvPr/>
        </p:nvSpPr>
        <p:spPr>
          <a:xfrm>
            <a:off x="592931" y="3202521"/>
            <a:ext cx="340042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186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44" dirty="0"/>
          </a:p>
        </p:txBody>
      </p:sp>
      <p:sp>
        <p:nvSpPr>
          <p:cNvPr id="33" name="Text 21"/>
          <p:cNvSpPr/>
          <p:nvPr/>
        </p:nvSpPr>
        <p:spPr>
          <a:xfrm>
            <a:off x="4011216" y="3129297"/>
            <a:ext cx="307181" cy="307181"/>
          </a:xfrm>
          <a:prstGeom prst="roundRect">
            <a:avLst>
              <a:gd name="adj" fmla="val 31008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2"/>
          <p:cNvSpPr/>
          <p:nvPr/>
        </p:nvSpPr>
        <p:spPr>
          <a:xfrm>
            <a:off x="4045684" y="316376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617" dirty="0"/>
          </a:p>
        </p:txBody>
      </p:sp>
      <p:sp>
        <p:nvSpPr>
          <p:cNvPr id="35" name="Text 23"/>
          <p:cNvSpPr/>
          <p:nvPr/>
        </p:nvSpPr>
        <p:spPr>
          <a:xfrm>
            <a:off x="592931" y="3532919"/>
            <a:ext cx="3729038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反诈业务闭环</a:t>
            </a:r>
            <a:endParaRPr lang="en-US" sz="1181" dirty="0"/>
          </a:p>
        </p:txBody>
      </p:sp>
      <p:sp>
        <p:nvSpPr>
          <p:cNvPr id="36" name="Text 24"/>
          <p:cNvSpPr/>
          <p:nvPr/>
        </p:nvSpPr>
        <p:spPr>
          <a:xfrm>
            <a:off x="592931" y="3818241"/>
            <a:ext cx="357188" cy="208026"/>
          </a:xfrm>
          <a:prstGeom prst="roundRect">
            <a:avLst>
              <a:gd name="adj" fmla="val 4574176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25"/>
          <p:cNvSpPr/>
          <p:nvPr/>
        </p:nvSpPr>
        <p:spPr>
          <a:xfrm>
            <a:off x="592931" y="3829385"/>
            <a:ext cx="35718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</a:t>
            </a:r>
            <a:endParaRPr lang="en-US" sz="700" dirty="0"/>
          </a:p>
        </p:txBody>
      </p:sp>
      <p:sp>
        <p:nvSpPr>
          <p:cNvPr id="38" name="Text 26"/>
          <p:cNvSpPr/>
          <p:nvPr/>
        </p:nvSpPr>
        <p:spPr>
          <a:xfrm>
            <a:off x="992981" y="38722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39" name="Text 27"/>
          <p:cNvSpPr/>
          <p:nvPr/>
        </p:nvSpPr>
        <p:spPr>
          <a:xfrm>
            <a:off x="1135856" y="3818241"/>
            <a:ext cx="357188" cy="208026"/>
          </a:xfrm>
          <a:prstGeom prst="roundRect">
            <a:avLst>
              <a:gd name="adj" fmla="val 4574176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28"/>
          <p:cNvSpPr/>
          <p:nvPr/>
        </p:nvSpPr>
        <p:spPr>
          <a:xfrm>
            <a:off x="1135856" y="3829385"/>
            <a:ext cx="35718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</a:t>
            </a:r>
            <a:endParaRPr lang="en-US" sz="700" dirty="0"/>
          </a:p>
        </p:txBody>
      </p:sp>
      <p:sp>
        <p:nvSpPr>
          <p:cNvPr id="41" name="Text 29"/>
          <p:cNvSpPr/>
          <p:nvPr/>
        </p:nvSpPr>
        <p:spPr>
          <a:xfrm>
            <a:off x="1535906" y="38722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42" name="Text 30"/>
          <p:cNvSpPr/>
          <p:nvPr/>
        </p:nvSpPr>
        <p:spPr>
          <a:xfrm>
            <a:off x="1678781" y="3818241"/>
            <a:ext cx="357188" cy="208026"/>
          </a:xfrm>
          <a:prstGeom prst="roundRect">
            <a:avLst>
              <a:gd name="adj" fmla="val 4574176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1"/>
          <p:cNvSpPr/>
          <p:nvPr/>
        </p:nvSpPr>
        <p:spPr>
          <a:xfrm>
            <a:off x="1678781" y="3829385"/>
            <a:ext cx="35718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存证</a:t>
            </a:r>
            <a:endParaRPr lang="en-US" sz="700" dirty="0"/>
          </a:p>
        </p:txBody>
      </p:sp>
      <p:sp>
        <p:nvSpPr>
          <p:cNvPr id="44" name="Text 32"/>
          <p:cNvSpPr/>
          <p:nvPr/>
        </p:nvSpPr>
        <p:spPr>
          <a:xfrm>
            <a:off x="2078831" y="38722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45" name="Text 33"/>
          <p:cNvSpPr/>
          <p:nvPr/>
        </p:nvSpPr>
        <p:spPr>
          <a:xfrm>
            <a:off x="2221706" y="3818241"/>
            <a:ext cx="357188" cy="208026"/>
          </a:xfrm>
          <a:prstGeom prst="roundRect">
            <a:avLst>
              <a:gd name="adj" fmla="val 4574176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4"/>
          <p:cNvSpPr/>
          <p:nvPr/>
        </p:nvSpPr>
        <p:spPr>
          <a:xfrm>
            <a:off x="2221706" y="3829385"/>
            <a:ext cx="35718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700" dirty="0"/>
          </a:p>
        </p:txBody>
      </p:sp>
      <p:sp>
        <p:nvSpPr>
          <p:cNvPr id="47" name="Text 35"/>
          <p:cNvSpPr/>
          <p:nvPr/>
        </p:nvSpPr>
        <p:spPr>
          <a:xfrm>
            <a:off x="2636044" y="3860639"/>
            <a:ext cx="16859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</a:t>
            </a:r>
            <a:endParaRPr lang="en-US" sz="700" dirty="0"/>
          </a:p>
        </p:txBody>
      </p:sp>
      <p:sp>
        <p:nvSpPr>
          <p:cNvPr id="48" name="Text 36"/>
          <p:cNvSpPr/>
          <p:nvPr/>
        </p:nvSpPr>
        <p:spPr>
          <a:xfrm>
            <a:off x="592931" y="4093704"/>
            <a:ext cx="3729038" cy="392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四级风险分级、可疑片段时间轴、</a:t>
            </a:r>
            <a:pPr algn="l" indent="0" marL="0">
              <a:lnSpc>
                <a:spcPts val="145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SHA-256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证据链、案件编号体系、可导出 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PDF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的核验报告，检测结论</a:t>
            </a:r>
            <a:pPr algn="l" indent="0" marL="0">
              <a:lnSpc>
                <a:spcPts val="1456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无须二次加工</a:t>
            </a:r>
            <a:pPr algn="l" indent="0" marL="0">
              <a:lnSpc>
                <a:spcPts val="145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即可进入举报协查流程。</a:t>
            </a:r>
            <a:endParaRPr lang="en-US" sz="788" dirty="0"/>
          </a:p>
        </p:txBody>
      </p:sp>
      <p:sp>
        <p:nvSpPr>
          <p:cNvPr id="49" name="Text 37"/>
          <p:cNvSpPr/>
          <p:nvPr/>
        </p:nvSpPr>
        <p:spPr>
          <a:xfrm>
            <a:off x="4632722" y="2964991"/>
            <a:ext cx="4107656" cy="1946337"/>
          </a:xfrm>
          <a:prstGeom prst="roundRect">
            <a:avLst>
              <a:gd name="adj" fmla="val 685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38"/>
          <p:cNvSpPr/>
          <p:nvPr/>
        </p:nvSpPr>
        <p:spPr>
          <a:xfrm>
            <a:off x="7552155" y="2897125"/>
            <a:ext cx="1243493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E8F5EE">
                    <a:alpha val="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5400" dirty="0"/>
          </a:p>
        </p:txBody>
      </p:sp>
      <p:sp>
        <p:nvSpPr>
          <p:cNvPr id="51" name="Text 39"/>
          <p:cNvSpPr/>
          <p:nvPr/>
        </p:nvSpPr>
        <p:spPr>
          <a:xfrm>
            <a:off x="4822031" y="3202521"/>
            <a:ext cx="340042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186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44" dirty="0"/>
          </a:p>
        </p:txBody>
      </p:sp>
      <p:sp>
        <p:nvSpPr>
          <p:cNvPr id="52" name="Text 40"/>
          <p:cNvSpPr/>
          <p:nvPr/>
        </p:nvSpPr>
        <p:spPr>
          <a:xfrm>
            <a:off x="8240316" y="3129297"/>
            <a:ext cx="307181" cy="307181"/>
          </a:xfrm>
          <a:prstGeom prst="roundRect">
            <a:avLst>
              <a:gd name="adj" fmla="val 31008"/>
            </a:avLst>
          </a:prstGeom>
          <a:solidFill>
            <a:srgbClr val="16281F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41"/>
          <p:cNvSpPr/>
          <p:nvPr/>
        </p:nvSpPr>
        <p:spPr>
          <a:xfrm>
            <a:off x="8274784" y="316376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617" dirty="0"/>
          </a:p>
        </p:txBody>
      </p:sp>
      <p:sp>
        <p:nvSpPr>
          <p:cNvPr id="54" name="Text 42"/>
          <p:cNvSpPr/>
          <p:nvPr/>
        </p:nvSpPr>
        <p:spPr>
          <a:xfrm>
            <a:off x="4822031" y="3532919"/>
            <a:ext cx="3729038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双端一致性存证架构</a:t>
            </a:r>
            <a:endParaRPr lang="en-US" sz="1181" dirty="0"/>
          </a:p>
        </p:txBody>
      </p:sp>
      <p:sp>
        <p:nvSpPr>
          <p:cNvPr id="55" name="Text 43"/>
          <p:cNvSpPr/>
          <p:nvPr/>
        </p:nvSpPr>
        <p:spPr>
          <a:xfrm>
            <a:off x="4822031" y="3829385"/>
            <a:ext cx="214313" cy="14288"/>
          </a:xfrm>
          <a:prstGeom prst="rect">
            <a:avLst/>
          </a:prstGeom>
          <a:solidFill>
            <a:srgbClr val="34D399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44"/>
          <p:cNvSpPr/>
          <p:nvPr/>
        </p:nvSpPr>
        <p:spPr>
          <a:xfrm>
            <a:off x="4822031" y="3922254"/>
            <a:ext cx="3729038" cy="589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浏览器与服务端运行同一份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同构 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引擎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，客户端初判 + 服务端复核互相验证；现场合成挑战以 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原始输出与分析副本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双哈希锚定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，构成无法事后构造的</a:t>
            </a:r>
            <a:pPr algn="l" indent="0" marL="0">
              <a:lnSpc>
                <a:spcPts val="1433"/>
              </a:lnSpc>
              <a:buNone/>
            </a:pPr>
            <a:r>
              <a:rPr lang="en-US" sz="78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现场自证</a:t>
            </a:r>
            <a:pPr algn="l" indent="0" marL="0">
              <a:lnSpc>
                <a:spcPts val="1433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78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5319" y="500063"/>
            <a:ext cx="35719" cy="71438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756" y="421481"/>
            <a:ext cx="35719" cy="150019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194" y="471488"/>
            <a:ext cx="35719" cy="100013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9631" y="364331"/>
            <a:ext cx="35719" cy="207169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1069" y="450056"/>
            <a:ext cx="35719" cy="121444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2506" y="400050"/>
            <a:ext cx="35719" cy="17145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3944" y="485775"/>
            <a:ext cx="35719" cy="85725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400050" y="242888"/>
            <a:ext cx="8636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</a:t>
            </a:r>
            <a:pPr algn="l" indent="0" marL="0">
              <a:lnSpc>
                <a:spcPts val="928"/>
              </a:lnSpc>
              <a:buNone/>
            </a:pPr>
            <a:r>
              <a:rPr lang="en-US" sz="700" spc="17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演示动线</a:t>
            </a:r>
            <a:endParaRPr lang="en-US" sz="700" dirty="0"/>
          </a:p>
        </p:txBody>
      </p:sp>
      <p:sp>
        <p:nvSpPr>
          <p:cNvPr id="12" name="Text 1"/>
          <p:cNvSpPr/>
          <p:nvPr/>
        </p:nvSpPr>
        <p:spPr>
          <a:xfrm>
            <a:off x="400050" y="417909"/>
            <a:ext cx="8636000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744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三步演示动线——现场可复现，不依赖预置素材</a:t>
            </a:r>
            <a:endParaRPr lang="en-US" sz="1744" dirty="0"/>
          </a:p>
        </p:txBody>
      </p:sp>
      <p:sp>
        <p:nvSpPr>
          <p:cNvPr id="13" name="Text 2"/>
          <p:cNvSpPr/>
          <p:nvPr/>
        </p:nvSpPr>
        <p:spPr>
          <a:xfrm>
            <a:off x="403622" y="812602"/>
            <a:ext cx="4193381" cy="1290005"/>
          </a:xfrm>
          <a:prstGeom prst="roundRect">
            <a:avLst>
              <a:gd name="adj" fmla="val 1033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3"/>
          <p:cNvSpPr/>
          <p:nvPr/>
        </p:nvSpPr>
        <p:spPr>
          <a:xfrm>
            <a:off x="578644" y="1307529"/>
            <a:ext cx="578108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34D399">
                    <a:alpha val="92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2363" dirty="0"/>
          </a:p>
        </p:txBody>
      </p:sp>
      <p:sp>
        <p:nvSpPr>
          <p:cNvPr id="15" name="Text 4"/>
          <p:cNvSpPr/>
          <p:nvPr/>
        </p:nvSpPr>
        <p:spPr>
          <a:xfrm>
            <a:off x="1068549" y="1189323"/>
            <a:ext cx="3353433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107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 CHALLENGE</a:t>
            </a:r>
            <a:endParaRPr lang="en-US" sz="800" dirty="0"/>
          </a:p>
        </p:txBody>
      </p:sp>
      <p:sp>
        <p:nvSpPr>
          <p:cNvPr id="16" name="Text 5"/>
          <p:cNvSpPr/>
          <p:nvPr/>
        </p:nvSpPr>
        <p:spPr>
          <a:xfrm>
            <a:off x="1068549" y="1312552"/>
            <a:ext cx="3353433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现场合成挑战</a:t>
            </a:r>
            <a:endParaRPr lang="en-US" sz="1069" dirty="0"/>
          </a:p>
        </p:txBody>
      </p:sp>
      <p:sp>
        <p:nvSpPr>
          <p:cNvPr id="17" name="Text 6"/>
          <p:cNvSpPr/>
          <p:nvPr/>
        </p:nvSpPr>
        <p:spPr>
          <a:xfrm>
            <a:off x="1068549" y="1566156"/>
            <a:ext cx="2840422" cy="17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8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输入任意文本 + 选择音色，平台服务端</a:t>
            </a:r>
            <a:pPr algn="l" indent="0" marL="0">
              <a:lnSpc>
                <a:spcPts val="1258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 </a:t>
            </a:r>
            <a:pPr algn="l" indent="0" marL="0">
              <a:lnSpc>
                <a:spcPts val="1258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258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</a:t>
            </a:r>
            <a:pPr algn="l" indent="0" marL="0">
              <a:lnSpc>
                <a:spcPts val="1258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诈骗话术语音。</a:t>
            </a:r>
            <a:endParaRPr lang="en-US" sz="731" dirty="0"/>
          </a:p>
        </p:txBody>
      </p:sp>
      <p:sp>
        <p:nvSpPr>
          <p:cNvPr id="18" name="Text 7"/>
          <p:cNvSpPr/>
          <p:nvPr/>
        </p:nvSpPr>
        <p:spPr>
          <a:xfrm>
            <a:off x="403622" y="2224050"/>
            <a:ext cx="4193381" cy="1290005"/>
          </a:xfrm>
          <a:prstGeom prst="roundRect">
            <a:avLst>
              <a:gd name="adj" fmla="val 1033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8"/>
          <p:cNvSpPr/>
          <p:nvPr/>
        </p:nvSpPr>
        <p:spPr>
          <a:xfrm>
            <a:off x="578644" y="2718978"/>
            <a:ext cx="578108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34D399">
                    <a:alpha val="92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2363" dirty="0"/>
          </a:p>
        </p:txBody>
      </p:sp>
      <p:sp>
        <p:nvSpPr>
          <p:cNvPr id="20" name="Text 9"/>
          <p:cNvSpPr/>
          <p:nvPr/>
        </p:nvSpPr>
        <p:spPr>
          <a:xfrm>
            <a:off x="1068549" y="2520851"/>
            <a:ext cx="3353433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107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MONITOR</a:t>
            </a:r>
            <a:endParaRPr lang="en-US" sz="800" dirty="0"/>
          </a:p>
        </p:txBody>
      </p:sp>
      <p:sp>
        <p:nvSpPr>
          <p:cNvPr id="21" name="Text 10"/>
          <p:cNvSpPr/>
          <p:nvPr/>
        </p:nvSpPr>
        <p:spPr>
          <a:xfrm>
            <a:off x="1068549" y="2644080"/>
            <a:ext cx="3353433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实时鉴听</a:t>
            </a:r>
            <a:endParaRPr lang="en-US" sz="1069" dirty="0"/>
          </a:p>
        </p:txBody>
      </p:sp>
      <p:sp>
        <p:nvSpPr>
          <p:cNvPr id="22" name="Text 11"/>
          <p:cNvSpPr/>
          <p:nvPr/>
        </p:nvSpPr>
        <p:spPr>
          <a:xfrm>
            <a:off x="1068549" y="2897684"/>
            <a:ext cx="3353433" cy="34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8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外放合成语音同时开启鉴听：波形滚动、逐窗置信度实时刷新、高置信片段即时</a:t>
            </a:r>
            <a:pPr algn="l" indent="0" marL="0">
              <a:lnSpc>
                <a:spcPts val="1258"/>
              </a:lnSpc>
              <a:buNone/>
            </a:pPr>
            <a:r>
              <a:rPr lang="en-US" sz="731" b="1" dirty="0">
                <a:solidFill>
                  <a:srgbClr val="F871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红色告警 + 提示音</a:t>
            </a:r>
            <a:pPr algn="l" indent="0" marL="0">
              <a:lnSpc>
                <a:spcPts val="1258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731" dirty="0"/>
          </a:p>
        </p:txBody>
      </p:sp>
      <p:sp>
        <p:nvSpPr>
          <p:cNvPr id="23" name="Text 12"/>
          <p:cNvSpPr/>
          <p:nvPr/>
        </p:nvSpPr>
        <p:spPr>
          <a:xfrm>
            <a:off x="403622" y="3635499"/>
            <a:ext cx="4193381" cy="1290005"/>
          </a:xfrm>
          <a:prstGeom prst="roundRect">
            <a:avLst>
              <a:gd name="adj" fmla="val 1033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3"/>
          <p:cNvSpPr/>
          <p:nvPr/>
        </p:nvSpPr>
        <p:spPr>
          <a:xfrm>
            <a:off x="578644" y="4130427"/>
            <a:ext cx="578108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34D399">
                    <a:alpha val="92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2363" dirty="0"/>
          </a:p>
        </p:txBody>
      </p:sp>
      <p:sp>
        <p:nvSpPr>
          <p:cNvPr id="25" name="Text 14"/>
          <p:cNvSpPr/>
          <p:nvPr/>
        </p:nvSpPr>
        <p:spPr>
          <a:xfrm>
            <a:off x="1068549" y="3932300"/>
            <a:ext cx="3353433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107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800" dirty="0"/>
          </a:p>
        </p:txBody>
      </p:sp>
      <p:sp>
        <p:nvSpPr>
          <p:cNvPr id="26" name="Text 15"/>
          <p:cNvSpPr/>
          <p:nvPr/>
        </p:nvSpPr>
        <p:spPr>
          <a:xfrm>
            <a:off x="1068549" y="4055529"/>
            <a:ext cx="3353433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存证与报告</a:t>
            </a:r>
            <a:endParaRPr lang="en-US" sz="1069" dirty="0"/>
          </a:p>
        </p:txBody>
      </p:sp>
      <p:sp>
        <p:nvSpPr>
          <p:cNvPr id="27" name="Text 16"/>
          <p:cNvSpPr/>
          <p:nvPr/>
        </p:nvSpPr>
        <p:spPr>
          <a:xfrm>
            <a:off x="1068549" y="4309132"/>
            <a:ext cx="3353433" cy="34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6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通话结束自动 </a:t>
            </a:r>
            <a:pPr algn="l" indent="0" marL="0">
              <a:lnSpc>
                <a:spcPts val="1376"/>
              </a:lnSpc>
              <a:buNone/>
            </a:pPr>
            <a:r>
              <a:rPr lang="en-US" sz="800" b="1" dirty="0">
                <a:solidFill>
                  <a:srgbClr val="E8F5E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SHA-256</a:t>
            </a:r>
            <a:pPr algn="l" indent="0" marL="0">
              <a:lnSpc>
                <a:spcPts val="1376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哈希固定、生成案件编号 </a:t>
            </a:r>
            <a:pPr algn="l" indent="0" marL="0">
              <a:lnSpc>
                <a:spcPts val="1376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SS</a:t>
            </a:r>
            <a:pPr algn="l" indent="0" marL="0">
              <a:lnSpc>
                <a:spcPts val="1376"/>
              </a:lnSpc>
              <a:buNone/>
            </a:pPr>
            <a:r>
              <a:rPr lang="en-US" sz="73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-日期-序号</a:t>
            </a:r>
            <a:pPr algn="l" indent="0" marL="0">
              <a:lnSpc>
                <a:spcPts val="1376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、导出 </a:t>
            </a:r>
            <a:pPr algn="l" indent="0" marL="0">
              <a:lnSpc>
                <a:spcPts val="1376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PDF</a:t>
            </a:r>
            <a:pPr algn="l" indent="0" marL="0">
              <a:lnSpc>
                <a:spcPts val="1376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核验报告（含时间轴、逐窗明细、特征剖面、证据链）。</a:t>
            </a:r>
            <a:endParaRPr lang="en-US" sz="731" dirty="0"/>
          </a:p>
        </p:txBody>
      </p:sp>
      <p:sp>
        <p:nvSpPr>
          <p:cNvPr id="28" name="Text 17"/>
          <p:cNvSpPr/>
          <p:nvPr/>
        </p:nvSpPr>
        <p:spPr>
          <a:xfrm>
            <a:off x="4747022" y="812602"/>
            <a:ext cx="3993356" cy="1989758"/>
          </a:xfrm>
          <a:prstGeom prst="roundRect">
            <a:avLst>
              <a:gd name="adj" fmla="val 5744"/>
            </a:avLst>
          </a:prstGeom>
          <a:solidFill>
            <a:srgbClr val="0D1712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9" name="Image 9" descr="/home/z/my-project/download/assets/shield_ho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0594" y="816173"/>
            <a:ext cx="3986213" cy="1796876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4750594" y="2613050"/>
            <a:ext cx="3986213" cy="185738"/>
          </a:xfrm>
          <a:prstGeom prst="rect">
            <a:avLst/>
          </a:prstGeom>
          <a:noFill/>
          <a:ln/>
        </p:spPr>
        <p:txBody>
          <a:bodyPr wrap="none" lIns="100013" tIns="0" rIns="100013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声盾单页工作台——实时鉴听 / 文件检测 / 合成挑战三模式</a:t>
            </a:r>
            <a:endParaRPr lang="en-US" sz="700" dirty="0"/>
          </a:p>
        </p:txBody>
      </p:sp>
      <p:sp>
        <p:nvSpPr>
          <p:cNvPr id="31" name="Text 19"/>
          <p:cNvSpPr/>
          <p:nvPr/>
        </p:nvSpPr>
        <p:spPr>
          <a:xfrm>
            <a:off x="4747022" y="2923803"/>
            <a:ext cx="1269243" cy="735806"/>
          </a:xfrm>
          <a:prstGeom prst="roundRect">
            <a:avLst>
              <a:gd name="adj" fmla="val 18123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0"/>
          <p:cNvSpPr/>
          <p:nvPr/>
        </p:nvSpPr>
        <p:spPr>
          <a:xfrm>
            <a:off x="5299435" y="3114898"/>
            <a:ext cx="16430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17" dirty="0"/>
          </a:p>
        </p:txBody>
      </p:sp>
      <p:sp>
        <p:nvSpPr>
          <p:cNvPr id="33" name="Text 21"/>
          <p:cNvSpPr/>
          <p:nvPr/>
        </p:nvSpPr>
        <p:spPr>
          <a:xfrm>
            <a:off x="5195850" y="3329211"/>
            <a:ext cx="586931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实时鉴听</a:t>
            </a:r>
            <a:endParaRPr lang="en-US" sz="731" dirty="0"/>
          </a:p>
        </p:txBody>
      </p:sp>
      <p:sp>
        <p:nvSpPr>
          <p:cNvPr id="34" name="Text 22"/>
          <p:cNvSpPr/>
          <p:nvPr/>
        </p:nvSpPr>
        <p:spPr>
          <a:xfrm>
            <a:off x="6109134" y="2923803"/>
            <a:ext cx="1269243" cy="735806"/>
          </a:xfrm>
          <a:prstGeom prst="roundRect">
            <a:avLst>
              <a:gd name="adj" fmla="val 18123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23"/>
          <p:cNvSpPr/>
          <p:nvPr/>
        </p:nvSpPr>
        <p:spPr>
          <a:xfrm>
            <a:off x="6661547" y="3114898"/>
            <a:ext cx="16430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617" dirty="0"/>
          </a:p>
        </p:txBody>
      </p:sp>
      <p:sp>
        <p:nvSpPr>
          <p:cNvPr id="36" name="Text 24"/>
          <p:cNvSpPr/>
          <p:nvPr/>
        </p:nvSpPr>
        <p:spPr>
          <a:xfrm>
            <a:off x="6557963" y="3329211"/>
            <a:ext cx="586931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文件检测</a:t>
            </a:r>
            <a:endParaRPr lang="en-US" sz="731" dirty="0"/>
          </a:p>
        </p:txBody>
      </p:sp>
      <p:sp>
        <p:nvSpPr>
          <p:cNvPr id="37" name="Text 25"/>
          <p:cNvSpPr/>
          <p:nvPr/>
        </p:nvSpPr>
        <p:spPr>
          <a:xfrm>
            <a:off x="7471246" y="2923803"/>
            <a:ext cx="1269243" cy="735806"/>
          </a:xfrm>
          <a:prstGeom prst="roundRect">
            <a:avLst>
              <a:gd name="adj" fmla="val 18123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26"/>
          <p:cNvSpPr/>
          <p:nvPr/>
        </p:nvSpPr>
        <p:spPr>
          <a:xfrm>
            <a:off x="8023659" y="3114898"/>
            <a:ext cx="16430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7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617" dirty="0"/>
          </a:p>
        </p:txBody>
      </p:sp>
      <p:sp>
        <p:nvSpPr>
          <p:cNvPr id="39" name="Text 27"/>
          <p:cNvSpPr/>
          <p:nvPr/>
        </p:nvSpPr>
        <p:spPr>
          <a:xfrm>
            <a:off x="7920075" y="3329211"/>
            <a:ext cx="586931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合成挑战</a:t>
            </a:r>
            <a:endParaRPr lang="en-US" sz="731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450" y="3777481"/>
            <a:ext cx="4000500" cy="1151706"/>
          </a:xfrm>
          <a:prstGeom prst="rect">
            <a:avLst/>
          </a:prstGeom>
        </p:spPr>
      </p:pic>
      <p:sp>
        <p:nvSpPr>
          <p:cNvPr id="41" name="Shape 28"/>
          <p:cNvSpPr/>
          <p:nvPr/>
        </p:nvSpPr>
        <p:spPr>
          <a:xfrm>
            <a:off x="4757738" y="3777481"/>
            <a:ext cx="0" cy="1151706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42" name="Text 29"/>
          <p:cNvSpPr/>
          <p:nvPr/>
        </p:nvSpPr>
        <p:spPr>
          <a:xfrm>
            <a:off x="4943475" y="4239034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2250" dirty="0"/>
          </a:p>
        </p:txBody>
      </p:sp>
      <p:sp>
        <p:nvSpPr>
          <p:cNvPr id="43" name="Text 30"/>
          <p:cNvSpPr/>
          <p:nvPr/>
        </p:nvSpPr>
        <p:spPr>
          <a:xfrm>
            <a:off x="5286375" y="4183670"/>
            <a:ext cx="2842855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答辩现场全程演示，评审可亲手输入文本验证</a:t>
            </a:r>
            <a:endParaRPr lang="en-US" sz="956" dirty="0"/>
          </a:p>
        </p:txBody>
      </p:sp>
      <p:sp>
        <p:nvSpPr>
          <p:cNvPr id="44" name="Text 31"/>
          <p:cNvSpPr/>
          <p:nvPr/>
        </p:nvSpPr>
        <p:spPr>
          <a:xfrm>
            <a:off x="5286375" y="4415842"/>
            <a:ext cx="32351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24" kern="0" dirty="0">
                <a:solidFill>
                  <a:srgbClr val="6E9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REPRODUCIBLE · NO PRESET ASSETS</a:t>
            </a:r>
            <a:endParaRPr lang="en-US" sz="800" dirty="0"/>
          </a:p>
        </p:txBody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08156" y="4424772"/>
            <a:ext cx="35719" cy="64294"/>
          </a:xfrm>
          <a:prstGeom prst="rect">
            <a:avLst/>
          </a:prstGeom>
        </p:spPr>
      </p:pic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79594" y="4353334"/>
            <a:ext cx="35719" cy="135731"/>
          </a:xfrm>
          <a:prstGeom prst="rect">
            <a:avLst/>
          </a:prstGeom>
        </p:spPr>
      </p:pic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51031" y="4396197"/>
            <a:ext cx="35719" cy="92869"/>
          </a:xfrm>
          <a:prstGeom prst="rect">
            <a:avLst/>
          </a:prstGeom>
        </p:spPr>
      </p:pic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22469" y="4289041"/>
            <a:ext cx="35719" cy="200025"/>
          </a:xfrm>
          <a:prstGeom prst="rect">
            <a:avLst/>
          </a:prstGeom>
        </p:spPr>
      </p:pic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3906" y="4374766"/>
            <a:ext cx="35719" cy="114300"/>
          </a:xfrm>
          <a:prstGeom prst="rect">
            <a:avLst/>
          </a:prstGeom>
        </p:spPr>
      </p:pic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5344" y="4324759"/>
            <a:ext cx="35719" cy="164306"/>
          </a:xfrm>
          <a:prstGeom prst="rect">
            <a:avLst/>
          </a:prstGeom>
        </p:spPr>
      </p:pic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36781" y="4410484"/>
            <a:ext cx="35719" cy="785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400050"/>
            <a:ext cx="522761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13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393478" y="596503"/>
            <a:ext cx="4146233" cy="370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与同方向获奖作品的</a:t>
            </a:r>
            <a:pPr algn="l" indent="0" marL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</a:t>
            </a:r>
            <a:endParaRPr lang="en-US" sz="225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44" y="882253"/>
            <a:ext cx="35719" cy="5715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581" y="825103"/>
            <a:ext cx="35719" cy="11430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1019" y="753666"/>
            <a:ext cx="35719" cy="185738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2456" y="667941"/>
            <a:ext cx="35719" cy="271463"/>
          </a:xfrm>
          <a:prstGeom prst="rect">
            <a:avLst/>
          </a:prstGeom>
        </p:spPr>
      </p:pic>
      <p:pic>
        <p:nvPicPr>
          <p:cNvPr id="1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894" y="725091"/>
            <a:ext cx="35719" cy="214313"/>
          </a:xfrm>
          <a:prstGeom prst="rect">
            <a:avLst/>
          </a:prstGeom>
        </p:spPr>
      </p:pic>
      <p:pic>
        <p:nvPicPr>
          <p:cNvPr id="1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331" y="796528"/>
            <a:ext cx="35719" cy="142875"/>
          </a:xfrm>
          <a:prstGeom prst="rect">
            <a:avLst/>
          </a:prstGeom>
        </p:spPr>
      </p:pic>
      <p:pic>
        <p:nvPicPr>
          <p:cNvPr id="1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6769" y="696516"/>
            <a:ext cx="35719" cy="242888"/>
          </a:xfrm>
          <a:prstGeom prst="rect">
            <a:avLst/>
          </a:prstGeom>
        </p:spPr>
      </p:pic>
      <p:pic>
        <p:nvPicPr>
          <p:cNvPr id="1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8206" y="625078"/>
            <a:ext cx="35719" cy="314325"/>
          </a:xfrm>
          <a:prstGeom prst="rect">
            <a:avLst/>
          </a:prstGeom>
        </p:spPr>
      </p:pic>
      <p:pic>
        <p:nvPicPr>
          <p:cNvPr id="1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79644" y="767953"/>
            <a:ext cx="35719" cy="171450"/>
          </a:xfrm>
          <a:prstGeom prst="rect">
            <a:avLst/>
          </a:prstGeom>
        </p:spPr>
      </p:pic>
      <p:pic>
        <p:nvPicPr>
          <p:cNvPr id="1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51081" y="853678"/>
            <a:ext cx="35719" cy="85725"/>
          </a:xfrm>
          <a:prstGeom prst="rect">
            <a:avLst/>
          </a:prstGeom>
        </p:spPr>
      </p:pic>
      <p:sp>
        <p:nvSpPr>
          <p:cNvPr id="16" name="Text 2"/>
          <p:cNvSpPr/>
          <p:nvPr/>
        </p:nvSpPr>
        <p:spPr>
          <a:xfrm>
            <a:off x="460772" y="1100138"/>
            <a:ext cx="5293519" cy="3682603"/>
          </a:xfrm>
          <a:prstGeom prst="roundRect">
            <a:avLst>
              <a:gd name="adj" fmla="val 3621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3"/>
          <p:cNvSpPr/>
          <p:nvPr/>
        </p:nvSpPr>
        <p:spPr>
          <a:xfrm>
            <a:off x="564356" y="1268016"/>
            <a:ext cx="64008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00" spc="95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对照维度</a:t>
            </a:r>
            <a:endParaRPr lang="en-US" sz="700" dirty="0"/>
          </a:p>
        </p:txBody>
      </p:sp>
      <p:sp>
        <p:nvSpPr>
          <p:cNvPr id="18" name="Shape 4"/>
          <p:cNvSpPr/>
          <p:nvPr/>
        </p:nvSpPr>
        <p:spPr>
          <a:xfrm>
            <a:off x="1067991" y="1103709"/>
            <a:ext cx="0" cy="45720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9" name="Text 5"/>
          <p:cNvSpPr/>
          <p:nvPr/>
        </p:nvSpPr>
        <p:spPr>
          <a:xfrm>
            <a:off x="1185863" y="1183518"/>
            <a:ext cx="1250156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谛听</a:t>
            </a:r>
            <a:endParaRPr lang="en-US" sz="956" dirty="0"/>
          </a:p>
        </p:txBody>
      </p:sp>
      <p:sp>
        <p:nvSpPr>
          <p:cNvPr id="20" name="Text 6"/>
          <p:cNvSpPr/>
          <p:nvPr/>
        </p:nvSpPr>
        <p:spPr>
          <a:xfrm>
            <a:off x="1185863" y="1357759"/>
            <a:ext cx="93130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2023</a:t>
            </a:r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国家三等奖</a:t>
            </a:r>
            <a:endParaRPr lang="en-US" sz="700" dirty="0"/>
          </a:p>
        </p:txBody>
      </p:sp>
      <p:sp>
        <p:nvSpPr>
          <p:cNvPr id="21" name="Shape 7"/>
          <p:cNvSpPr/>
          <p:nvPr/>
        </p:nvSpPr>
        <p:spPr>
          <a:xfrm>
            <a:off x="2553891" y="1103709"/>
            <a:ext cx="0" cy="45720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2" name="Text 8"/>
          <p:cNvSpPr/>
          <p:nvPr/>
        </p:nvSpPr>
        <p:spPr>
          <a:xfrm>
            <a:off x="2671763" y="1183518"/>
            <a:ext cx="1164431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白泽</a:t>
            </a:r>
            <a:endParaRPr lang="en-US" sz="956" dirty="0"/>
          </a:p>
        </p:txBody>
      </p:sp>
      <p:sp>
        <p:nvSpPr>
          <p:cNvPr id="23" name="Text 9"/>
          <p:cNvSpPr/>
          <p:nvPr/>
        </p:nvSpPr>
        <p:spPr>
          <a:xfrm>
            <a:off x="2671763" y="1357759"/>
            <a:ext cx="93130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2022</a:t>
            </a:r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国家二等奖</a:t>
            </a:r>
            <a:endParaRPr lang="en-US" sz="700" dirty="0"/>
          </a:p>
        </p:txBody>
      </p:sp>
      <p:sp>
        <p:nvSpPr>
          <p:cNvPr id="24" name="Text 10"/>
          <p:cNvSpPr/>
          <p:nvPr/>
        </p:nvSpPr>
        <p:spPr>
          <a:xfrm>
            <a:off x="3950494" y="1103709"/>
            <a:ext cx="1800225" cy="457200"/>
          </a:xfrm>
          <a:prstGeom prst="rect">
            <a:avLst/>
          </a:prstGeom>
          <a:solidFill>
            <a:srgbClr val="34D399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11"/>
          <p:cNvSpPr/>
          <p:nvPr/>
        </p:nvSpPr>
        <p:spPr>
          <a:xfrm>
            <a:off x="3950494" y="1114425"/>
            <a:ext cx="1800225" cy="0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26" name="Shape 12"/>
          <p:cNvSpPr/>
          <p:nvPr/>
        </p:nvSpPr>
        <p:spPr>
          <a:xfrm>
            <a:off x="5747147" y="1103709"/>
            <a:ext cx="0" cy="45720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7" name="Shape 13"/>
          <p:cNvSpPr/>
          <p:nvPr/>
        </p:nvSpPr>
        <p:spPr>
          <a:xfrm>
            <a:off x="3954066" y="1103709"/>
            <a:ext cx="0" cy="45720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8" name="Text 14"/>
          <p:cNvSpPr/>
          <p:nvPr/>
        </p:nvSpPr>
        <p:spPr>
          <a:xfrm>
            <a:off x="4071938" y="1194234"/>
            <a:ext cx="1383202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</a:t>
            </a:r>
            <a:endParaRPr lang="en-US" sz="956" dirty="0"/>
          </a:p>
        </p:txBody>
      </p:sp>
      <p:sp>
        <p:nvSpPr>
          <p:cNvPr id="29" name="Text 15"/>
          <p:cNvSpPr/>
          <p:nvPr/>
        </p:nvSpPr>
        <p:spPr>
          <a:xfrm>
            <a:off x="4071938" y="1368475"/>
            <a:ext cx="1026021" cy="1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本作品 · </a:t>
            </a:r>
            <a:pPr algn="l" indent="0" marL="0">
              <a:lnSpc>
                <a:spcPts val="970"/>
              </a:lnSpc>
              <a:buNone/>
            </a:pPr>
            <a:r>
              <a:rPr lang="en-US" sz="700" spc="13" kern="0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SHIELDEAR</a:t>
            </a:r>
            <a:endParaRPr lang="en-US" sz="700" dirty="0"/>
          </a:p>
        </p:txBody>
      </p:sp>
      <p:sp>
        <p:nvSpPr>
          <p:cNvPr id="30" name="Shape 16"/>
          <p:cNvSpPr/>
          <p:nvPr/>
        </p:nvSpPr>
        <p:spPr>
          <a:xfrm>
            <a:off x="464344" y="1564481"/>
            <a:ext cx="6000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1" name="Text 17"/>
          <p:cNvSpPr/>
          <p:nvPr/>
        </p:nvSpPr>
        <p:spPr>
          <a:xfrm>
            <a:off x="564356" y="1747875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32" name="Text 18"/>
          <p:cNvSpPr/>
          <p:nvPr/>
        </p:nvSpPr>
        <p:spPr>
          <a:xfrm>
            <a:off x="538014" y="1890750"/>
            <a:ext cx="45273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b="1" spc="28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检测对象</a:t>
            </a:r>
            <a:endParaRPr lang="en-US" sz="703" dirty="0"/>
          </a:p>
        </p:txBody>
      </p:sp>
      <p:sp>
        <p:nvSpPr>
          <p:cNvPr id="33" name="Shape 19"/>
          <p:cNvSpPr/>
          <p:nvPr/>
        </p:nvSpPr>
        <p:spPr>
          <a:xfrm>
            <a:off x="1064419" y="1564481"/>
            <a:ext cx="14859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4" name="Shape 20"/>
          <p:cNvSpPr/>
          <p:nvPr/>
        </p:nvSpPr>
        <p:spPr>
          <a:xfrm>
            <a:off x="1067991" y="1560909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5" name="Text 21"/>
          <p:cNvSpPr/>
          <p:nvPr/>
        </p:nvSpPr>
        <p:spPr>
          <a:xfrm>
            <a:off x="1185863" y="1810048"/>
            <a:ext cx="1250156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离线音频文件</a:t>
            </a:r>
            <a:endParaRPr lang="en-US" sz="759" dirty="0"/>
          </a:p>
        </p:txBody>
      </p:sp>
      <p:sp>
        <p:nvSpPr>
          <p:cNvPr id="36" name="Shape 22"/>
          <p:cNvSpPr/>
          <p:nvPr/>
        </p:nvSpPr>
        <p:spPr>
          <a:xfrm>
            <a:off x="2550319" y="1564481"/>
            <a:ext cx="14001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7" name="Shape 23"/>
          <p:cNvSpPr/>
          <p:nvPr/>
        </p:nvSpPr>
        <p:spPr>
          <a:xfrm>
            <a:off x="2553891" y="1560909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8" name="Text 24"/>
          <p:cNvSpPr/>
          <p:nvPr/>
        </p:nvSpPr>
        <p:spPr>
          <a:xfrm>
            <a:off x="2671763" y="1810048"/>
            <a:ext cx="1164431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深度伪造视频</a:t>
            </a:r>
            <a:endParaRPr lang="en-US" sz="759" dirty="0"/>
          </a:p>
        </p:txBody>
      </p:sp>
      <p:sp>
        <p:nvSpPr>
          <p:cNvPr id="39" name="Text 25"/>
          <p:cNvSpPr/>
          <p:nvPr/>
        </p:nvSpPr>
        <p:spPr>
          <a:xfrm>
            <a:off x="3950494" y="1560909"/>
            <a:ext cx="1800225" cy="643607"/>
          </a:xfrm>
          <a:prstGeom prst="rect">
            <a:avLst/>
          </a:prstGeom>
          <a:solidFill>
            <a:srgbClr val="34D399">
              <a:alpha val="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26"/>
          <p:cNvSpPr/>
          <p:nvPr/>
        </p:nvSpPr>
        <p:spPr>
          <a:xfrm>
            <a:off x="3950494" y="1564481"/>
            <a:ext cx="180022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5747147" y="1560909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3954066" y="1560909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3" name="Text 29"/>
          <p:cNvSpPr/>
          <p:nvPr/>
        </p:nvSpPr>
        <p:spPr>
          <a:xfrm>
            <a:off x="4071938" y="1806029"/>
            <a:ext cx="1557338" cy="173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实时通话语音流</a:t>
            </a:r>
            <a:endParaRPr lang="en-US" sz="816" dirty="0"/>
          </a:p>
        </p:txBody>
      </p:sp>
      <p:sp>
        <p:nvSpPr>
          <p:cNvPr id="44" name="Shape 30"/>
          <p:cNvSpPr/>
          <p:nvPr/>
        </p:nvSpPr>
        <p:spPr>
          <a:xfrm>
            <a:off x="464344" y="2208088"/>
            <a:ext cx="6000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5" name="Text 31"/>
          <p:cNvSpPr/>
          <p:nvPr/>
        </p:nvSpPr>
        <p:spPr>
          <a:xfrm>
            <a:off x="564356" y="2391482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46" name="Text 32"/>
          <p:cNvSpPr/>
          <p:nvPr/>
        </p:nvSpPr>
        <p:spPr>
          <a:xfrm>
            <a:off x="538014" y="2534357"/>
            <a:ext cx="45273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b="1" spc="28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技术核心</a:t>
            </a:r>
            <a:endParaRPr lang="en-US" sz="703" dirty="0"/>
          </a:p>
        </p:txBody>
      </p:sp>
      <p:sp>
        <p:nvSpPr>
          <p:cNvPr id="47" name="Shape 33"/>
          <p:cNvSpPr/>
          <p:nvPr/>
        </p:nvSpPr>
        <p:spPr>
          <a:xfrm>
            <a:off x="1064419" y="2208088"/>
            <a:ext cx="14859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8" name="Shape 34"/>
          <p:cNvSpPr/>
          <p:nvPr/>
        </p:nvSpPr>
        <p:spPr>
          <a:xfrm>
            <a:off x="1067991" y="2204517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1185863" y="2377529"/>
            <a:ext cx="1325166" cy="329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RawGAT-ST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AA-SIST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SE-Res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2Net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三网络投票集成</a:t>
            </a:r>
            <a:endParaRPr lang="en-US" sz="759" dirty="0"/>
          </a:p>
        </p:txBody>
      </p:sp>
      <p:sp>
        <p:nvSpPr>
          <p:cNvPr id="50" name="Shape 36"/>
          <p:cNvSpPr/>
          <p:nvPr/>
        </p:nvSpPr>
        <p:spPr>
          <a:xfrm>
            <a:off x="2550319" y="2208088"/>
            <a:ext cx="14001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>
            <a:off x="2553891" y="2204517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2" name="Text 38"/>
          <p:cNvSpPr/>
          <p:nvPr/>
        </p:nvSpPr>
        <p:spPr>
          <a:xfrm>
            <a:off x="2671763" y="2453655"/>
            <a:ext cx="1164431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联邦学习训练范式</a:t>
            </a:r>
            <a:endParaRPr lang="en-US" sz="759" dirty="0"/>
          </a:p>
        </p:txBody>
      </p:sp>
      <p:sp>
        <p:nvSpPr>
          <p:cNvPr id="53" name="Text 39"/>
          <p:cNvSpPr/>
          <p:nvPr/>
        </p:nvSpPr>
        <p:spPr>
          <a:xfrm>
            <a:off x="3950494" y="2204517"/>
            <a:ext cx="1800225" cy="643607"/>
          </a:xfrm>
          <a:prstGeom prst="rect">
            <a:avLst/>
          </a:prstGeom>
          <a:solidFill>
            <a:srgbClr val="34D399">
              <a:alpha val="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40"/>
          <p:cNvSpPr/>
          <p:nvPr/>
        </p:nvSpPr>
        <p:spPr>
          <a:xfrm>
            <a:off x="3950494" y="2208088"/>
            <a:ext cx="180022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5747147" y="2204517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6" name="Shape 42"/>
          <p:cNvSpPr/>
          <p:nvPr/>
        </p:nvSpPr>
        <p:spPr>
          <a:xfrm>
            <a:off x="3954066" y="2204517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7" name="Text 43"/>
          <p:cNvSpPr/>
          <p:nvPr/>
        </p:nvSpPr>
        <p:spPr>
          <a:xfrm>
            <a:off x="4071938" y="2369381"/>
            <a:ext cx="1557338" cy="346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可解释轻量引擎+流式滑窗+双端复核</a:t>
            </a:r>
            <a:endParaRPr lang="en-US" sz="816" dirty="0"/>
          </a:p>
        </p:txBody>
      </p:sp>
      <p:sp>
        <p:nvSpPr>
          <p:cNvPr id="58" name="Shape 44"/>
          <p:cNvSpPr/>
          <p:nvPr/>
        </p:nvSpPr>
        <p:spPr>
          <a:xfrm>
            <a:off x="464344" y="2851696"/>
            <a:ext cx="6000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564356" y="3035089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60" name="Text 46"/>
          <p:cNvSpPr/>
          <p:nvPr/>
        </p:nvSpPr>
        <p:spPr>
          <a:xfrm>
            <a:off x="538014" y="3177964"/>
            <a:ext cx="45273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b="1" spc="28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业务形态</a:t>
            </a:r>
            <a:endParaRPr lang="en-US" sz="703" dirty="0"/>
          </a:p>
        </p:txBody>
      </p:sp>
      <p:sp>
        <p:nvSpPr>
          <p:cNvPr id="61" name="Shape 47"/>
          <p:cNvSpPr/>
          <p:nvPr/>
        </p:nvSpPr>
        <p:spPr>
          <a:xfrm>
            <a:off x="1064419" y="2851696"/>
            <a:ext cx="14859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2" name="Shape 48"/>
          <p:cNvSpPr/>
          <p:nvPr/>
        </p:nvSpPr>
        <p:spPr>
          <a:xfrm>
            <a:off x="1067991" y="2848124"/>
            <a:ext cx="0" cy="643719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3" name="Text 49"/>
          <p:cNvSpPr/>
          <p:nvPr/>
        </p:nvSpPr>
        <p:spPr>
          <a:xfrm>
            <a:off x="1185863" y="3097374"/>
            <a:ext cx="1250156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事后检测、无业务闭环</a:t>
            </a:r>
            <a:endParaRPr lang="en-US" sz="759" dirty="0"/>
          </a:p>
        </p:txBody>
      </p:sp>
      <p:sp>
        <p:nvSpPr>
          <p:cNvPr id="64" name="Shape 50"/>
          <p:cNvSpPr/>
          <p:nvPr/>
        </p:nvSpPr>
        <p:spPr>
          <a:xfrm>
            <a:off x="2550319" y="2851696"/>
            <a:ext cx="14001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2553891" y="2848124"/>
            <a:ext cx="0" cy="643719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6" name="Text 52"/>
          <p:cNvSpPr/>
          <p:nvPr/>
        </p:nvSpPr>
        <p:spPr>
          <a:xfrm>
            <a:off x="2671763" y="3097374"/>
            <a:ext cx="1164431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训练隐私保护视角</a:t>
            </a:r>
            <a:endParaRPr lang="en-US" sz="759" dirty="0"/>
          </a:p>
        </p:txBody>
      </p:sp>
      <p:sp>
        <p:nvSpPr>
          <p:cNvPr id="67" name="Text 53"/>
          <p:cNvSpPr/>
          <p:nvPr/>
        </p:nvSpPr>
        <p:spPr>
          <a:xfrm>
            <a:off x="3950494" y="2848124"/>
            <a:ext cx="1800225" cy="643719"/>
          </a:xfrm>
          <a:prstGeom prst="rect">
            <a:avLst/>
          </a:prstGeom>
          <a:solidFill>
            <a:srgbClr val="34D399">
              <a:alpha val="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54"/>
          <p:cNvSpPr/>
          <p:nvPr/>
        </p:nvSpPr>
        <p:spPr>
          <a:xfrm>
            <a:off x="3950494" y="2851696"/>
            <a:ext cx="180022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9" name="Shape 55"/>
          <p:cNvSpPr/>
          <p:nvPr/>
        </p:nvSpPr>
        <p:spPr>
          <a:xfrm>
            <a:off x="5747147" y="2848124"/>
            <a:ext cx="0" cy="643719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0" name="Shape 56"/>
          <p:cNvSpPr/>
          <p:nvPr/>
        </p:nvSpPr>
        <p:spPr>
          <a:xfrm>
            <a:off x="3954066" y="2848124"/>
            <a:ext cx="0" cy="643719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1" name="Text 57"/>
          <p:cNvSpPr/>
          <p:nvPr/>
        </p:nvSpPr>
        <p:spPr>
          <a:xfrm>
            <a:off x="4071938" y="3093244"/>
            <a:ext cx="1557338" cy="173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检测告警存证报告闭环</a:t>
            </a:r>
            <a:endParaRPr lang="en-US" sz="816" dirty="0"/>
          </a:p>
        </p:txBody>
      </p:sp>
      <p:sp>
        <p:nvSpPr>
          <p:cNvPr id="72" name="Shape 58"/>
          <p:cNvSpPr/>
          <p:nvPr/>
        </p:nvSpPr>
        <p:spPr>
          <a:xfrm>
            <a:off x="464344" y="3495415"/>
            <a:ext cx="6000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3" name="Text 59"/>
          <p:cNvSpPr/>
          <p:nvPr/>
        </p:nvSpPr>
        <p:spPr>
          <a:xfrm>
            <a:off x="564356" y="3678808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74" name="Text 60"/>
          <p:cNvSpPr/>
          <p:nvPr/>
        </p:nvSpPr>
        <p:spPr>
          <a:xfrm>
            <a:off x="538014" y="3821683"/>
            <a:ext cx="45273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b="1" spc="28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指标口径</a:t>
            </a:r>
            <a:endParaRPr lang="en-US" sz="703" dirty="0"/>
          </a:p>
        </p:txBody>
      </p:sp>
      <p:sp>
        <p:nvSpPr>
          <p:cNvPr id="75" name="Shape 61"/>
          <p:cNvSpPr/>
          <p:nvPr/>
        </p:nvSpPr>
        <p:spPr>
          <a:xfrm>
            <a:off x="1064419" y="3495415"/>
            <a:ext cx="14859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6" name="Shape 62"/>
          <p:cNvSpPr/>
          <p:nvPr/>
        </p:nvSpPr>
        <p:spPr>
          <a:xfrm>
            <a:off x="1067991" y="3491843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7" name="Text 63"/>
          <p:cNvSpPr/>
          <p:nvPr/>
        </p:nvSpPr>
        <p:spPr>
          <a:xfrm>
            <a:off x="1185863" y="3664855"/>
            <a:ext cx="1250156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0.063%（ASVspoof2019 LA）</a:t>
            </a:r>
            <a:endParaRPr lang="en-US" sz="800" dirty="0"/>
          </a:p>
        </p:txBody>
      </p:sp>
      <p:sp>
        <p:nvSpPr>
          <p:cNvPr id="78" name="Shape 64"/>
          <p:cNvSpPr/>
          <p:nvPr/>
        </p:nvSpPr>
        <p:spPr>
          <a:xfrm>
            <a:off x="2550319" y="3495415"/>
            <a:ext cx="14001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9" name="Shape 65"/>
          <p:cNvSpPr/>
          <p:nvPr/>
        </p:nvSpPr>
        <p:spPr>
          <a:xfrm>
            <a:off x="2553891" y="3491843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0" name="Text 66"/>
          <p:cNvSpPr/>
          <p:nvPr/>
        </p:nvSpPr>
        <p:spPr>
          <a:xfrm>
            <a:off x="2671763" y="3740981"/>
            <a:ext cx="1164431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论文级指标</a:t>
            </a:r>
            <a:endParaRPr lang="en-US" sz="759" dirty="0"/>
          </a:p>
        </p:txBody>
      </p:sp>
      <p:sp>
        <p:nvSpPr>
          <p:cNvPr id="81" name="Text 67"/>
          <p:cNvSpPr/>
          <p:nvPr/>
        </p:nvSpPr>
        <p:spPr>
          <a:xfrm>
            <a:off x="3950494" y="3491843"/>
            <a:ext cx="1800225" cy="643607"/>
          </a:xfrm>
          <a:prstGeom prst="rect">
            <a:avLst/>
          </a:prstGeom>
          <a:solidFill>
            <a:srgbClr val="34D399">
              <a:alpha val="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Shape 68"/>
          <p:cNvSpPr/>
          <p:nvPr/>
        </p:nvSpPr>
        <p:spPr>
          <a:xfrm>
            <a:off x="3950494" y="3495415"/>
            <a:ext cx="180022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3" name="Shape 69"/>
          <p:cNvSpPr/>
          <p:nvPr/>
        </p:nvSpPr>
        <p:spPr>
          <a:xfrm>
            <a:off x="5747147" y="3491843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4" name="Shape 70"/>
          <p:cNvSpPr/>
          <p:nvPr/>
        </p:nvSpPr>
        <p:spPr>
          <a:xfrm>
            <a:off x="3954066" y="3491843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5" name="Text 71"/>
          <p:cNvSpPr/>
          <p:nvPr/>
        </p:nvSpPr>
        <p:spPr>
          <a:xfrm>
            <a:off x="4071938" y="3656707"/>
            <a:ext cx="1557338" cy="346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实测+校准集检出率+</a:t>
            </a:r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</a:t>
            </a:r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</a:t>
            </a:r>
            <a:endParaRPr lang="en-US" sz="816" dirty="0"/>
          </a:p>
        </p:txBody>
      </p:sp>
      <p:sp>
        <p:nvSpPr>
          <p:cNvPr id="86" name="Shape 72"/>
          <p:cNvSpPr/>
          <p:nvPr/>
        </p:nvSpPr>
        <p:spPr>
          <a:xfrm>
            <a:off x="464344" y="4139022"/>
            <a:ext cx="6000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7" name="Text 73"/>
          <p:cNvSpPr/>
          <p:nvPr/>
        </p:nvSpPr>
        <p:spPr>
          <a:xfrm>
            <a:off x="564356" y="4322415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88" name="Text 74"/>
          <p:cNvSpPr/>
          <p:nvPr/>
        </p:nvSpPr>
        <p:spPr>
          <a:xfrm>
            <a:off x="538014" y="4465290"/>
            <a:ext cx="45273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b="1" spc="28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部署要求</a:t>
            </a:r>
            <a:endParaRPr lang="en-US" sz="703" dirty="0"/>
          </a:p>
        </p:txBody>
      </p:sp>
      <p:sp>
        <p:nvSpPr>
          <p:cNvPr id="89" name="Shape 75"/>
          <p:cNvSpPr/>
          <p:nvPr/>
        </p:nvSpPr>
        <p:spPr>
          <a:xfrm>
            <a:off x="1064419" y="4139022"/>
            <a:ext cx="14859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0" name="Shape 76"/>
          <p:cNvSpPr/>
          <p:nvPr/>
        </p:nvSpPr>
        <p:spPr>
          <a:xfrm>
            <a:off x="1067991" y="4135450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1" name="Text 77"/>
          <p:cNvSpPr/>
          <p:nvPr/>
        </p:nvSpPr>
        <p:spPr>
          <a:xfrm>
            <a:off x="1185863" y="4384588"/>
            <a:ext cx="1250156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</a:t>
            </a:r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GPU</a:t>
            </a:r>
            <a:endParaRPr lang="en-US" sz="759" dirty="0"/>
          </a:p>
        </p:txBody>
      </p:sp>
      <p:sp>
        <p:nvSpPr>
          <p:cNvPr id="92" name="Shape 78"/>
          <p:cNvSpPr/>
          <p:nvPr/>
        </p:nvSpPr>
        <p:spPr>
          <a:xfrm>
            <a:off x="2550319" y="4139022"/>
            <a:ext cx="14001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3" name="Shape 79"/>
          <p:cNvSpPr/>
          <p:nvPr/>
        </p:nvSpPr>
        <p:spPr>
          <a:xfrm>
            <a:off x="2553891" y="4135450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4" name="Text 80"/>
          <p:cNvSpPr/>
          <p:nvPr/>
        </p:nvSpPr>
        <p:spPr>
          <a:xfrm>
            <a:off x="2671763" y="4384588"/>
            <a:ext cx="1164431" cy="16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59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多方训练环境</a:t>
            </a:r>
            <a:endParaRPr lang="en-US" sz="759" dirty="0"/>
          </a:p>
        </p:txBody>
      </p:sp>
      <p:sp>
        <p:nvSpPr>
          <p:cNvPr id="95" name="Text 81"/>
          <p:cNvSpPr/>
          <p:nvPr/>
        </p:nvSpPr>
        <p:spPr>
          <a:xfrm>
            <a:off x="3950494" y="4135450"/>
            <a:ext cx="1800225" cy="643607"/>
          </a:xfrm>
          <a:prstGeom prst="rect">
            <a:avLst/>
          </a:prstGeom>
          <a:solidFill>
            <a:srgbClr val="34D399">
              <a:alpha val="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Shape 82"/>
          <p:cNvSpPr/>
          <p:nvPr/>
        </p:nvSpPr>
        <p:spPr>
          <a:xfrm>
            <a:off x="3950494" y="4139022"/>
            <a:ext cx="180022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7" name="Shape 83"/>
          <p:cNvSpPr/>
          <p:nvPr/>
        </p:nvSpPr>
        <p:spPr>
          <a:xfrm>
            <a:off x="5747147" y="4135450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8" name="Shape 84"/>
          <p:cNvSpPr/>
          <p:nvPr/>
        </p:nvSpPr>
        <p:spPr>
          <a:xfrm>
            <a:off x="3954066" y="4135450"/>
            <a:ext cx="0" cy="643607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9" name="Text 85"/>
          <p:cNvSpPr/>
          <p:nvPr/>
        </p:nvSpPr>
        <p:spPr>
          <a:xfrm>
            <a:off x="4071938" y="4380570"/>
            <a:ext cx="1557338" cy="173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</a:t>
            </a:r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pPr algn="l" indent="0" marL="0">
              <a:lnSpc>
                <a:spcPts val="1264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浏览器即可</a:t>
            </a:r>
            <a:endParaRPr lang="en-US" sz="816" dirty="0"/>
          </a:p>
        </p:txBody>
      </p:sp>
      <p:sp>
        <p:nvSpPr>
          <p:cNvPr id="100" name="Text 86"/>
          <p:cNvSpPr/>
          <p:nvPr/>
        </p:nvSpPr>
        <p:spPr>
          <a:xfrm>
            <a:off x="5932884" y="1100138"/>
            <a:ext cx="2750344" cy="2393156"/>
          </a:xfrm>
          <a:prstGeom prst="roundRect">
            <a:avLst>
              <a:gd name="adj" fmla="val 4776"/>
            </a:avLst>
          </a:prstGeom>
          <a:solidFill>
            <a:srgbClr val="0D1712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1" name="Image 12" descr="/home/z/my-project/download/assets/shield_result_to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36456" y="1103709"/>
            <a:ext cx="2743200" cy="2464594"/>
          </a:xfrm>
          <a:prstGeom prst="rect">
            <a:avLst/>
          </a:prstGeom>
        </p:spPr>
      </p:pic>
      <p:sp>
        <p:nvSpPr>
          <p:cNvPr id="102" name="Text 87"/>
          <p:cNvSpPr/>
          <p:nvPr/>
        </p:nvSpPr>
        <p:spPr>
          <a:xfrm>
            <a:off x="5929313" y="3582591"/>
            <a:ext cx="2757488" cy="15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731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检测结果视图</a:t>
            </a:r>
            <a:pPr algn="l" indent="0" marL="0">
              <a:lnSpc>
                <a:spcPts val="1133"/>
              </a:lnSpc>
              <a:buNone/>
            </a:pPr>
            <a:r>
              <a:rPr lang="en-US" sz="73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——判决卡、逐窗置信度曲线、可解释特征剖面</a:t>
            </a:r>
            <a:endParaRPr lang="en-US" sz="731" dirty="0"/>
          </a:p>
        </p:txBody>
      </p:sp>
      <p:pic>
        <p:nvPicPr>
          <p:cNvPr id="10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9313" y="4207669"/>
            <a:ext cx="2757488" cy="578644"/>
          </a:xfrm>
          <a:prstGeom prst="rect">
            <a:avLst/>
          </a:prstGeom>
        </p:spPr>
      </p:pic>
      <p:sp>
        <p:nvSpPr>
          <p:cNvPr id="104" name="Shape 88"/>
          <p:cNvSpPr/>
          <p:nvPr/>
        </p:nvSpPr>
        <p:spPr>
          <a:xfrm>
            <a:off x="5943600" y="4207669"/>
            <a:ext cx="0" cy="578644"/>
          </a:xfrm>
          <a:prstGeom prst="line">
            <a:avLst/>
          </a:prstGeom>
          <a:noFill/>
          <a:ln w="28575">
            <a:solidFill>
              <a:srgbClr val="34D399"/>
            </a:solidFill>
            <a:prstDash val="solid"/>
          </a:ln>
        </p:spPr>
      </p:sp>
      <p:sp>
        <p:nvSpPr>
          <p:cNvPr id="105" name="Text 89"/>
          <p:cNvSpPr/>
          <p:nvPr/>
        </p:nvSpPr>
        <p:spPr>
          <a:xfrm>
            <a:off x="6086475" y="4314825"/>
            <a:ext cx="2471738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不在「更低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」上与深度模型正面竞争，而在</a:t>
            </a:r>
            <a:pPr algn="l" indent="0" marL="0">
              <a:lnSpc>
                <a:spcPts val="1434"/>
              </a:lnSpc>
              <a:buNone/>
            </a:pPr>
            <a:r>
              <a:rPr lang="en-US" sz="844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实时性、业务闭环与可解释性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上完成方向补位。</a:t>
            </a:r>
            <a:endParaRPr lang="en-US" sz="84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 / 13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57200" y="596503"/>
            <a:ext cx="8636000" cy="370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从参赛作品到</a:t>
            </a:r>
            <a:pPr algn="l" indent="0" marL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公共工具</a:t>
            </a:r>
            <a:endParaRPr lang="en-US" sz="2250" dirty="0"/>
          </a:p>
        </p:txBody>
      </p:sp>
      <p:sp>
        <p:nvSpPr>
          <p:cNvPr id="6" name="Text 2"/>
          <p:cNvSpPr/>
          <p:nvPr/>
        </p:nvSpPr>
        <p:spPr>
          <a:xfrm>
            <a:off x="460772" y="1114425"/>
            <a:ext cx="2621756" cy="3228975"/>
          </a:xfrm>
          <a:prstGeom prst="roundRect">
            <a:avLst>
              <a:gd name="adj" fmla="val 508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639366" y="1293019"/>
            <a:ext cx="321469" cy="321469"/>
          </a:xfrm>
          <a:prstGeom prst="roundRect">
            <a:avLst>
              <a:gd name="adj" fmla="val 35556"/>
            </a:avLst>
          </a:prstGeom>
          <a:solidFill>
            <a:srgbClr val="34D399">
              <a:alpha val="12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675799" y="1329452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688" dirty="0"/>
          </a:p>
        </p:txBody>
      </p:sp>
      <p:sp>
        <p:nvSpPr>
          <p:cNvPr id="9" name="Text 5"/>
          <p:cNvSpPr/>
          <p:nvPr/>
        </p:nvSpPr>
        <p:spPr>
          <a:xfrm>
            <a:off x="1064419" y="1275159"/>
            <a:ext cx="960120" cy="1047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8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064419" y="1407319"/>
            <a:ext cx="948119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面向公众</a:t>
            </a:r>
            <a:endParaRPr lang="en-US" sz="1181" dirty="0"/>
          </a:p>
        </p:txBody>
      </p:sp>
      <p:sp>
        <p:nvSpPr>
          <p:cNvPr id="11" name="Text 7"/>
          <p:cNvSpPr/>
          <p:nvPr/>
        </p:nvSpPr>
        <p:spPr>
          <a:xfrm>
            <a:off x="635794" y="2144576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通话验真入口</a:t>
            </a:r>
            <a:endParaRPr lang="en-US" sz="872" dirty="0"/>
          </a:p>
        </p:txBody>
      </p:sp>
      <p:sp>
        <p:nvSpPr>
          <p:cNvPr id="12" name="Text 8"/>
          <p:cNvSpPr/>
          <p:nvPr/>
        </p:nvSpPr>
        <p:spPr>
          <a:xfrm>
            <a:off x="635794" y="2336899"/>
            <a:ext cx="2271713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接到可疑来电开启声盾即得实时提示与可固定证据</a:t>
            </a:r>
            <a:endParaRPr lang="en-US" sz="788" dirty="0"/>
          </a:p>
        </p:txBody>
      </p:sp>
      <p:sp>
        <p:nvSpPr>
          <p:cNvPr id="13" name="Shape 9"/>
          <p:cNvSpPr/>
          <p:nvPr/>
        </p:nvSpPr>
        <p:spPr>
          <a:xfrm>
            <a:off x="635794" y="2943225"/>
            <a:ext cx="22717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5794" y="3306552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适老化延展</a:t>
            </a:r>
            <a:endParaRPr lang="en-US" sz="872" dirty="0"/>
          </a:p>
        </p:txBody>
      </p:sp>
      <p:sp>
        <p:nvSpPr>
          <p:cNvPr id="15" name="Text 11"/>
          <p:cNvSpPr/>
          <p:nvPr/>
        </p:nvSpPr>
        <p:spPr>
          <a:xfrm>
            <a:off x="635794" y="3498875"/>
            <a:ext cx="2271713" cy="349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老年群体是</a:t>
            </a:r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语音诈骗高受害人群，大字号高对比语音播报形态，子女可为父母预装</a:t>
            </a:r>
            <a:endParaRPr lang="en-US" sz="788" dirty="0"/>
          </a:p>
        </p:txBody>
      </p:sp>
      <p:sp>
        <p:nvSpPr>
          <p:cNvPr id="16" name="Text 12"/>
          <p:cNvSpPr/>
          <p:nvPr/>
        </p:nvSpPr>
        <p:spPr>
          <a:xfrm>
            <a:off x="3261122" y="1114425"/>
            <a:ext cx="2621756" cy="3228975"/>
          </a:xfrm>
          <a:prstGeom prst="roundRect">
            <a:avLst>
              <a:gd name="adj" fmla="val 508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3439716" y="1293019"/>
            <a:ext cx="321469" cy="321469"/>
          </a:xfrm>
          <a:prstGeom prst="roundRect">
            <a:avLst>
              <a:gd name="adj" fmla="val 35556"/>
            </a:avLst>
          </a:prstGeom>
          <a:solidFill>
            <a:srgbClr val="34D399">
              <a:alpha val="12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3476149" y="1329452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🏛</a:t>
            </a:r>
            <a:endParaRPr lang="en-US" sz="1688" dirty="0"/>
          </a:p>
        </p:txBody>
      </p:sp>
      <p:sp>
        <p:nvSpPr>
          <p:cNvPr id="19" name="Text 15"/>
          <p:cNvSpPr/>
          <p:nvPr/>
        </p:nvSpPr>
        <p:spPr>
          <a:xfrm>
            <a:off x="3864769" y="1275159"/>
            <a:ext cx="960120" cy="1047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8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3864769" y="1407319"/>
            <a:ext cx="948119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面向机构</a:t>
            </a:r>
            <a:endParaRPr lang="en-US" sz="1181" dirty="0"/>
          </a:p>
        </p:txBody>
      </p:sp>
      <p:sp>
        <p:nvSpPr>
          <p:cNvPr id="21" name="Text 17"/>
          <p:cNvSpPr/>
          <p:nvPr/>
        </p:nvSpPr>
        <p:spPr>
          <a:xfrm>
            <a:off x="3436144" y="1856370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银行与支付机构</a:t>
            </a:r>
            <a:endParaRPr lang="en-US" sz="872" dirty="0"/>
          </a:p>
        </p:txBody>
      </p:sp>
      <p:sp>
        <p:nvSpPr>
          <p:cNvPr id="22" name="Text 18"/>
          <p:cNvSpPr/>
          <p:nvPr/>
        </p:nvSpPr>
        <p:spPr>
          <a:xfrm>
            <a:off x="3436144" y="2048694"/>
            <a:ext cx="2271713" cy="349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电话渠道大额转账的附加风控信号，高风险通话触发人工复核或延迟到账</a:t>
            </a:r>
            <a:endParaRPr lang="en-US" sz="788" dirty="0"/>
          </a:p>
        </p:txBody>
      </p:sp>
      <p:sp>
        <p:nvSpPr>
          <p:cNvPr id="23" name="Shape 19"/>
          <p:cNvSpPr/>
          <p:nvPr/>
        </p:nvSpPr>
        <p:spPr>
          <a:xfrm>
            <a:off x="3436144" y="2528888"/>
            <a:ext cx="22717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436144" y="2766082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反诈中心与基层派出所</a:t>
            </a:r>
            <a:endParaRPr lang="en-US" sz="872" dirty="0"/>
          </a:p>
        </p:txBody>
      </p:sp>
      <p:sp>
        <p:nvSpPr>
          <p:cNvPr id="25" name="Text 21"/>
          <p:cNvSpPr/>
          <p:nvPr/>
        </p:nvSpPr>
        <p:spPr>
          <a:xfrm>
            <a:off x="3436144" y="2958405"/>
            <a:ext cx="2271713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核验报告哈希证据链作为群众举报材料标准化载体</a:t>
            </a:r>
            <a:endParaRPr lang="en-US" sz="788" dirty="0"/>
          </a:p>
        </p:txBody>
      </p:sp>
      <p:sp>
        <p:nvSpPr>
          <p:cNvPr id="26" name="Shape 22"/>
          <p:cNvSpPr/>
          <p:nvPr/>
        </p:nvSpPr>
        <p:spPr>
          <a:xfrm>
            <a:off x="3436144" y="3357563"/>
            <a:ext cx="22717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436144" y="3594757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内容平台</a:t>
            </a:r>
            <a:endParaRPr lang="en-US" sz="872" dirty="0"/>
          </a:p>
        </p:txBody>
      </p:sp>
      <p:sp>
        <p:nvSpPr>
          <p:cNvPr id="28" name="Text 24"/>
          <p:cNvSpPr/>
          <p:nvPr/>
        </p:nvSpPr>
        <p:spPr>
          <a:xfrm>
            <a:off x="3436144" y="3787080"/>
            <a:ext cx="2271713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流式形态可嵌入语音弹幕、语音评论实时审核</a:t>
            </a:r>
            <a:endParaRPr lang="en-US" sz="788" dirty="0"/>
          </a:p>
        </p:txBody>
      </p:sp>
      <p:sp>
        <p:nvSpPr>
          <p:cNvPr id="29" name="Text 25"/>
          <p:cNvSpPr/>
          <p:nvPr/>
        </p:nvSpPr>
        <p:spPr>
          <a:xfrm>
            <a:off x="6061472" y="1114425"/>
            <a:ext cx="2621756" cy="3228975"/>
          </a:xfrm>
          <a:prstGeom prst="roundRect">
            <a:avLst>
              <a:gd name="adj" fmla="val 5086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6240066" y="1293019"/>
            <a:ext cx="321469" cy="321469"/>
          </a:xfrm>
          <a:prstGeom prst="roundRect">
            <a:avLst>
              <a:gd name="adj" fmla="val 35556"/>
            </a:avLst>
          </a:prstGeom>
          <a:solidFill>
            <a:srgbClr val="34D399">
              <a:alpha val="12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276499" y="1329452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688" dirty="0"/>
          </a:p>
        </p:txBody>
      </p:sp>
      <p:sp>
        <p:nvSpPr>
          <p:cNvPr id="32" name="Text 28"/>
          <p:cNvSpPr/>
          <p:nvPr/>
        </p:nvSpPr>
        <p:spPr>
          <a:xfrm>
            <a:off x="6665119" y="1275159"/>
            <a:ext cx="960120" cy="1047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86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6665119" y="1407319"/>
            <a:ext cx="948119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面向治理</a:t>
            </a:r>
            <a:endParaRPr lang="en-US" sz="1181" dirty="0"/>
          </a:p>
        </p:txBody>
      </p:sp>
      <p:sp>
        <p:nvSpPr>
          <p:cNvPr id="34" name="Text 30"/>
          <p:cNvSpPr/>
          <p:nvPr/>
        </p:nvSpPr>
        <p:spPr>
          <a:xfrm>
            <a:off x="6236494" y="1937407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endParaRPr lang="en-US" sz="872" dirty="0"/>
          </a:p>
        </p:txBody>
      </p:sp>
      <p:sp>
        <p:nvSpPr>
          <p:cNvPr id="35" name="Text 31"/>
          <p:cNvSpPr/>
          <p:nvPr/>
        </p:nvSpPr>
        <p:spPr>
          <a:xfrm>
            <a:off x="6236494" y="2129730"/>
            <a:ext cx="2271713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全民反诈框架的普惠工具落地</a:t>
            </a:r>
            <a:endParaRPr lang="en-US" sz="788" dirty="0"/>
          </a:p>
        </p:txBody>
      </p:sp>
      <p:sp>
        <p:nvSpPr>
          <p:cNvPr id="36" name="Shape 32"/>
          <p:cNvSpPr/>
          <p:nvPr/>
        </p:nvSpPr>
        <p:spPr>
          <a:xfrm>
            <a:off x="6236494" y="2528888"/>
            <a:ext cx="22717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236494" y="2766082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《深度合成管理规定》</a:t>
            </a:r>
            <a:endParaRPr lang="en-US" sz="872" dirty="0"/>
          </a:p>
        </p:txBody>
      </p:sp>
      <p:sp>
        <p:nvSpPr>
          <p:cNvPr id="38" name="Text 34"/>
          <p:cNvSpPr/>
          <p:nvPr/>
        </p:nvSpPr>
        <p:spPr>
          <a:xfrm>
            <a:off x="6236494" y="2958405"/>
            <a:ext cx="2271713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内容治理的可审计检测实践</a:t>
            </a:r>
            <a:endParaRPr lang="en-US" sz="788" dirty="0"/>
          </a:p>
        </p:txBody>
      </p:sp>
      <p:sp>
        <p:nvSpPr>
          <p:cNvPr id="39" name="Shape 35"/>
          <p:cNvSpPr/>
          <p:nvPr/>
        </p:nvSpPr>
        <p:spPr>
          <a:xfrm>
            <a:off x="6236494" y="3357563"/>
            <a:ext cx="227171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236494" y="3594757"/>
            <a:ext cx="2271713" cy="161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72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证据链设计</a:t>
            </a:r>
            <a:endParaRPr lang="en-US" sz="872" dirty="0"/>
          </a:p>
        </p:txBody>
      </p:sp>
      <p:sp>
        <p:nvSpPr>
          <p:cNvPr id="41" name="Text 37"/>
          <p:cNvSpPr/>
          <p:nvPr/>
        </p:nvSpPr>
        <p:spPr>
          <a:xfrm>
            <a:off x="6236494" y="3787080"/>
            <a:ext cx="2271712" cy="174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6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为涉诈案件电子材料规范化提供参考</a:t>
            </a:r>
            <a:endParaRPr lang="en-US" sz="788" dirty="0"/>
          </a:p>
        </p:txBody>
      </p:sp>
      <p:sp>
        <p:nvSpPr>
          <p:cNvPr id="42" name="Text 38"/>
          <p:cNvSpPr/>
          <p:nvPr/>
        </p:nvSpPr>
        <p:spPr>
          <a:xfrm>
            <a:off x="460772" y="4479131"/>
            <a:ext cx="8222456" cy="317897"/>
          </a:xfrm>
          <a:prstGeom prst="roundRect">
            <a:avLst>
              <a:gd name="adj" fmla="val 41948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592931" y="4580930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6E968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125" dirty="0"/>
          </a:p>
        </p:txBody>
      </p:sp>
      <p:sp>
        <p:nvSpPr>
          <p:cNvPr id="44" name="Text 40"/>
          <p:cNvSpPr/>
          <p:nvPr/>
        </p:nvSpPr>
        <p:spPr>
          <a:xfrm>
            <a:off x="778669" y="4568428"/>
            <a:ext cx="777240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工具定位为辅助验真，结论附带置信度与不确定性说明，不构成执法结论；演示音频均为平台合成或公有领域样本。</a:t>
            </a:r>
            <a:endParaRPr lang="en-US" sz="73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400050"/>
            <a:ext cx="37246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3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/ 13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57200" y="596503"/>
            <a:ext cx="3127248" cy="351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65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</a:t>
            </a:r>
            <a:pPr algn="l" indent="0" marL="0">
              <a:lnSpc>
                <a:spcPts val="2565"/>
              </a:lnSpc>
              <a:buNone/>
            </a:pPr>
            <a:r>
              <a:rPr lang="en-US" sz="213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十二周</a:t>
            </a:r>
            <a:pPr algn="l" indent="0" marL="0">
              <a:lnSpc>
                <a:spcPts val="2565"/>
              </a:lnSpc>
              <a:buNone/>
            </a:pPr>
            <a:r>
              <a:rPr lang="en-US" sz="2138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深化路线</a:t>
            </a:r>
            <a:endParaRPr lang="en-US" sz="2138" dirty="0"/>
          </a:p>
        </p:txBody>
      </p:sp>
      <p:sp>
        <p:nvSpPr>
          <p:cNvPr id="6" name="Text 2"/>
          <p:cNvSpPr/>
          <p:nvPr/>
        </p:nvSpPr>
        <p:spPr>
          <a:xfrm>
            <a:off x="457200" y="979363"/>
            <a:ext cx="2863386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——从轻量引擎到深度集成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7479953" y="979363"/>
            <a:ext cx="1597715" cy="219456"/>
          </a:xfrm>
          <a:prstGeom prst="rect">
            <a:avLst/>
          </a:prstGeom>
          <a:noFill/>
          <a:ln/>
        </p:spPr>
        <p:txBody>
          <a:bodyPr wrap="none" lIns="0" tIns="0" rIns="0" bIns="42863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22" kern="0" dirty="0">
                <a:solidFill>
                  <a:srgbClr val="6E968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W01–W12 · 5 PHASES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60772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457200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W01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48358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144786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W02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835944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1832372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W03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2523530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2519958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W04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211116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3207544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W05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898702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3895130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W06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4586288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4582716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W07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5273873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101C16">
              <a:alpha val="52000"/>
            </a:srgbClr>
          </a:solidFill>
          <a:ln w="7144">
            <a:solidFill>
              <a:srgbClr val="34D399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5270302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6E9683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W08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961459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101C16">
              <a:alpha val="52000"/>
            </a:srgbClr>
          </a:solidFill>
          <a:ln w="7144">
            <a:solidFill>
              <a:srgbClr val="34D399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5957888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6E9683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W09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6649045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645473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W10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7336631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33059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W11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8024217" y="1297260"/>
            <a:ext cx="659011" cy="278606"/>
          </a:xfrm>
          <a:prstGeom prst="roundRect">
            <a:avLst>
              <a:gd name="adj" fmla="val 20513"/>
            </a:avLst>
          </a:prstGeom>
          <a:solidFill>
            <a:srgbClr val="34D399">
              <a:alpha val="10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8020645" y="1293688"/>
            <a:ext cx="66615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W12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1202271" y="1650876"/>
            <a:ext cx="64294" cy="64294"/>
          </a:xfrm>
          <a:prstGeom prst="ellipse">
            <a:avLst/>
          </a:prstGeom>
          <a:solidFill>
            <a:srgbClr val="34D399"/>
          </a:solidFill>
          <a:ln/>
          <a:effectLst>
            <a:outerShdw sx="100000" sy="100000" kx="0" ky="0" algn="bl" rotWithShape="0" blurRad="101600" dist="50800" dir="16200000">
              <a:srgbClr val="34D399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2871006" y="1650876"/>
            <a:ext cx="64294" cy="64294"/>
          </a:xfrm>
          <a:prstGeom prst="ellipse">
            <a:avLst/>
          </a:prstGeom>
          <a:solidFill>
            <a:srgbClr val="34D399"/>
          </a:solidFill>
          <a:ln/>
          <a:effectLst>
            <a:outerShdw sx="100000" sy="100000" kx="0" ky="0" algn="bl" rotWithShape="0" blurRad="101600" dist="50800" dir="16200000">
              <a:srgbClr val="34D399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4539742" y="1650876"/>
            <a:ext cx="64294" cy="64294"/>
          </a:xfrm>
          <a:prstGeom prst="ellipse">
            <a:avLst/>
          </a:prstGeom>
          <a:solidFill>
            <a:srgbClr val="34D399"/>
          </a:solidFill>
          <a:ln/>
          <a:effectLst>
            <a:outerShdw sx="100000" sy="100000" kx="0" ky="0" algn="bl" rotWithShape="0" blurRad="101600" dist="50800" dir="16200000">
              <a:srgbClr val="34D399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1"/>
          <p:cNvSpPr/>
          <p:nvPr/>
        </p:nvSpPr>
        <p:spPr>
          <a:xfrm>
            <a:off x="6208588" y="1650876"/>
            <a:ext cx="64294" cy="64294"/>
          </a:xfrm>
          <a:prstGeom prst="ellipse">
            <a:avLst/>
          </a:prstGeom>
          <a:solidFill>
            <a:srgbClr val="34D399"/>
          </a:solidFill>
          <a:ln/>
          <a:effectLst>
            <a:outerShdw sx="100000" sy="100000" kx="0" ky="0" algn="bl" rotWithShape="0" blurRad="101600" dist="50800" dir="16200000">
              <a:srgbClr val="34D399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7877324" y="1650876"/>
            <a:ext cx="64294" cy="64294"/>
          </a:xfrm>
          <a:prstGeom prst="ellipse">
            <a:avLst/>
          </a:prstGeom>
          <a:solidFill>
            <a:srgbClr val="34D399"/>
          </a:solidFill>
          <a:ln/>
          <a:effectLst>
            <a:outerShdw sx="100000" sy="100000" kx="0" ky="0" algn="bl" rotWithShape="0" blurRad="101600" dist="50800" dir="16200000">
              <a:srgbClr val="34D399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460772" y="1783035"/>
            <a:ext cx="1547292" cy="2328193"/>
          </a:xfrm>
          <a:prstGeom prst="roundRect">
            <a:avLst>
              <a:gd name="adj" fmla="val 8618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4"/>
          <p:cNvSpPr/>
          <p:nvPr/>
        </p:nvSpPr>
        <p:spPr>
          <a:xfrm>
            <a:off x="571120" y="1918052"/>
            <a:ext cx="588891" cy="230029"/>
          </a:xfrm>
          <a:prstGeom prst="roundRect">
            <a:avLst>
              <a:gd name="adj" fmla="val 4136641"/>
            </a:avLst>
          </a:prstGeom>
          <a:solidFill>
            <a:srgbClr val="34D399">
              <a:alpha val="9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5"/>
          <p:cNvSpPr/>
          <p:nvPr/>
        </p:nvSpPr>
        <p:spPr>
          <a:xfrm>
            <a:off x="592931" y="1930375"/>
            <a:ext cx="54526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endParaRPr lang="en-US" sz="703" dirty="0"/>
          </a:p>
        </p:txBody>
      </p:sp>
      <p:sp>
        <p:nvSpPr>
          <p:cNvPr id="40" name="Text 36"/>
          <p:cNvSpPr/>
          <p:nvPr/>
        </p:nvSpPr>
        <p:spPr>
          <a:xfrm>
            <a:off x="1638766" y="1915195"/>
            <a:ext cx="28496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8F5EE">
                    <a:alpha val="1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238" dirty="0"/>
          </a:p>
        </p:txBody>
      </p:sp>
      <p:sp>
        <p:nvSpPr>
          <p:cNvPr id="41" name="Text 37"/>
          <p:cNvSpPr/>
          <p:nvPr/>
        </p:nvSpPr>
        <p:spPr>
          <a:xfrm>
            <a:off x="592931" y="2250951"/>
            <a:ext cx="1282973" cy="18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AASIST</a:t>
            </a:r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基线复现</a:t>
            </a:r>
            <a:endParaRPr lang="en-US" sz="1013" dirty="0"/>
          </a:p>
        </p:txBody>
      </p:sp>
      <p:sp>
        <p:nvSpPr>
          <p:cNvPr id="42" name="Text 38"/>
          <p:cNvSpPr/>
          <p:nvPr/>
        </p:nvSpPr>
        <p:spPr>
          <a:xfrm>
            <a:off x="592931" y="2482342"/>
            <a:ext cx="1359951" cy="52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按官方流程在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2019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训练评测，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与论文同量级，工程正确性锚点</a:t>
            </a:r>
            <a:endParaRPr lang="en-US" sz="776" dirty="0"/>
          </a:p>
        </p:txBody>
      </p:sp>
      <p:sp>
        <p:nvSpPr>
          <p:cNvPr id="43" name="Shape 39"/>
          <p:cNvSpPr/>
          <p:nvPr/>
        </p:nvSpPr>
        <p:spPr>
          <a:xfrm>
            <a:off x="592931" y="3596990"/>
            <a:ext cx="128297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92931" y="3686287"/>
            <a:ext cx="1282973" cy="113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130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700" dirty="0"/>
          </a:p>
        </p:txBody>
      </p:sp>
      <p:sp>
        <p:nvSpPr>
          <p:cNvPr id="45" name="Text 41"/>
          <p:cNvSpPr/>
          <p:nvPr/>
        </p:nvSpPr>
        <p:spPr>
          <a:xfrm>
            <a:off x="592931" y="3827376"/>
            <a:ext cx="1282973" cy="16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</a:t>
            </a:r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同量级基线</a:t>
            </a:r>
            <a:endParaRPr lang="en-US" sz="788" dirty="0"/>
          </a:p>
        </p:txBody>
      </p:sp>
      <p:sp>
        <p:nvSpPr>
          <p:cNvPr id="46" name="Text 42"/>
          <p:cNvSpPr/>
          <p:nvPr/>
        </p:nvSpPr>
        <p:spPr>
          <a:xfrm>
            <a:off x="2129507" y="1783035"/>
            <a:ext cx="1547292" cy="2328193"/>
          </a:xfrm>
          <a:prstGeom prst="roundRect">
            <a:avLst>
              <a:gd name="adj" fmla="val 8618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3"/>
          <p:cNvSpPr/>
          <p:nvPr/>
        </p:nvSpPr>
        <p:spPr>
          <a:xfrm>
            <a:off x="2239856" y="1918052"/>
            <a:ext cx="588891" cy="230029"/>
          </a:xfrm>
          <a:prstGeom prst="roundRect">
            <a:avLst>
              <a:gd name="adj" fmla="val 4136641"/>
            </a:avLst>
          </a:prstGeom>
          <a:solidFill>
            <a:srgbClr val="34D399">
              <a:alpha val="9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4"/>
          <p:cNvSpPr/>
          <p:nvPr/>
        </p:nvSpPr>
        <p:spPr>
          <a:xfrm>
            <a:off x="2261667" y="1930375"/>
            <a:ext cx="54526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endParaRPr lang="en-US" sz="703" dirty="0"/>
          </a:p>
        </p:txBody>
      </p:sp>
      <p:sp>
        <p:nvSpPr>
          <p:cNvPr id="49" name="Text 45"/>
          <p:cNvSpPr/>
          <p:nvPr/>
        </p:nvSpPr>
        <p:spPr>
          <a:xfrm>
            <a:off x="3307501" y="1915195"/>
            <a:ext cx="28496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8F5EE">
                    <a:alpha val="1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238" dirty="0"/>
          </a:p>
        </p:txBody>
      </p:sp>
      <p:sp>
        <p:nvSpPr>
          <p:cNvPr id="50" name="Text 46"/>
          <p:cNvSpPr/>
          <p:nvPr/>
        </p:nvSpPr>
        <p:spPr>
          <a:xfrm>
            <a:off x="2261667" y="2250951"/>
            <a:ext cx="1282973" cy="18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双网络融合</a:t>
            </a:r>
            <a:endParaRPr lang="en-US" sz="1013" dirty="0"/>
          </a:p>
        </p:txBody>
      </p:sp>
      <p:sp>
        <p:nvSpPr>
          <p:cNvPr id="51" name="Text 47"/>
          <p:cNvSpPr/>
          <p:nvPr/>
        </p:nvSpPr>
        <p:spPr>
          <a:xfrm>
            <a:off x="2261667" y="2482342"/>
            <a:ext cx="1282973" cy="35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RawGAT-ST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训练+软投票集成+消融实验，产出消融表</a:t>
            </a:r>
            <a:endParaRPr lang="en-US" sz="776" dirty="0"/>
          </a:p>
        </p:txBody>
      </p:sp>
      <p:sp>
        <p:nvSpPr>
          <p:cNvPr id="52" name="Shape 48"/>
          <p:cNvSpPr/>
          <p:nvPr/>
        </p:nvSpPr>
        <p:spPr>
          <a:xfrm>
            <a:off x="2261667" y="3596990"/>
            <a:ext cx="128297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2261667" y="3686287"/>
            <a:ext cx="1282973" cy="113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130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2261667" y="3827376"/>
            <a:ext cx="1282973" cy="16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消融表</a:t>
            </a:r>
            <a:endParaRPr lang="en-US" sz="788" dirty="0"/>
          </a:p>
        </p:txBody>
      </p:sp>
      <p:sp>
        <p:nvSpPr>
          <p:cNvPr id="55" name="Text 51"/>
          <p:cNvSpPr/>
          <p:nvPr/>
        </p:nvSpPr>
        <p:spPr>
          <a:xfrm>
            <a:off x="3798243" y="1783035"/>
            <a:ext cx="1547403" cy="2328193"/>
          </a:xfrm>
          <a:prstGeom prst="roundRect">
            <a:avLst>
              <a:gd name="adj" fmla="val 8618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2"/>
          <p:cNvSpPr/>
          <p:nvPr/>
        </p:nvSpPr>
        <p:spPr>
          <a:xfrm>
            <a:off x="3908591" y="1918052"/>
            <a:ext cx="588891" cy="230029"/>
          </a:xfrm>
          <a:prstGeom prst="roundRect">
            <a:avLst>
              <a:gd name="adj" fmla="val 4136641"/>
            </a:avLst>
          </a:prstGeom>
          <a:solidFill>
            <a:srgbClr val="34D399">
              <a:alpha val="9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3"/>
          <p:cNvSpPr/>
          <p:nvPr/>
        </p:nvSpPr>
        <p:spPr>
          <a:xfrm>
            <a:off x="3930402" y="1930375"/>
            <a:ext cx="54526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endParaRPr lang="en-US" sz="703" dirty="0"/>
          </a:p>
        </p:txBody>
      </p:sp>
      <p:sp>
        <p:nvSpPr>
          <p:cNvPr id="58" name="Text 54"/>
          <p:cNvSpPr/>
          <p:nvPr/>
        </p:nvSpPr>
        <p:spPr>
          <a:xfrm>
            <a:off x="4976348" y="1915195"/>
            <a:ext cx="28496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8F5EE">
                    <a:alpha val="1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238" dirty="0"/>
          </a:p>
        </p:txBody>
      </p:sp>
      <p:sp>
        <p:nvSpPr>
          <p:cNvPr id="59" name="Text 55"/>
          <p:cNvSpPr/>
          <p:nvPr/>
        </p:nvSpPr>
        <p:spPr>
          <a:xfrm>
            <a:off x="3930402" y="2250951"/>
            <a:ext cx="1283084" cy="18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ONNX</a:t>
            </a:r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</a:t>
            </a:r>
            <a:endParaRPr lang="en-US" sz="1013" dirty="0"/>
          </a:p>
        </p:txBody>
      </p:sp>
      <p:sp>
        <p:nvSpPr>
          <p:cNvPr id="60" name="Text 56"/>
          <p:cNvSpPr/>
          <p:nvPr/>
        </p:nvSpPr>
        <p:spPr>
          <a:xfrm>
            <a:off x="3930402" y="2482342"/>
            <a:ext cx="1283084" cy="35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动态量化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并发推理，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，蒸馏兜底方案</a:t>
            </a:r>
            <a:endParaRPr lang="en-US" sz="776" dirty="0"/>
          </a:p>
        </p:txBody>
      </p:sp>
      <p:sp>
        <p:nvSpPr>
          <p:cNvPr id="61" name="Shape 57"/>
          <p:cNvSpPr/>
          <p:nvPr/>
        </p:nvSpPr>
        <p:spPr>
          <a:xfrm>
            <a:off x="3930402" y="3596990"/>
            <a:ext cx="1283084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930402" y="3686287"/>
            <a:ext cx="1283084" cy="113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130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930402" y="3827376"/>
            <a:ext cx="1283084" cy="16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实测</a:t>
            </a:r>
            <a:endParaRPr lang="en-US" sz="788" dirty="0"/>
          </a:p>
        </p:txBody>
      </p:sp>
      <p:sp>
        <p:nvSpPr>
          <p:cNvPr id="64" name="Text 60"/>
          <p:cNvSpPr/>
          <p:nvPr/>
        </p:nvSpPr>
        <p:spPr>
          <a:xfrm>
            <a:off x="5467090" y="1783035"/>
            <a:ext cx="1547292" cy="2328193"/>
          </a:xfrm>
          <a:prstGeom prst="roundRect">
            <a:avLst>
              <a:gd name="adj" fmla="val 8618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1"/>
          <p:cNvSpPr/>
          <p:nvPr/>
        </p:nvSpPr>
        <p:spPr>
          <a:xfrm>
            <a:off x="5579800" y="1918052"/>
            <a:ext cx="525119" cy="230029"/>
          </a:xfrm>
          <a:prstGeom prst="roundRect">
            <a:avLst>
              <a:gd name="adj" fmla="val 4136641"/>
            </a:avLst>
          </a:prstGeom>
          <a:solidFill>
            <a:srgbClr val="34D399">
              <a:alpha val="9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2"/>
          <p:cNvSpPr/>
          <p:nvPr/>
        </p:nvSpPr>
        <p:spPr>
          <a:xfrm>
            <a:off x="5599249" y="1930375"/>
            <a:ext cx="486221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endParaRPr lang="en-US" sz="703" dirty="0"/>
          </a:p>
        </p:txBody>
      </p:sp>
      <p:sp>
        <p:nvSpPr>
          <p:cNvPr id="67" name="Text 63"/>
          <p:cNvSpPr/>
          <p:nvPr/>
        </p:nvSpPr>
        <p:spPr>
          <a:xfrm>
            <a:off x="6645084" y="1915195"/>
            <a:ext cx="28496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8F5EE">
                    <a:alpha val="1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238" dirty="0"/>
          </a:p>
        </p:txBody>
      </p:sp>
      <p:sp>
        <p:nvSpPr>
          <p:cNvPr id="68" name="Text 64"/>
          <p:cNvSpPr/>
          <p:nvPr/>
        </p:nvSpPr>
        <p:spPr>
          <a:xfrm>
            <a:off x="5599249" y="2250951"/>
            <a:ext cx="1282973" cy="18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跨信道评测</a:t>
            </a:r>
            <a:endParaRPr lang="en-US" sz="1013" dirty="0"/>
          </a:p>
        </p:txBody>
      </p:sp>
      <p:sp>
        <p:nvSpPr>
          <p:cNvPr id="69" name="Text 65"/>
          <p:cNvSpPr/>
          <p:nvPr/>
        </p:nvSpPr>
        <p:spPr>
          <a:xfrm>
            <a:off x="5599249" y="2482342"/>
            <a:ext cx="1359951" cy="52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2021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自建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8kHz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窄带子集 + 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Rawboost</a:t>
            </a:r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增强调参</a:t>
            </a:r>
            <a:endParaRPr lang="en-US" sz="776" dirty="0"/>
          </a:p>
        </p:txBody>
      </p:sp>
      <p:sp>
        <p:nvSpPr>
          <p:cNvPr id="70" name="Shape 66"/>
          <p:cNvSpPr/>
          <p:nvPr/>
        </p:nvSpPr>
        <p:spPr>
          <a:xfrm>
            <a:off x="5599249" y="3596990"/>
            <a:ext cx="128297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5599249" y="3686287"/>
            <a:ext cx="1282973" cy="113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130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5599249" y="3827376"/>
            <a:ext cx="1282973" cy="16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8kHz</a:t>
            </a:r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窄带子集</a:t>
            </a:r>
            <a:endParaRPr lang="en-US" sz="788" dirty="0"/>
          </a:p>
        </p:txBody>
      </p:sp>
      <p:sp>
        <p:nvSpPr>
          <p:cNvPr id="73" name="Text 69"/>
          <p:cNvSpPr/>
          <p:nvPr/>
        </p:nvSpPr>
        <p:spPr>
          <a:xfrm>
            <a:off x="7135825" y="1783035"/>
            <a:ext cx="1547403" cy="2328193"/>
          </a:xfrm>
          <a:prstGeom prst="roundRect">
            <a:avLst>
              <a:gd name="adj" fmla="val 8618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0"/>
          <p:cNvSpPr/>
          <p:nvPr/>
        </p:nvSpPr>
        <p:spPr>
          <a:xfrm>
            <a:off x="7245124" y="1918052"/>
            <a:ext cx="709307" cy="230029"/>
          </a:xfrm>
          <a:prstGeom prst="roundRect">
            <a:avLst>
              <a:gd name="adj" fmla="val 4136641"/>
            </a:avLst>
          </a:prstGeom>
          <a:solidFill>
            <a:srgbClr val="34D399">
              <a:alpha val="9000"/>
            </a:srgbClr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1"/>
          <p:cNvSpPr/>
          <p:nvPr/>
        </p:nvSpPr>
        <p:spPr>
          <a:xfrm>
            <a:off x="7267984" y="1930375"/>
            <a:ext cx="663587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pPr algn="ctr" indent="0" marL="0">
              <a:lnSpc>
                <a:spcPts val="1055"/>
              </a:lnSpc>
              <a:buNone/>
            </a:pPr>
            <a:r>
              <a:rPr lang="en-US" sz="703" spc="42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endParaRPr lang="en-US" sz="703" dirty="0"/>
          </a:p>
        </p:txBody>
      </p:sp>
      <p:sp>
        <p:nvSpPr>
          <p:cNvPr id="76" name="Text 72"/>
          <p:cNvSpPr/>
          <p:nvPr/>
        </p:nvSpPr>
        <p:spPr>
          <a:xfrm>
            <a:off x="8313931" y="1915195"/>
            <a:ext cx="28496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8F5EE">
                    <a:alpha val="16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238" dirty="0"/>
          </a:p>
        </p:txBody>
      </p:sp>
      <p:sp>
        <p:nvSpPr>
          <p:cNvPr id="77" name="Text 73"/>
          <p:cNvSpPr/>
          <p:nvPr/>
        </p:nvSpPr>
        <p:spPr>
          <a:xfrm>
            <a:off x="7267984" y="2250951"/>
            <a:ext cx="1283084" cy="18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联调与答辩</a:t>
            </a:r>
            <a:endParaRPr lang="en-US" sz="1013" dirty="0"/>
          </a:p>
        </p:txBody>
      </p:sp>
      <p:sp>
        <p:nvSpPr>
          <p:cNvPr id="78" name="Text 74"/>
          <p:cNvSpPr/>
          <p:nvPr/>
        </p:nvSpPr>
        <p:spPr>
          <a:xfrm>
            <a:off x="7267984" y="2482342"/>
            <a:ext cx="1283084" cy="35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9"/>
              </a:lnSpc>
              <a:buNone/>
            </a:pPr>
            <a:r>
              <a:rPr lang="en-US" sz="77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演示排练、测试数据、技术报告与视频定稿</a:t>
            </a:r>
            <a:endParaRPr lang="en-US" sz="776" dirty="0"/>
          </a:p>
        </p:txBody>
      </p:sp>
      <p:sp>
        <p:nvSpPr>
          <p:cNvPr id="79" name="Shape 75"/>
          <p:cNvSpPr/>
          <p:nvPr/>
        </p:nvSpPr>
        <p:spPr>
          <a:xfrm>
            <a:off x="7267984" y="3596990"/>
            <a:ext cx="1283084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7267984" y="3686287"/>
            <a:ext cx="1283084" cy="113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700" spc="130" kern="0" dirty="0">
                <a:solidFill>
                  <a:srgbClr val="6E96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7267984" y="3827376"/>
            <a:ext cx="1283084" cy="165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7"/>
              </a:lnSpc>
              <a:buNone/>
            </a:pPr>
            <a:r>
              <a:rPr lang="en-US" sz="788" b="1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报告与视频定稿</a:t>
            </a:r>
            <a:endParaRPr lang="en-US" sz="788" dirty="0"/>
          </a:p>
        </p:txBody>
      </p:sp>
      <p:sp>
        <p:nvSpPr>
          <p:cNvPr id="82" name="Text 78"/>
          <p:cNvSpPr/>
          <p:nvPr/>
        </p:nvSpPr>
        <p:spPr>
          <a:xfrm>
            <a:off x="460772" y="4246959"/>
            <a:ext cx="8222456" cy="521494"/>
          </a:xfrm>
          <a:prstGeom prst="roundRect">
            <a:avLst>
              <a:gd name="adj" fmla="val 25571"/>
            </a:avLst>
          </a:prstGeom>
          <a:solidFill>
            <a:srgbClr val="101C16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79"/>
          <p:cNvSpPr/>
          <p:nvPr/>
        </p:nvSpPr>
        <p:spPr>
          <a:xfrm>
            <a:off x="607219" y="443626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84" name="Text 80"/>
          <p:cNvSpPr/>
          <p:nvPr/>
        </p:nvSpPr>
        <p:spPr>
          <a:xfrm>
            <a:off x="821531" y="4432697"/>
            <a:ext cx="691336" cy="162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b="1" spc="63" kern="0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开源底座</a:t>
            </a:r>
            <a:endParaRPr lang="en-US" sz="788" dirty="0"/>
          </a:p>
        </p:txBody>
      </p:sp>
      <p:sp>
        <p:nvSpPr>
          <p:cNvPr id="85" name="Text 81"/>
          <p:cNvSpPr/>
          <p:nvPr/>
        </p:nvSpPr>
        <p:spPr>
          <a:xfrm>
            <a:off x="1367917" y="4379119"/>
            <a:ext cx="7144" cy="257175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2"/>
          <p:cNvSpPr/>
          <p:nvPr/>
        </p:nvSpPr>
        <p:spPr>
          <a:xfrm>
            <a:off x="1489360" y="4358580"/>
            <a:ext cx="5161136" cy="136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675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clovaai/aasist · asvspoof-challenge(RawGAT-ST) · Rawboost · torchaudio/librosa/FFmpeg · ONNX Runtime</a:t>
            </a:r>
            <a:endParaRPr lang="en-US" sz="675" dirty="0"/>
          </a:p>
        </p:txBody>
      </p:sp>
      <p:sp>
        <p:nvSpPr>
          <p:cNvPr id="87" name="Text 83"/>
          <p:cNvSpPr/>
          <p:nvPr/>
        </p:nvSpPr>
        <p:spPr>
          <a:xfrm>
            <a:off x="1489360" y="4522887"/>
            <a:ext cx="516113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——架构已预留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ONNX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替换接口，业务层零改动。</a:t>
            </a:r>
            <a:endParaRPr lang="en-US" sz="70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9525" y="1613706"/>
            <a:ext cx="7764475" cy="17359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56"/>
              </a:lnSpc>
              <a:buNone/>
            </a:pPr>
            <a:r>
              <a:rPr lang="en-US" sz="8438" b="1" spc="506" kern="0" dirty="0">
                <a:solidFill>
                  <a:srgbClr val="34D399">
                    <a:alpha val="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</a:t>
            </a:r>
            <a:endParaRPr lang="en-US" sz="8438" dirty="0"/>
          </a:p>
        </p:txBody>
      </p:sp>
      <p:sp>
        <p:nvSpPr>
          <p:cNvPr id="5" name="Text 1"/>
          <p:cNvSpPr/>
          <p:nvPr/>
        </p:nvSpPr>
        <p:spPr>
          <a:xfrm>
            <a:off x="3633043" y="1245915"/>
            <a:ext cx="314325" cy="7144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3827962" y="1174477"/>
            <a:ext cx="14879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spc="394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196520" y="1245915"/>
            <a:ext cx="314325" cy="7144"/>
          </a:xfrm>
          <a:prstGeom prst="rect">
            <a:avLst/>
          </a:prstGeom>
          <a:solidFill>
            <a:srgbClr val="34D399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274320" y="1538808"/>
            <a:ext cx="8595360" cy="1303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</a:t>
            </a:r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无处遁形，</a:t>
            </a:r>
            <a:endParaRPr lang="en-US" sz="3600" dirty="0"/>
          </a:p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让信任回归</a:t>
            </a:r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</a:t>
            </a:r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2939626" y="2931393"/>
            <a:ext cx="3264636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 </a:t>
            </a:r>
            <a:pPr algn="ctr" indent="0" marL="0">
              <a:lnSpc>
                <a:spcPts val="1434"/>
              </a:lnSpc>
              <a:buNone/>
            </a:pPr>
            <a:r>
              <a:rPr lang="en-US" sz="956" spc="38" kern="0" dirty="0">
                <a:solidFill>
                  <a:srgbClr val="9CC5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</a:t>
            </a:r>
            <a:pPr algn="ctr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面向</a:t>
            </a:r>
            <a:pPr algn="ctr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9CC5A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ctr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语音诈骗的实时鉴伪反诈平台</a:t>
            </a:r>
            <a:endParaRPr lang="en-US" sz="956" dirty="0"/>
          </a:p>
        </p:txBody>
      </p:sp>
      <p:sp>
        <p:nvSpPr>
          <p:cNvPr id="10" name="Text 6"/>
          <p:cNvSpPr/>
          <p:nvPr/>
        </p:nvSpPr>
        <p:spPr>
          <a:xfrm>
            <a:off x="2581037" y="3357932"/>
            <a:ext cx="1174433" cy="338142"/>
          </a:xfrm>
          <a:prstGeom prst="roundRect">
            <a:avLst>
              <a:gd name="adj" fmla="val 281404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2753916" y="3466281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195" dirty="0"/>
          </a:p>
        </p:txBody>
      </p:sp>
      <p:sp>
        <p:nvSpPr>
          <p:cNvPr id="12" name="Text 8"/>
          <p:cNvSpPr/>
          <p:nvPr/>
        </p:nvSpPr>
        <p:spPr>
          <a:xfrm>
            <a:off x="2759631" y="3449315"/>
            <a:ext cx="82296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现场演示就绪</a:t>
            </a:r>
            <a:endParaRPr lang="en-US" sz="816" dirty="0"/>
          </a:p>
        </p:txBody>
      </p:sp>
      <p:sp>
        <p:nvSpPr>
          <p:cNvPr id="13" name="Text 9"/>
          <p:cNvSpPr/>
          <p:nvPr/>
        </p:nvSpPr>
        <p:spPr>
          <a:xfrm>
            <a:off x="3824049" y="3357932"/>
            <a:ext cx="1174433" cy="338142"/>
          </a:xfrm>
          <a:prstGeom prst="roundRect">
            <a:avLst>
              <a:gd name="adj" fmla="val 281404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3996928" y="3466281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15" name="Text 11"/>
          <p:cNvSpPr/>
          <p:nvPr/>
        </p:nvSpPr>
        <p:spPr>
          <a:xfrm>
            <a:off x="4002643" y="3449315"/>
            <a:ext cx="82296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证据链可复核</a:t>
            </a:r>
            <a:endParaRPr lang="en-US" sz="816" dirty="0"/>
          </a:p>
        </p:txBody>
      </p:sp>
      <p:sp>
        <p:nvSpPr>
          <p:cNvPr id="16" name="Text 12"/>
          <p:cNvSpPr/>
          <p:nvPr/>
        </p:nvSpPr>
        <p:spPr>
          <a:xfrm>
            <a:off x="5067062" y="3357932"/>
            <a:ext cx="1495901" cy="338142"/>
          </a:xfrm>
          <a:prstGeom prst="roundRect">
            <a:avLst>
              <a:gd name="adj" fmla="val 2814047"/>
            </a:avLst>
          </a:prstGeom>
          <a:solidFill>
            <a:srgbClr val="12201A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5239941" y="3466281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4D39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95" dirty="0"/>
          </a:p>
        </p:txBody>
      </p:sp>
      <p:sp>
        <p:nvSpPr>
          <p:cNvPr id="18" name="Text 14"/>
          <p:cNvSpPr/>
          <p:nvPr/>
        </p:nvSpPr>
        <p:spPr>
          <a:xfrm>
            <a:off x="5239941" y="3449315"/>
            <a:ext cx="115014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8F5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引擎代码随作品提交</a:t>
            </a:r>
            <a:endParaRPr lang="en-US" sz="816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891" y="4314825"/>
            <a:ext cx="35719" cy="71438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328" y="4257675"/>
            <a:ext cx="35719" cy="128588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9766" y="4186238"/>
            <a:ext cx="35719" cy="200025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1203" y="4100513"/>
            <a:ext cx="35719" cy="285750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2641" y="4014788"/>
            <a:ext cx="35719" cy="371475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4078" y="4129088"/>
            <a:ext cx="35719" cy="257175"/>
          </a:xfrm>
          <a:prstGeom prst="rect">
            <a:avLst/>
          </a:prstGeom>
        </p:spPr>
      </p:pic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5516" y="4229100"/>
            <a:ext cx="35719" cy="157163"/>
          </a:xfrm>
          <a:prstGeom prst="rect">
            <a:avLst/>
          </a:prstGeom>
        </p:spPr>
      </p:pic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6953" y="4286250"/>
            <a:ext cx="35719" cy="100013"/>
          </a:xfrm>
          <a:prstGeom prst="rect">
            <a:avLst/>
          </a:prstGeom>
        </p:spPr>
      </p:pic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8391" y="4200525"/>
            <a:ext cx="35719" cy="185738"/>
          </a:xfrm>
          <a:prstGeom prst="rect">
            <a:avLst/>
          </a:prstGeom>
        </p:spPr>
      </p:pic>
      <p:pic>
        <p:nvPicPr>
          <p:cNvPr id="2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39828" y="4086225"/>
            <a:ext cx="35719" cy="300038"/>
          </a:xfrm>
          <a:prstGeom prst="rect">
            <a:avLst/>
          </a:prstGeom>
        </p:spPr>
      </p:pic>
      <p:pic>
        <p:nvPicPr>
          <p:cNvPr id="2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1266" y="4000500"/>
            <a:ext cx="35719" cy="385763"/>
          </a:xfrm>
          <a:prstGeom prst="rect">
            <a:avLst/>
          </a:prstGeom>
        </p:spPr>
      </p:pic>
      <p:pic>
        <p:nvPicPr>
          <p:cNvPr id="3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2703" y="4114800"/>
            <a:ext cx="35719" cy="271463"/>
          </a:xfrm>
          <a:prstGeom prst="rect">
            <a:avLst/>
          </a:prstGeom>
        </p:spPr>
      </p:pic>
      <p:pic>
        <p:nvPicPr>
          <p:cNvPr id="3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54141" y="4214813"/>
            <a:ext cx="35719" cy="171450"/>
          </a:xfrm>
          <a:prstGeom prst="rect">
            <a:avLst/>
          </a:prstGeom>
        </p:spPr>
      </p:pic>
      <p:pic>
        <p:nvPicPr>
          <p:cNvPr id="3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25578" y="4271963"/>
            <a:ext cx="35719" cy="114300"/>
          </a:xfrm>
          <a:prstGeom prst="rect">
            <a:avLst/>
          </a:prstGeom>
        </p:spPr>
      </p:pic>
      <p:pic>
        <p:nvPicPr>
          <p:cNvPr id="3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7016" y="4171950"/>
            <a:ext cx="35719" cy="214313"/>
          </a:xfrm>
          <a:prstGeom prst="rect">
            <a:avLst/>
          </a:prstGeom>
        </p:spPr>
      </p:pic>
      <p:pic>
        <p:nvPicPr>
          <p:cNvPr id="3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68453" y="4057650"/>
            <a:ext cx="35719" cy="328613"/>
          </a:xfrm>
          <a:prstGeom prst="rect">
            <a:avLst/>
          </a:prstGeom>
        </p:spPr>
      </p:pic>
      <p:pic>
        <p:nvPicPr>
          <p:cNvPr id="3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39891" y="3971925"/>
            <a:ext cx="35719" cy="414338"/>
          </a:xfrm>
          <a:prstGeom prst="rect">
            <a:avLst/>
          </a:prstGeom>
        </p:spPr>
      </p:pic>
      <p:pic>
        <p:nvPicPr>
          <p:cNvPr id="3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11328" y="4100513"/>
            <a:ext cx="35719" cy="285750"/>
          </a:xfrm>
          <a:prstGeom prst="rect">
            <a:avLst/>
          </a:prstGeom>
        </p:spPr>
      </p:pic>
      <p:pic>
        <p:nvPicPr>
          <p:cNvPr id="3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82766" y="4200525"/>
            <a:ext cx="35719" cy="185738"/>
          </a:xfrm>
          <a:prstGeom prst="rect">
            <a:avLst/>
          </a:prstGeom>
        </p:spPr>
      </p:pic>
      <p:pic>
        <p:nvPicPr>
          <p:cNvPr id="3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54203" y="4279106"/>
            <a:ext cx="35719" cy="107156"/>
          </a:xfrm>
          <a:prstGeom prst="rect">
            <a:avLst/>
          </a:prstGeom>
        </p:spPr>
      </p:pic>
      <p:pic>
        <p:nvPicPr>
          <p:cNvPr id="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25641" y="4157663"/>
            <a:ext cx="35719" cy="228600"/>
          </a:xfrm>
          <a:prstGeom prst="rect">
            <a:avLst/>
          </a:prstGeom>
        </p:spPr>
      </p:pic>
      <p:pic>
        <p:nvPicPr>
          <p:cNvPr id="4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97078" y="4043363"/>
            <a:ext cx="35719" cy="342900"/>
          </a:xfrm>
          <a:prstGeom prst="rect">
            <a:avLst/>
          </a:prstGeom>
        </p:spPr>
      </p:pic>
      <p:pic>
        <p:nvPicPr>
          <p:cNvPr id="4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268516" y="4143375"/>
            <a:ext cx="35719" cy="242888"/>
          </a:xfrm>
          <a:prstGeom prst="rect">
            <a:avLst/>
          </a:prstGeom>
        </p:spPr>
      </p:pic>
      <p:pic>
        <p:nvPicPr>
          <p:cNvPr id="42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339953" y="4257675"/>
            <a:ext cx="35719" cy="128588"/>
          </a:xfrm>
          <a:prstGeom prst="rect">
            <a:avLst/>
          </a:prstGeom>
        </p:spPr>
      </p:pic>
      <p:pic>
        <p:nvPicPr>
          <p:cNvPr id="43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11391" y="4314825"/>
            <a:ext cx="35719" cy="71438"/>
          </a:xfrm>
          <a:prstGeom prst="rect">
            <a:avLst/>
          </a:prstGeom>
        </p:spPr>
      </p:pic>
      <p:sp>
        <p:nvSpPr>
          <p:cNvPr id="44" name="Text 15"/>
          <p:cNvSpPr/>
          <p:nvPr/>
        </p:nvSpPr>
        <p:spPr>
          <a:xfrm>
            <a:off x="0" y="4607719"/>
            <a:ext cx="8636000" cy="16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谢谢聆听，恳请各位评委批评指正 —— 参赛团队：【团队名称】 · </a:t>
            </a:r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</a:t>
            </a:r>
            <a:pPr algn="ctr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 </a:t>
            </a:r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C5A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pPr algn="ctr" indent="0" marL="0">
              <a:lnSpc>
                <a:spcPts val="1200"/>
              </a:lnSpc>
              <a:buNone/>
            </a:pPr>
            <a:r>
              <a:rPr lang="en-US" sz="788" dirty="0">
                <a:solidFill>
                  <a:srgbClr val="9CC5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月</a:t>
            </a:r>
            <a:endParaRPr lang="en-US" sz="7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2026-10-27T14:57:34Z</dcterms:created>
  <dcterms:modified xsi:type="dcterms:W3CDTF">2026-10-27T14:57:34Z</dcterms:modified>
</cp:coreProperties>
</file>