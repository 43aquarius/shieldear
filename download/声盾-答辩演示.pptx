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各位评委老师好，我们是【团队名称】，来自大连理工大学，答辩人【成员姓名】。今天带来的作品叫「声盾」，一句话说清楚：它要解决 AI 语音克隆诈骗里的验真问题——接起电话的那一刻，普通人也需要一个能相信的答案。封面右下这三个数字是我们目前的实测结果：宽带条件下二十个合成样本全部检出，峰值实时因子零点零一五，端到端判决一秒以内。待会儿的演示环节，欢迎各位评委任意出题，我们现场合成、现场检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先从一个真实的场景说起。「妈，是我啊，手机摔坏了，急需八千块周转」——声音、语气、口头禅都对，这通电话里唯一的假货，是声音本身。这样的能力已经不稀缺：2024 年初，香港一家公司的职员在深伪视频会议里被 AI 仿冒的高管骗走两亿港元；克隆一个声音，开源工具几分钟就能做到。但直到今天，通话进行中的那一刻，普通人可用的验真手段是零个。反诈法和深度合成管理规定都已施行，治理框架就位了，用户侧的工具还缺着——反诈的最后一公里，就在接听的那几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把刚才的场景收窄成一个问题：这一通电话里的声音，到底是不是 AI 合成的？声盾只回答这一个问题——不做通用鉴伪，不做换脸检测，也不做训练隐私。这个选题我们按学校近三年九件全国获奖作品的规律校准过：题目即卖点，指标可算，正处在反诈法与深度合成治理的双重风口上，小团队也能闭环交付。四条取向里最核心的是第一条——一件小事，做穿：通话级实时鉴伪这一条主线，贯穿检测、告警、存证；后面三条，分别讲方法、时机和可行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架构上先讲一个设计决定：浏览器先判一遍、服务端再核一遍，两端跑的是同一份 TypeScript 引擎。这样录音文件和实时通话的结论完全一致，客户端的结果还可以被独立复核——这是证据链能成立的技术前提。五层从上往下：采集层把麦克风、文件、现场合成统一成标准输入；第二层是全片最厚的检测引擎，八维特征、两秒窗一秒步进；往下是判决融合、存证业务和单页展示。右边回答评委最常问的落地问题：不要 GPU、一套语言栈、证据本地可审计。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擎这一页只讲一件事：八个特征，每一个都能回答为什么。重点是最左边自研的高频周期性——把谐波结构的掩蔽谱做反变换，在高频段按基音周期做自相关；声码器会把谐波延展到四到八千赫兹，自然人声那里几乎只有气息噪声，这道生理天花板很难伪装。它的类间分离度一点二八，拟合权重零点二八九，是全列表里贡献最大的一维。右边七个特征快速过一眼，都锚定物理差异；其中高频谱平坦度直觉上有效、实测被证伪，我们诚实地保留在列表里——下一页就讲这个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准四步过得快一点：构造样本、拟合自然先验、逻辑回归定权、两重验证，每一步都是脚本。这一页真正想讲的是下面这个对撞：校准中最有意思的一件事，是直觉被数据否决了。高频谱平坦度，文献和直觉都说它有效，实测类间分离度只有零点一，分不开自然与合成，拟合权重自己归了零；而我们自研的高频周期性，分离度一点二八，权重零点二八九，在数据上站住了。这就是先拟合、后信任的理由——全流程脚本化，样本扩展后可以一键重拟合，评委可以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测先报四个数：宽带条件下二十个合成样本全部检出，五个自然样本放行四个，实时因子零点零零三到零点零一五，端到端判决一秒以内。左边这张图是逐文件的置信度对比，自然类和合成类分得很开。同时把两条边界如实摆出来：窄带信道降到十六比二十，因为电话带宽直接抹掉了高频信息；五十段有声书误判了十段，录音棚级的干净人声跟轻量特征有耦合——这不是遮掩的问题，它正是我们启动深度引擎的直接动机。口径三层齐备，扩展测试集两百一十条判决，细节都在测试报告里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只讲透一个：把检测搬进通话里。既有研究和同方向获奖作品做的都是事后检测一段文件，而声盾的滑窗流式管线是边通话、边判决、检出即告警——提前一分钟的告警，可能就直接拦下一笔转账，这是这个题目真正的价值所在。右边三个副点各服务主点：可解释引擎加数据校准，让结论可信；检测、告警、存证、报告的闭环，让结论可用，无须二次加工就能进入举报协查；双哈希锚定，让今天的现场演示可验——音频确由平台现场生成，无法事后构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环节就三步，配合上面这张工作台截图先指认一下界面。第一步，现场合成挑战：请评委任意输入一段文本，服务端当场把它合成为诈骗话术语音；第二步，实时鉴听：外放的同时开启鉴听，波形滚动、置信度逐窗刷新，检出高置信片段会有红色告警和提示音；第三步，存证与报告：SHA-256 自动固定，生成案件编号，导出带时间轴和逐窗明细的核验报告。整个过程不依赖任何预置素材——文本是评委给的，音频是现场生成的。待会儿欢迎各位亲手出题。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致敬：谛听和白泽都是值得尊敬的作品，差异不在高下，在切入点——它们做的是事后的文件，声盾做的是进行中的通话。表格竖着读最有感的是两行：检测对象，从离线文件到实时语音流；部署要求，从服务器 GPU 到普通 CPU、浏览器即可。我们不是要替代它们——谛听用的 AASIST 和 RawGAT-ST 已经列入我们的十二周计划，那是站在这些作品的肩膀上，把窄带和有声书这两个已知边界补上。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前景不从功能清单讲起，先想一位具体用户：王阿姨接到「儿子」的电话，声音一模一样，开口就要钱。如果她手机里装着声盾——接通后几秒界面亮起黄色提示；她挂断前，证据已固定、编号已生成，报告可以一键转给子女或者反诈专线。适老化不是做缩小版，是大字号、高对比、语音播报。机构侧有银行、反诈中心、内容平台三个具体接入位，治理侧对应反诈法和深度合成规定。最后照例说清楚边界：声盾是辅助验真，结论带置信度，不构成执法结论——这句话本身就是我们可信度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最后是十二周计划，先说清路线逻辑：轻量可解释引擎是第一阶段的诚实交付，深度引擎不是推翻它，而是把有声书误判和窄带退化这两个已知边界补上。五个阶段各点一句交付物：前两周复现 AASIST 基线，拿到同量级 EER，作为工程正确性的锚点；三到五周做 RawGAT-ST 加软投票融合，交消融表；六到七周 ONNX 轻量化，交 RTF 小于一的实测；第十周跨信道评测，自建八千赫兹窄带子集；最后两周联调答辩。架构已经预留了 ONNX 替换接口，业务层零改动。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收个尾。做这个作品的过程中我们反复想的，其实就是一句话：下一次接到「熟人」来电，希望几秒钟后，你手里能有一个可以相信的答案。右上角这个案件号 SS-20261028-0003，是今天答辩现场生成并检出的真实案例，双哈希入库，随时可查——待会儿演示环节生成的每一件证据都同样可复核。引擎和测试代码会随作品一起提交。我们的汇报到这里，谢谢各位评委，恳请批评指正——演示环节现在就可以开始，欢迎出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5786438" y="0"/>
            <a:ext cx="3357563" cy="13573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38" y="0"/>
            <a:ext cx="3357563" cy="13573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307181"/>
            <a:ext cx="7806891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20" kern="0" dirty="0">
                <a:solidFill>
                  <a:srgbClr val="EFEBDD">
                    <a:alpha val="5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全国大学生信息安全竞赛 · 作品赛 · 应用安全（内容安全）</a:t>
            </a:r>
            <a:endParaRPr lang="en-US" sz="703" dirty="0"/>
          </a:p>
        </p:txBody>
      </p:sp>
      <p:sp>
        <p:nvSpPr>
          <p:cNvPr id="5" name="Text 2"/>
          <p:cNvSpPr/>
          <p:nvPr/>
        </p:nvSpPr>
        <p:spPr>
          <a:xfrm>
            <a:off x="8300207" y="300038"/>
            <a:ext cx="47064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EFEBDD">
                    <a:alpha val="58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2026.10</a:t>
            </a:r>
            <a:endParaRPr lang="en-US" sz="703" dirty="0"/>
          </a:p>
        </p:txBody>
      </p:sp>
      <p:sp>
        <p:nvSpPr>
          <p:cNvPr id="6" name="Text 3"/>
          <p:cNvSpPr/>
          <p:nvPr/>
        </p:nvSpPr>
        <p:spPr>
          <a:xfrm>
            <a:off x="514350" y="1057275"/>
            <a:ext cx="6739509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SHIELDEAR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316236"/>
            <a:ext cx="7543800" cy="94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16"/>
              </a:lnSpc>
              <a:buNone/>
            </a:pPr>
            <a:r>
              <a:rPr lang="en-US" sz="6525" b="1" spc="261" kern="0" dirty="0">
                <a:solidFill>
                  <a:srgbClr val="F2EFE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声盾</a:t>
            </a:r>
            <a:endParaRPr lang="en-US" sz="6525" dirty="0"/>
          </a:p>
        </p:txBody>
      </p:sp>
      <p:sp>
        <p:nvSpPr>
          <p:cNvPr id="8" name="Text 5"/>
          <p:cNvSpPr/>
          <p:nvPr/>
        </p:nvSpPr>
        <p:spPr>
          <a:xfrm>
            <a:off x="514350" y="2394607"/>
            <a:ext cx="2571750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4350" y="2630351"/>
            <a:ext cx="4714875" cy="61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5"/>
              </a:lnSpc>
              <a:buNone/>
            </a:pPr>
            <a:r>
              <a:rPr lang="en-US" sz="1294" dirty="0">
                <a:solidFill>
                  <a:srgbClr val="EF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接起电话的那一刻，</a:t>
            </a:r>
            <a:endParaRPr lang="en-US" sz="1294" dirty="0"/>
          </a:p>
          <a:p>
            <a:pPr algn="l" indent="0" marL="0">
              <a:lnSpc>
                <a:spcPts val="2225"/>
              </a:lnSpc>
              <a:buNone/>
            </a:pPr>
            <a:r>
              <a:rPr lang="en-US" sz="1294" dirty="0">
                <a:solidFill>
                  <a:srgbClr val="EF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普通人也需要一个</a:t>
            </a:r>
            <a:pPr algn="l" indent="0" marL="0">
              <a:lnSpc>
                <a:spcPts val="2225"/>
              </a:lnSpc>
              <a:buNone/>
            </a:pPr>
            <a:r>
              <a:rPr lang="en-US" sz="1294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验真声音</a:t>
            </a:r>
            <a:pPr algn="l" indent="0" marL="0">
              <a:lnSpc>
                <a:spcPts val="2225"/>
              </a:lnSpc>
              <a:buNone/>
            </a:pPr>
            <a:r>
              <a:rPr lang="en-US" sz="1294" dirty="0">
                <a:solidFill>
                  <a:srgbClr val="EF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的办法。</a:t>
            </a:r>
            <a:endParaRPr lang="en-US" sz="1294" dirty="0"/>
          </a:p>
        </p:txBody>
      </p:sp>
      <p:sp>
        <p:nvSpPr>
          <p:cNvPr id="10" name="Text 7"/>
          <p:cNvSpPr/>
          <p:nvPr/>
        </p:nvSpPr>
        <p:spPr>
          <a:xfrm>
            <a:off x="514350" y="3295390"/>
            <a:ext cx="5092065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EFEBDD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EFEBDD">
                    <a:alpha val="6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EFEBDD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语音克隆诈骗的实时鉴伪反诈平台——边通话、边检测、边存证。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4996718" y="3543300"/>
            <a:ext cx="148590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</a:t>
            </a:r>
            <a:pPr algn="r" indent="0" marL="0">
              <a:lnSpc>
                <a:spcPts val="2363"/>
              </a:lnSpc>
              <a:buNone/>
            </a:pPr>
            <a:r>
              <a:rPr lang="en-US" sz="1463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/20</a:t>
            </a:r>
            <a:endParaRPr lang="en-US" sz="2363" dirty="0"/>
          </a:p>
        </p:txBody>
      </p:sp>
      <p:sp>
        <p:nvSpPr>
          <p:cNvPr id="12" name="Text 9"/>
          <p:cNvSpPr/>
          <p:nvPr/>
        </p:nvSpPr>
        <p:spPr>
          <a:xfrm>
            <a:off x="5553931" y="3914775"/>
            <a:ext cx="9286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宽带合成语音盲测满分</a:t>
            </a:r>
            <a:endParaRPr lang="en-US" sz="703" dirty="0"/>
          </a:p>
          <a:p>
            <a:pPr algn="r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</a:t>
            </a:r>
            <a:pPr algn="r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FEBDD">
                    <a:alpha val="62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n=20</a:t>
            </a:r>
            <a:pPr algn="r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全检出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6401693" y="3543300"/>
            <a:ext cx="1206401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0.015</a:t>
            </a:r>
            <a:endParaRPr lang="en-US" sz="2363" dirty="0"/>
          </a:p>
        </p:txBody>
      </p:sp>
      <p:sp>
        <p:nvSpPr>
          <p:cNvPr id="14" name="Text 11"/>
          <p:cNvSpPr/>
          <p:nvPr/>
        </p:nvSpPr>
        <p:spPr>
          <a:xfrm>
            <a:off x="6854093" y="3914775"/>
            <a:ext cx="754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峰值实时因子 </a:t>
            </a:r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endParaRPr lang="en-US" sz="703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</a:t>
            </a:r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可达</a:t>
            </a:r>
            <a:endParaRPr lang="en-US" sz="703" dirty="0"/>
          </a:p>
        </p:txBody>
      </p:sp>
      <p:sp>
        <p:nvSpPr>
          <p:cNvPr id="15" name="Text 12"/>
          <p:cNvSpPr/>
          <p:nvPr/>
        </p:nvSpPr>
        <p:spPr>
          <a:xfrm>
            <a:off x="7602522" y="3543300"/>
            <a:ext cx="1027128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63"/>
              </a:lnSpc>
              <a:buNone/>
            </a:pPr>
            <a:r>
              <a:rPr lang="en-US" sz="2363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≤1s</a:t>
            </a:r>
            <a:endParaRPr lang="en-US" sz="2363" dirty="0"/>
          </a:p>
        </p:txBody>
      </p:sp>
      <p:sp>
        <p:nvSpPr>
          <p:cNvPr id="16" name="Text 13"/>
          <p:cNvSpPr/>
          <p:nvPr/>
        </p:nvSpPr>
        <p:spPr>
          <a:xfrm>
            <a:off x="7979569" y="3914775"/>
            <a:ext cx="650081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端到端判决时延</a:t>
            </a:r>
            <a:endParaRPr lang="en-US" sz="703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EFEBDD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窗口步进主导</a:t>
            </a:r>
            <a:endParaRPr lang="en-US" sz="703" dirty="0"/>
          </a:p>
        </p:txBody>
      </p:sp>
      <p:sp>
        <p:nvSpPr>
          <p:cNvPr id="17" name="Shape 14"/>
          <p:cNvSpPr/>
          <p:nvPr/>
        </p:nvSpPr>
        <p:spPr>
          <a:xfrm>
            <a:off x="514350" y="4537732"/>
            <a:ext cx="8115300" cy="0"/>
          </a:xfrm>
          <a:prstGeom prst="line">
            <a:avLst/>
          </a:prstGeom>
          <a:noFill/>
          <a:ln w="7144">
            <a:solidFill>
              <a:srgbClr val="2E4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4350" y="4655604"/>
            <a:ext cx="754380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EFEBDD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参赛团队：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2EFE7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【团队名称】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EFEBDD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答辩人：【成员姓名】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8019306" y="4677035"/>
            <a:ext cx="663476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EFEBDD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大连理工大学</a:t>
            </a:r>
            <a:endParaRPr lang="en-US" sz="70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C9D2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7" name="Text 5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1408100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78644"/>
            <a:ext cx="3946922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诈骗话术，已经可以整段合成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3729038" y="742950"/>
            <a:ext cx="495776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084957"/>
            <a:ext cx="6300788" cy="82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4"/>
              </a:lnSpc>
              <a:buNone/>
            </a:pPr>
            <a:r>
              <a:rPr lang="en-US" sz="1688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「妈，是我啊，手机摔坏了，这是同学的号。</a:t>
            </a:r>
            <a:endParaRPr lang="en-US" sz="1688" dirty="0"/>
          </a:p>
          <a:p>
            <a:pPr algn="l" indent="0" marL="0">
              <a:lnSpc>
                <a:spcPts val="3004"/>
              </a:lnSpc>
              <a:buNone/>
            </a:pPr>
            <a:r>
              <a:rPr lang="en-US" sz="1688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急需</a:t>
            </a:r>
            <a:pPr algn="l" indent="0" marL="0">
              <a:lnSpc>
                <a:spcPts val="3004"/>
              </a:lnSpc>
              <a:buNone/>
            </a:pPr>
            <a:r>
              <a:rPr lang="en-US" sz="1688" b="1" dirty="0">
                <a:solidFill>
                  <a:srgbClr val="B14A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八千块</a:t>
            </a:r>
            <a:pPr algn="l" indent="0" marL="0">
              <a:lnSpc>
                <a:spcPts val="3004"/>
              </a:lnSpc>
              <a:buNone/>
            </a:pPr>
            <a:r>
              <a:rPr lang="en-US" sz="1688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周转，先别告诉我爸……」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457200" y="1990651"/>
            <a:ext cx="6300788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声音、语气、口头禅，都对——这通电话里唯一的假货，是声音本身。我们防备陌生人，却对「熟悉的声音」天然卸下防备； 下面三件事，决定了这道题已经轮到用户侧来解。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57200" y="2683594"/>
            <a:ext cx="8229600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2890763"/>
            <a:ext cx="3792474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B14A3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B1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亿港元</a:t>
            </a:r>
            <a:endParaRPr lang="en-US" sz="1913" dirty="0"/>
          </a:p>
        </p:txBody>
      </p:sp>
      <p:sp>
        <p:nvSpPr>
          <p:cNvPr id="26" name="Text 24"/>
          <p:cNvSpPr/>
          <p:nvPr/>
        </p:nvSpPr>
        <p:spPr>
          <a:xfrm>
            <a:off x="457200" y="3205088"/>
            <a:ext cx="2400300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2024</a:t>
            </a:r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年香港深伪视频会议诈骗案——</a:t>
            </a:r>
            <a:endParaRPr lang="en-US" sz="844" dirty="0"/>
          </a:p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职员被 </a:t>
            </a:r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仿冒的「高管」骗走转账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3371850" y="2890763"/>
            <a:ext cx="3792474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分钟级</a:t>
            </a:r>
            <a:endParaRPr lang="en-US" sz="1913" dirty="0"/>
          </a:p>
        </p:txBody>
      </p:sp>
      <p:sp>
        <p:nvSpPr>
          <p:cNvPr id="28" name="Text 26"/>
          <p:cNvSpPr/>
          <p:nvPr/>
        </p:nvSpPr>
        <p:spPr>
          <a:xfrm>
            <a:off x="3371850" y="3205088"/>
            <a:ext cx="2400300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克隆一个声音所需的采样时长——</a:t>
            </a:r>
            <a:endParaRPr lang="en-US" sz="844" dirty="0"/>
          </a:p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开源工具与商业服务均已消费级化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286500" y="2890763"/>
            <a:ext cx="2857500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个</a:t>
            </a:r>
            <a:endParaRPr lang="en-US" sz="1913" dirty="0"/>
          </a:p>
        </p:txBody>
      </p:sp>
      <p:sp>
        <p:nvSpPr>
          <p:cNvPr id="30" name="Text 28"/>
          <p:cNvSpPr/>
          <p:nvPr/>
        </p:nvSpPr>
        <p:spPr>
          <a:xfrm>
            <a:off x="6286500" y="3205088"/>
            <a:ext cx="2400300" cy="38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通话进行中普通人可用的验真手段——</a:t>
            </a:r>
            <a:endParaRPr lang="en-US" sz="844" dirty="0"/>
          </a:p>
          <a:p>
            <a:pPr algn="l" indent="0" marL="0">
              <a:lnSpc>
                <a:spcPts val="141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这就是我们要补上的位置</a:t>
            </a:r>
            <a:endParaRPr lang="en-US" sz="844" dirty="0"/>
          </a:p>
        </p:txBody>
      </p:sp>
      <p:sp>
        <p:nvSpPr>
          <p:cNvPr id="31" name="Shape 29"/>
          <p:cNvSpPr/>
          <p:nvPr/>
        </p:nvSpPr>
        <p:spPr>
          <a:xfrm>
            <a:off x="457200" y="4527240"/>
            <a:ext cx="8229600" cy="0"/>
          </a:xfrm>
          <a:prstGeom prst="line">
            <a:avLst/>
          </a:prstGeom>
          <a:noFill/>
          <a:ln w="7144">
            <a:solidFill>
              <a:srgbClr val="C9D2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02262"/>
            <a:ext cx="5643228" cy="15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《反电信网络诈骗法》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2022.12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施行 · 《互联网信息服务深度合成管理规定》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2023.01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施行——治理框架已就位，用户侧工具仍缺位</a:t>
            </a:r>
            <a:endParaRPr lang="en-US" sz="703" dirty="0"/>
          </a:p>
        </p:txBody>
      </p:sp>
      <p:sp>
        <p:nvSpPr>
          <p:cNvPr id="33" name="Text 31"/>
          <p:cNvSpPr/>
          <p:nvPr/>
        </p:nvSpPr>
        <p:spPr>
          <a:xfrm>
            <a:off x="6243303" y="4637968"/>
            <a:ext cx="2443497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反诈的最后一公里，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就在接听的那几秒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。</a:t>
            </a:r>
            <a:endParaRPr lang="en-US" sz="10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C9D2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7" name="Text 5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2112206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64356"/>
            <a:ext cx="3036094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把场景收窄成一个问句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3000375" y="728663"/>
            <a:ext cx="568642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099245"/>
            <a:ext cx="8229600" cy="95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这一通电话里的声音，</a:t>
            </a:r>
            <a:endParaRPr lang="en-US" sz="2250" dirty="0"/>
          </a:p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到底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是不是 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合成的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？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457200" y="2142232"/>
            <a:ext cx="6715125" cy="73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声盾只回答这一个问题——不做通用鉴伪、不做换脸检测、不做训练隐私。选题以大连理工大学 </a:t>
            </a:r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2022–2024</a:t>
            </a:r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年九件全国获奖作品（含国家一等奖 </a:t>
            </a:r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件）的规律校准，评委三秒能懂； 差异化三件套是</a:t>
            </a:r>
            <a:pPr algn="l" indent="0" marL="0">
              <a:lnSpc>
                <a:spcPts val="1792"/>
              </a:lnSpc>
              <a:buNone/>
            </a:pPr>
            <a:r>
              <a:rPr lang="en-US" sz="984" b="1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实时流式、轻量可解释、反诈存证闭环</a:t>
            </a:r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，其余能力一概克制，留给后续路线。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57200" y="3566406"/>
            <a:ext cx="8229600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3759287"/>
            <a:ext cx="2928509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一件小事，做穿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457200" y="4036219"/>
            <a:ext cx="2287898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题目即卖点：通话级实时鉴伪，</a:t>
            </a:r>
            <a:endParaRPr lang="en-US" sz="844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一条主线贯穿检测、告警、存证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3030848" y="3759287"/>
            <a:ext cx="267787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指标可算</a:t>
            </a:r>
            <a:endParaRPr lang="en-US" sz="1069" dirty="0"/>
          </a:p>
        </p:txBody>
      </p:sp>
      <p:sp>
        <p:nvSpPr>
          <p:cNvPr id="28" name="Text 26"/>
          <p:cNvSpPr/>
          <p:nvPr/>
        </p:nvSpPr>
        <p:spPr>
          <a:xfrm>
            <a:off x="3030848" y="4036219"/>
            <a:ext cx="1694855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用公开数据集与实测口径说话，</a:t>
            </a:r>
            <a:endParaRPr lang="en-US" sz="844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不靠演示效果自证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5011452" y="3759287"/>
            <a:ext cx="2677694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风口之上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5011452" y="4036219"/>
            <a:ext cx="1694743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反诈法与深度合成治理双支点，</a:t>
            </a:r>
            <a:endParaRPr lang="en-US" sz="844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属应用安全（内容安全）正题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6991945" y="3759287"/>
            <a:ext cx="2152055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三两人，闭环</a:t>
            </a:r>
            <a:endParaRPr lang="en-US" sz="1069" dirty="0"/>
          </a:p>
        </p:txBody>
      </p:sp>
      <p:sp>
        <p:nvSpPr>
          <p:cNvPr id="32" name="Text 30"/>
          <p:cNvSpPr/>
          <p:nvPr/>
        </p:nvSpPr>
        <p:spPr>
          <a:xfrm>
            <a:off x="6991945" y="4036219"/>
            <a:ext cx="1694855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轻量架构让小团队也能交付</a:t>
            </a:r>
            <a:endParaRPr lang="en-US" sz="844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可运行的完整作品</a:t>
            </a:r>
            <a:endParaRPr lang="en-US" sz="844" dirty="0"/>
          </a:p>
        </p:txBody>
      </p:sp>
      <p:sp>
        <p:nvSpPr>
          <p:cNvPr id="33" name="Shape 31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C9D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84179"/>
            <a:ext cx="7750969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四条取向按轻重排列：第一条是主线，后三条依次是方法论、时机与可行性。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8175575" y="4705610"/>
            <a:ext cx="558105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收窄即聚焦</a:t>
            </a:r>
            <a:endParaRPr lang="en-US" sz="70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2816312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35781"/>
            <a:ext cx="5464969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一份引擎，跑在两端——谁也糊弄不了谁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4943475" y="700088"/>
            <a:ext cx="374332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942082"/>
            <a:ext cx="7358063" cy="48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浏览器先判一遍、服务端再核一遍，跑的是同一份 </a:t>
            </a:r>
            <a:pPr algn="l" indent="0" marL="0">
              <a:lnSpc>
                <a:spcPts val="175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algn="l" indent="0" marL="0">
              <a:lnSpc>
                <a:spcPts val="175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引擎：录音文件与实时通话的结论完全一致，客户端结果可被独立复核。 检测不快不行，存证不严不行——这两个要求，决定了下面五层。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1700213"/>
            <a:ext cx="5329238" cy="5483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1710928"/>
            <a:ext cx="5329238" cy="0"/>
          </a:xfrm>
          <a:prstGeom prst="line">
            <a:avLst/>
          </a:prstGeom>
          <a:noFill/>
          <a:ln w="21431">
            <a:solidFill>
              <a:srgbClr val="1B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2866" y="1700213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245035"/>
            <a:ext cx="5329238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772" y="1700213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219" y="1909167"/>
            <a:ext cx="29346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1544" y="1778794"/>
            <a:ext cx="4714875" cy="206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921544" y="2012863"/>
            <a:ext cx="42177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麦克风实时流（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AudioWorklet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16kHz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文件导入 ·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现场合成，统一为单声道标准输入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57200" y="2305757"/>
            <a:ext cx="5329238" cy="6251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7200" y="2316473"/>
            <a:ext cx="5329238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2866" y="2305757"/>
            <a:ext cx="0" cy="62519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927375"/>
            <a:ext cx="5329238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772" y="2305757"/>
            <a:ext cx="0" cy="62519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219" y="2553109"/>
            <a:ext cx="29346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21544" y="2412913"/>
            <a:ext cx="4519549" cy="220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检测引擎 </a:t>
            </a:r>
            <a:pPr algn="l" indent="0" marL="0">
              <a:lnSpc>
                <a:spcPts val="1731"/>
              </a:lnSpc>
              <a:buNone/>
            </a:pPr>
            <a:r>
              <a:rPr lang="en-US" sz="703" b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TS · 零依赖</a:t>
            </a:r>
            <a:endParaRPr lang="en-US" sz="1069" dirty="0"/>
          </a:p>
        </p:txBody>
      </p:sp>
      <p:sp>
        <p:nvSpPr>
          <p:cNvPr id="38" name="Text 36"/>
          <p:cNvSpPr/>
          <p:nvPr/>
        </p:nvSpPr>
        <p:spPr>
          <a:xfrm>
            <a:off x="921544" y="2661270"/>
            <a:ext cx="4304333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八维特征 +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2s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窗 /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步进 / 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50%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重叠滑窗——全片最厚的一层，左右两端跑的是同一份代码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457200" y="2988097"/>
            <a:ext cx="5329238" cy="5483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57200" y="2998812"/>
            <a:ext cx="5329238" cy="0"/>
          </a:xfrm>
          <a:prstGeom prst="line">
            <a:avLst/>
          </a:prstGeom>
          <a:noFill/>
          <a:ln w="21431">
            <a:solidFill>
              <a:srgbClr val="1B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82866" y="2988097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532919"/>
            <a:ext cx="5329238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772" y="2988097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219" y="3197051"/>
            <a:ext cx="29346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21544" y="3066678"/>
            <a:ext cx="4714875" cy="206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判决融合</a:t>
            </a:r>
            <a:endParaRPr lang="en-US" sz="1069" dirty="0"/>
          </a:p>
        </p:txBody>
      </p:sp>
      <p:sp>
        <p:nvSpPr>
          <p:cNvPr id="46" name="Text 44"/>
          <p:cNvSpPr/>
          <p:nvPr/>
        </p:nvSpPr>
        <p:spPr>
          <a:xfrm>
            <a:off x="921544" y="3300747"/>
            <a:ext cx="37357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中值滤波 + 指数平滑 + 能量加权整段判决；静音窗显式排除，不参与统计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57200" y="3593641"/>
            <a:ext cx="5329238" cy="5483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57200" y="3604357"/>
            <a:ext cx="5329238" cy="0"/>
          </a:xfrm>
          <a:prstGeom prst="line">
            <a:avLst/>
          </a:prstGeom>
          <a:noFill/>
          <a:ln w="21431">
            <a:solidFill>
              <a:srgbClr val="1B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82866" y="3593641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138464"/>
            <a:ext cx="5329238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0772" y="3593641"/>
            <a:ext cx="0" cy="548394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219" y="3802596"/>
            <a:ext cx="29346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21544" y="3672222"/>
            <a:ext cx="3574668" cy="206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1069" dirty="0"/>
          </a:p>
        </p:txBody>
      </p:sp>
      <p:sp>
        <p:nvSpPr>
          <p:cNvPr id="54" name="Text 52"/>
          <p:cNvSpPr/>
          <p:nvPr/>
        </p:nvSpPr>
        <p:spPr>
          <a:xfrm>
            <a:off x="921544" y="3906292"/>
            <a:ext cx="2443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证据固定 · 案件入库 · 可导出核验报告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457200" y="4199186"/>
            <a:ext cx="5329238" cy="51981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57200" y="4209901"/>
            <a:ext cx="5329238" cy="0"/>
          </a:xfrm>
          <a:prstGeom prst="line">
            <a:avLst/>
          </a:prstGeom>
          <a:noFill/>
          <a:ln w="21431">
            <a:solidFill>
              <a:srgbClr val="1B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82866" y="4199186"/>
            <a:ext cx="0" cy="51981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4715433"/>
            <a:ext cx="5329238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0772" y="4199186"/>
            <a:ext cx="0" cy="51981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7219" y="4393853"/>
            <a:ext cx="29346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21544" y="4263479"/>
            <a:ext cx="2878217" cy="206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1069" dirty="0"/>
          </a:p>
        </p:txBody>
      </p:sp>
      <p:sp>
        <p:nvSpPr>
          <p:cNvPr id="62" name="Text 60"/>
          <p:cNvSpPr/>
          <p:nvPr/>
        </p:nvSpPr>
        <p:spPr>
          <a:xfrm>
            <a:off x="921544" y="4497549"/>
            <a:ext cx="19127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单页应用零跳转，答辩演示全程不切屏</a:t>
            </a:r>
            <a:endParaRPr lang="en-US" sz="844" dirty="0"/>
          </a:p>
        </p:txBody>
      </p:sp>
      <p:sp>
        <p:nvSpPr>
          <p:cNvPr id="63" name="Text 61"/>
          <p:cNvSpPr/>
          <p:nvPr/>
        </p:nvSpPr>
        <p:spPr>
          <a:xfrm>
            <a:off x="6029325" y="1700213"/>
            <a:ext cx="2657475" cy="24111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6029325" y="1710928"/>
            <a:ext cx="2657475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3228" y="1700213"/>
            <a:ext cx="0" cy="2411127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29325" y="4107768"/>
            <a:ext cx="2657475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2897" y="1700213"/>
            <a:ext cx="0" cy="2411127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07919" y="1864519"/>
            <a:ext cx="2300288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为什么敢说「能落地」</a:t>
            </a:r>
            <a:endParaRPr lang="en-US" sz="1069" dirty="0"/>
          </a:p>
        </p:txBody>
      </p:sp>
      <p:sp>
        <p:nvSpPr>
          <p:cNvPr id="69" name="Text 67"/>
          <p:cNvSpPr/>
          <p:nvPr/>
        </p:nvSpPr>
        <p:spPr>
          <a:xfrm>
            <a:off x="6207919" y="2198601"/>
            <a:ext cx="2300287" cy="260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294" b="1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CPU</a:t>
            </a:r>
            <a:endParaRPr lang="en-US" sz="1294" dirty="0"/>
          </a:p>
        </p:txBody>
      </p:sp>
      <p:sp>
        <p:nvSpPr>
          <p:cNvPr id="70" name="Text 68"/>
          <p:cNvSpPr/>
          <p:nvPr/>
        </p:nvSpPr>
        <p:spPr>
          <a:xfrm>
            <a:off x="6207919" y="2486137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，浏览器与服务端皆可跑</a:t>
            </a:r>
            <a:endParaRPr lang="en-US" sz="844" dirty="0"/>
          </a:p>
        </p:txBody>
      </p:sp>
      <p:sp>
        <p:nvSpPr>
          <p:cNvPr id="71" name="Shape 69"/>
          <p:cNvSpPr/>
          <p:nvPr/>
        </p:nvSpPr>
        <p:spPr>
          <a:xfrm>
            <a:off x="6207919" y="2761171"/>
            <a:ext cx="2300288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07919" y="2850468"/>
            <a:ext cx="2300288" cy="260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TS</a:t>
            </a:r>
            <a:endParaRPr lang="en-US" sz="1294" dirty="0"/>
          </a:p>
        </p:txBody>
      </p:sp>
      <p:sp>
        <p:nvSpPr>
          <p:cNvPr id="73" name="Text 71"/>
          <p:cNvSpPr/>
          <p:nvPr/>
        </p:nvSpPr>
        <p:spPr>
          <a:xfrm>
            <a:off x="6207919" y="3138004"/>
            <a:ext cx="23002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一套语言栈贯穿前后端与引擎</a:t>
            </a:r>
            <a:endParaRPr lang="en-US" sz="844" dirty="0"/>
          </a:p>
        </p:txBody>
      </p:sp>
      <p:sp>
        <p:nvSpPr>
          <p:cNvPr id="74" name="Shape 72"/>
          <p:cNvSpPr/>
          <p:nvPr/>
        </p:nvSpPr>
        <p:spPr>
          <a:xfrm>
            <a:off x="6207919" y="3413038"/>
            <a:ext cx="2300288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07919" y="3502335"/>
            <a:ext cx="2300287" cy="260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94" dirty="0"/>
          </a:p>
        </p:txBody>
      </p:sp>
      <p:sp>
        <p:nvSpPr>
          <p:cNvPr id="76" name="Text 74"/>
          <p:cNvSpPr/>
          <p:nvPr/>
        </p:nvSpPr>
        <p:spPr>
          <a:xfrm>
            <a:off x="6207919" y="3789871"/>
            <a:ext cx="23002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案件与证据链本地落盘，可审计</a:t>
            </a:r>
            <a:endParaRPr lang="en-US" sz="844" dirty="0"/>
          </a:p>
        </p:txBody>
      </p:sp>
      <p:sp>
        <p:nvSpPr>
          <p:cNvPr id="77" name="Text 75"/>
          <p:cNvSpPr/>
          <p:nvPr/>
        </p:nvSpPr>
        <p:spPr>
          <a:xfrm>
            <a:off x="6029325" y="4197065"/>
            <a:ext cx="2657475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703" dirty="0"/>
          </a:p>
        </p:txBody>
      </p:sp>
      <p:sp>
        <p:nvSpPr>
          <p:cNvPr id="78" name="Shape 76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4684179"/>
            <a:ext cx="833932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同构引擎的价值：检测结论不因端而异——这是「证据链」成立的技术前提。</a:t>
            </a:r>
            <a:endParaRPr lang="en-US" sz="8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3520418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21494"/>
            <a:ext cx="5161359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八个特征，每一个都能回答「为什么」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4700588" y="685800"/>
            <a:ext cx="398621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ENGINE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920651"/>
            <a:ext cx="7572375" cy="23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每一维都锚定「人怎么发声」与「声码器怎么生成」的物理差异——判决依据逐特征可追溯，第三方可复算，不依赖黑盒打分。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1543050"/>
            <a:ext cx="3357563" cy="2914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1553766"/>
            <a:ext cx="3357563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1191" y="1543050"/>
            <a:ext cx="0" cy="291465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54128"/>
            <a:ext cx="3357563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772" y="1543050"/>
            <a:ext cx="0" cy="291465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369" y="1735931"/>
            <a:ext cx="294322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自研 · 分离度最高的一维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664369" y="1966317"/>
            <a:ext cx="2943225" cy="287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高频周期性</a:t>
            </a:r>
            <a:endParaRPr lang="en-US" sz="1294" dirty="0"/>
          </a:p>
        </p:txBody>
      </p:sp>
      <p:sp>
        <p:nvSpPr>
          <p:cNvPr id="30" name="Text 28"/>
          <p:cNvSpPr/>
          <p:nvPr/>
        </p:nvSpPr>
        <p:spPr>
          <a:xfrm>
            <a:off x="664369" y="2318147"/>
            <a:ext cx="2943225" cy="60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掩蔽谱 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取高频段信号，在基音周期处做自相关。声码器会把谐波结构延展到 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4–8 kHz</a:t>
            </a:r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，而自然人声的高频几乎只有气息噪声—— 这道「生理天花板」，合成器很难伪装。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633626" y="3805833"/>
            <a:ext cx="878910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1.28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64369" y="4134445"/>
            <a:ext cx="8072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</a:t>
            </a:r>
            <a:endParaRPr lang="en-US" sz="703" dirty="0"/>
          </a:p>
        </p:txBody>
      </p:sp>
      <p:sp>
        <p:nvSpPr>
          <p:cNvPr id="33" name="Text 31"/>
          <p:cNvSpPr/>
          <p:nvPr/>
        </p:nvSpPr>
        <p:spPr>
          <a:xfrm>
            <a:off x="1489583" y="3805833"/>
            <a:ext cx="131570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0.289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481138" y="4134445"/>
            <a:ext cx="98064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拟合权重 · 显著贡献</a:t>
            </a:r>
            <a:endParaRPr lang="en-US" sz="703" dirty="0"/>
          </a:p>
        </p:txBody>
      </p:sp>
      <p:sp>
        <p:nvSpPr>
          <p:cNvPr id="35" name="Shape 33"/>
          <p:cNvSpPr/>
          <p:nvPr/>
        </p:nvSpPr>
        <p:spPr>
          <a:xfrm>
            <a:off x="4114800" y="1575197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1643063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高频能量占比 </a:t>
            </a:r>
            <a:pPr algn="l" indent="0" marL="0">
              <a:lnSpc>
                <a:spcPts val="1595"/>
              </a:lnSpc>
              <a:buNone/>
            </a:pPr>
            <a:r>
              <a:rPr lang="en-US" sz="800" b="1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&gt;3.25 kHz</a:t>
            </a:r>
            <a:endParaRPr lang="en-US" sz="984" dirty="0"/>
          </a:p>
        </p:txBody>
      </p:sp>
      <p:sp>
        <p:nvSpPr>
          <p:cNvPr id="37" name="Text 35"/>
          <p:cNvSpPr/>
          <p:nvPr/>
        </p:nvSpPr>
        <p:spPr>
          <a:xfrm>
            <a:off x="4114800" y="1874118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梅尔谱声码器的高频能量分布系统性偏移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4114800" y="2229185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297050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谐波规整度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4114800" y="2528106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自然嗓音的谐波纯度随生理动态起伏，合成语音异常规整</a:t>
            </a:r>
            <a:endParaRPr lang="en-US" sz="844" dirty="0"/>
          </a:p>
        </p:txBody>
      </p:sp>
      <p:sp>
        <p:nvSpPr>
          <p:cNvPr id="41" name="Shape 39"/>
          <p:cNvSpPr/>
          <p:nvPr/>
        </p:nvSpPr>
        <p:spPr>
          <a:xfrm>
            <a:off x="4114800" y="3054623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3122488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基音微扰</a:t>
            </a:r>
            <a:endParaRPr lang="en-US" sz="984" dirty="0"/>
          </a:p>
        </p:txBody>
      </p:sp>
      <p:sp>
        <p:nvSpPr>
          <p:cNvPr id="43" name="Text 41"/>
          <p:cNvSpPr/>
          <p:nvPr/>
        </p:nvSpPr>
        <p:spPr>
          <a:xfrm>
            <a:off x="4114800" y="3353544"/>
            <a:ext cx="2143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自然声带的生理性抖动，对声码器的周期稳定度</a:t>
            </a:r>
            <a:endParaRPr lang="en-US" sz="844" dirty="0"/>
          </a:p>
        </p:txBody>
      </p:sp>
      <p:sp>
        <p:nvSpPr>
          <p:cNvPr id="44" name="Shape 42"/>
          <p:cNvSpPr/>
          <p:nvPr/>
        </p:nvSpPr>
        <p:spPr>
          <a:xfrm>
            <a:off x="4114800" y="3880061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3947926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过零率波动度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4114800" y="4178982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辅音元音交替的自然波动与合成稳定性之差</a:t>
            </a:r>
            <a:endParaRPr lang="en-US" sz="844" dirty="0"/>
          </a:p>
        </p:txBody>
      </p:sp>
      <p:sp>
        <p:nvSpPr>
          <p:cNvPr id="47" name="Shape 45"/>
          <p:cNvSpPr/>
          <p:nvPr/>
        </p:nvSpPr>
        <p:spPr>
          <a:xfrm>
            <a:off x="6543675" y="1575197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3675" y="1643063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嗓音动力波动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6543675" y="1874118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重音与气息的动力变化，对合成的均匀性</a:t>
            </a:r>
            <a:endParaRPr lang="en-US" sz="844" dirty="0"/>
          </a:p>
        </p:txBody>
      </p:sp>
      <p:sp>
        <p:nvSpPr>
          <p:cNvPr id="50" name="Shape 48"/>
          <p:cNvSpPr/>
          <p:nvPr/>
        </p:nvSpPr>
        <p:spPr>
          <a:xfrm>
            <a:off x="6543675" y="2294260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3675" y="2362126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谱通量波动度</a:t>
            </a:r>
            <a:endParaRPr lang="en-US" sz="984" dirty="0"/>
          </a:p>
        </p:txBody>
      </p:sp>
      <p:sp>
        <p:nvSpPr>
          <p:cNvPr id="52" name="Text 50"/>
          <p:cNvSpPr/>
          <p:nvPr/>
        </p:nvSpPr>
        <p:spPr>
          <a:xfrm>
            <a:off x="6543675" y="2593181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神经声码器帧边界的微观不连续指纹</a:t>
            </a:r>
            <a:endParaRPr lang="en-US" sz="844" dirty="0"/>
          </a:p>
        </p:txBody>
      </p:sp>
      <p:sp>
        <p:nvSpPr>
          <p:cNvPr id="53" name="Shape 51"/>
          <p:cNvSpPr/>
          <p:nvPr/>
        </p:nvSpPr>
        <p:spPr>
          <a:xfrm>
            <a:off x="6543675" y="3013323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3675" y="3081189"/>
            <a:ext cx="2143125" cy="203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高频谱平坦度 </a:t>
            </a:r>
            <a:pPr algn="l" indent="0" marL="0">
              <a:lnSpc>
                <a:spcPts val="1595"/>
              </a:lnSpc>
              <a:buNone/>
            </a:pPr>
            <a:r>
              <a:rPr lang="en-US" sz="800" b="1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4–8 kHz</a:t>
            </a:r>
            <a:endParaRPr lang="en-US" sz="984" dirty="0"/>
          </a:p>
        </p:txBody>
      </p:sp>
      <p:sp>
        <p:nvSpPr>
          <p:cNvPr id="55" name="Text 53"/>
          <p:cNvSpPr/>
          <p:nvPr/>
        </p:nvSpPr>
        <p:spPr>
          <a:xfrm>
            <a:off x="6543675" y="3312244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直觉上有效，实测被证伪（见下一页）——诚实保留在列表里</a:t>
            </a:r>
            <a:endParaRPr lang="en-US" sz="844" dirty="0"/>
          </a:p>
        </p:txBody>
      </p:sp>
      <p:sp>
        <p:nvSpPr>
          <p:cNvPr id="56" name="Shape 54"/>
          <p:cNvSpPr/>
          <p:nvPr/>
        </p:nvSpPr>
        <p:spPr>
          <a:xfrm>
            <a:off x="6543675" y="3903836"/>
            <a:ext cx="2143125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43675" y="3971702"/>
            <a:ext cx="214312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全部先验按信道分别拟合：宽带与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300–3400Hz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窄带各自一套参数</a:t>
            </a:r>
            <a:endParaRPr lang="en-US" sz="844" dirty="0"/>
          </a:p>
        </p:txBody>
      </p:sp>
      <p:sp>
        <p:nvSpPr>
          <p:cNvPr id="58" name="Shape 56"/>
          <p:cNvSpPr/>
          <p:nvPr/>
        </p:nvSpPr>
        <p:spPr>
          <a:xfrm>
            <a:off x="457200" y="4534384"/>
            <a:ext cx="82296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680831"/>
            <a:ext cx="5500353" cy="176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同一特征集宽带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 / 窄带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维，随信道自适应</a:t>
            </a:r>
            <a:endParaRPr lang="en-US" sz="844" dirty="0"/>
          </a:p>
        </p:txBody>
      </p:sp>
      <p:sp>
        <p:nvSpPr>
          <p:cNvPr id="60" name="Text 58"/>
          <p:cNvSpPr/>
          <p:nvPr/>
        </p:nvSpPr>
        <p:spPr>
          <a:xfrm>
            <a:off x="5971840" y="4637968"/>
            <a:ext cx="2714960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可解释不是口号：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每个判决都能拆到物理层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。</a:t>
            </a:r>
            <a:endParaRPr lang="en-US" sz="10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10" name="Text 8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4224524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21494"/>
            <a:ext cx="588645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权重不是拍的，是拟合出来的——还被数据推翻过一次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6400800" y="685800"/>
            <a:ext cx="22860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999232"/>
            <a:ext cx="272053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186755"/>
            <a:ext cx="3007137" cy="210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构造样本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57200" y="1424955"/>
            <a:ext cx="1903251" cy="37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种公开人声 ·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音色 ×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文本；均再造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300–3400Hz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窄带版</a:t>
            </a:r>
            <a:endParaRPr lang="en-US" sz="844" dirty="0"/>
          </a:p>
        </p:txBody>
      </p:sp>
      <p:sp>
        <p:nvSpPr>
          <p:cNvPr id="25" name="Shape 23"/>
          <p:cNvSpPr/>
          <p:nvPr/>
        </p:nvSpPr>
        <p:spPr>
          <a:xfrm>
            <a:off x="2549761" y="999232"/>
            <a:ext cx="0" cy="772864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39070" y="999232"/>
            <a:ext cx="1730127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39070" y="1186755"/>
            <a:ext cx="1730127" cy="210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拟合自然先验</a:t>
            </a:r>
            <a:endParaRPr lang="en-US" sz="984" dirty="0"/>
          </a:p>
        </p:txBody>
      </p:sp>
      <p:sp>
        <p:nvSpPr>
          <p:cNvPr id="28" name="Text 26"/>
          <p:cNvSpPr/>
          <p:nvPr/>
        </p:nvSpPr>
        <p:spPr>
          <a:xfrm>
            <a:off x="2739070" y="1424955"/>
            <a:ext cx="173012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按信道取自然类各特征均值 / 标准差，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分数即偏离自然语音的程度</a:t>
            </a:r>
            <a:endParaRPr lang="en-US" sz="844" dirty="0"/>
          </a:p>
        </p:txBody>
      </p:sp>
      <p:sp>
        <p:nvSpPr>
          <p:cNvPr id="29" name="Shape 27"/>
          <p:cNvSpPr/>
          <p:nvPr/>
        </p:nvSpPr>
        <p:spPr>
          <a:xfrm>
            <a:off x="4658506" y="999232"/>
            <a:ext cx="0" cy="772864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7816" y="999232"/>
            <a:ext cx="1730127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7816" y="1186755"/>
            <a:ext cx="1730127" cy="210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逻辑回归定权</a:t>
            </a:r>
            <a:endParaRPr lang="en-US" sz="984" dirty="0"/>
          </a:p>
        </p:txBody>
      </p:sp>
      <p:sp>
        <p:nvSpPr>
          <p:cNvPr id="32" name="Text 30"/>
          <p:cNvSpPr/>
          <p:nvPr/>
        </p:nvSpPr>
        <p:spPr>
          <a:xfrm>
            <a:off x="4847816" y="1424955"/>
            <a:ext cx="173012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类加权（自然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L2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正则，梯度下降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4000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轮</a:t>
            </a:r>
            <a:endParaRPr lang="en-US" sz="844" dirty="0"/>
          </a:p>
        </p:txBody>
      </p:sp>
      <p:sp>
        <p:nvSpPr>
          <p:cNvPr id="33" name="Shape 31"/>
          <p:cNvSpPr/>
          <p:nvPr/>
        </p:nvSpPr>
        <p:spPr>
          <a:xfrm>
            <a:off x="6767252" y="999232"/>
            <a:ext cx="0" cy="772864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56561" y="999232"/>
            <a:ext cx="1730127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56561" y="1186755"/>
            <a:ext cx="1730127" cy="210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两重验证</a:t>
            </a:r>
            <a:endParaRPr lang="en-US" sz="984" dirty="0"/>
          </a:p>
        </p:txBody>
      </p:sp>
      <p:sp>
        <p:nvSpPr>
          <p:cNvPr id="36" name="Text 34"/>
          <p:cNvSpPr/>
          <p:nvPr/>
        </p:nvSpPr>
        <p:spPr>
          <a:xfrm>
            <a:off x="6956561" y="1424955"/>
            <a:ext cx="173012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 + 自然类留一法（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）稳定性检验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457200" y="2357438"/>
            <a:ext cx="863600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校准中最有意思的一件事：直觉被数据否决了</a:t>
            </a:r>
            <a:endParaRPr lang="en-US" sz="1069" dirty="0"/>
          </a:p>
        </p:txBody>
      </p:sp>
      <p:sp>
        <p:nvSpPr>
          <p:cNvPr id="38" name="Text 36"/>
          <p:cNvSpPr/>
          <p:nvPr/>
        </p:nvSpPr>
        <p:spPr>
          <a:xfrm>
            <a:off x="457200" y="2691519"/>
            <a:ext cx="3886200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57200" y="2702235"/>
            <a:ext cx="3886200" cy="0"/>
          </a:xfrm>
          <a:prstGeom prst="line">
            <a:avLst/>
          </a:prstGeom>
          <a:noFill/>
          <a:ln w="21431">
            <a:solidFill>
              <a:srgbClr val="B14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39828" y="2691519"/>
            <a:ext cx="0" cy="1785938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473885"/>
            <a:ext cx="38862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772" y="2691519"/>
            <a:ext cx="0" cy="1785938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081" y="2855826"/>
            <a:ext cx="3500438" cy="18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B1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被证伪 · 高频谱平坦度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614678" y="3115121"/>
            <a:ext cx="1010746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B14A3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0.10</a:t>
            </a:r>
            <a:endParaRPr lang="en-US" sz="2588" dirty="0"/>
          </a:p>
        </p:txBody>
      </p:sp>
      <p:sp>
        <p:nvSpPr>
          <p:cNvPr id="45" name="Text 43"/>
          <p:cNvSpPr/>
          <p:nvPr/>
        </p:nvSpPr>
        <p:spPr>
          <a:xfrm>
            <a:off x="1351843" y="3272284"/>
            <a:ext cx="2798676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</a:t>
            </a:r>
            <a:endParaRPr lang="en-US" sz="844" dirty="0"/>
          </a:p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拟合权重自动趋零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650081" y="3690193"/>
            <a:ext cx="3610166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文献与直觉都说它有效；实测分不开自然与合成，权重自己归零。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504023" y="3474541"/>
            <a:ext cx="296577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对</a:t>
            </a:r>
            <a:endParaRPr lang="en-US" sz="1069" dirty="0"/>
          </a:p>
        </p:txBody>
      </p:sp>
      <p:sp>
        <p:nvSpPr>
          <p:cNvPr id="48" name="Text 46"/>
          <p:cNvSpPr/>
          <p:nvPr/>
        </p:nvSpPr>
        <p:spPr>
          <a:xfrm>
            <a:off x="4800600" y="2691519"/>
            <a:ext cx="3886200" cy="178593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800600" y="2702235"/>
            <a:ext cx="3886200" cy="0"/>
          </a:xfrm>
          <a:prstGeom prst="line">
            <a:avLst/>
          </a:prstGeom>
          <a:noFill/>
          <a:ln w="21431">
            <a:solidFill>
              <a:srgbClr val="2E7D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83228" y="2691519"/>
            <a:ext cx="0" cy="1785938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4473885"/>
            <a:ext cx="38862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4172" y="2691519"/>
            <a:ext cx="0" cy="1785938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3481" y="2855826"/>
            <a:ext cx="3500438" cy="18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被验证 · 高频周期性（自研）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4958078" y="3115121"/>
            <a:ext cx="1010746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2E7D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1.28</a:t>
            </a:r>
            <a:endParaRPr lang="en-US" sz="2588" dirty="0"/>
          </a:p>
        </p:txBody>
      </p:sp>
      <p:sp>
        <p:nvSpPr>
          <p:cNvPr id="55" name="Text 53"/>
          <p:cNvSpPr/>
          <p:nvPr/>
        </p:nvSpPr>
        <p:spPr>
          <a:xfrm>
            <a:off x="5695243" y="3272284"/>
            <a:ext cx="2798676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</a:t>
            </a:r>
            <a:endParaRPr lang="en-US" sz="844" dirty="0"/>
          </a:p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权重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0.289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显著贡献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4993481" y="3697337"/>
            <a:ext cx="3610165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自研特征反而在数据上站住了——这就是先拟合、后信任的理由。</a:t>
            </a:r>
            <a:endParaRPr lang="en-US" sz="844" dirty="0"/>
          </a:p>
        </p:txBody>
      </p:sp>
      <p:sp>
        <p:nvSpPr>
          <p:cNvPr id="57" name="Shape 55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DDD3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84179"/>
            <a:ext cx="585742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校准全流程脚本化，样本扩展后可一键重拟合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6328916" y="4712754"/>
            <a:ext cx="2467612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scripts/calibrate-engine.ts · fit-weights.ts</a:t>
            </a:r>
            <a:endParaRPr lang="en-US" sz="70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60502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4919365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07206"/>
            <a:ext cx="4250531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能检出的、检不出的，都摆出来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3971925" y="671513"/>
            <a:ext cx="471487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956370"/>
            <a:ext cx="954941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20/20</a:t>
            </a:r>
            <a:endParaRPr lang="en-US" sz="1913" dirty="0"/>
          </a:p>
        </p:txBody>
      </p:sp>
      <p:sp>
        <p:nvSpPr>
          <p:cNvPr id="23" name="Text 21"/>
          <p:cNvSpPr/>
          <p:nvPr/>
        </p:nvSpPr>
        <p:spPr>
          <a:xfrm>
            <a:off x="1139763" y="1042095"/>
            <a:ext cx="64293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宽带合成检出</a:t>
            </a:r>
            <a:endParaRPr lang="en-US" sz="844" dirty="0"/>
          </a:p>
          <a:p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TTS n=20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2178544" y="956370"/>
            <a:ext cx="569377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4/5</a:t>
            </a:r>
            <a:endParaRPr lang="en-US" sz="1913" dirty="0"/>
          </a:p>
        </p:txBody>
      </p:sp>
      <p:sp>
        <p:nvSpPr>
          <p:cNvPr id="25" name="Text 23"/>
          <p:cNvSpPr/>
          <p:nvPr/>
        </p:nvSpPr>
        <p:spPr>
          <a:xfrm>
            <a:off x="2619077" y="1042095"/>
            <a:ext cx="64293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自然语音放行</a:t>
            </a:r>
            <a:endParaRPr lang="en-US" sz="844" dirty="0"/>
          </a:p>
          <a:p>
            <a:pPr algn="l" indent="0" marL="0">
              <a:lnSpc>
                <a:spcPts val="1266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 n=</a:t>
            </a:r>
            <a:pPr algn="l" indent="0" marL="0">
              <a:lnSpc>
                <a:spcPts val="1266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3487592" y="956370"/>
            <a:ext cx="1893502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0.003–0.015</a:t>
            </a:r>
            <a:endParaRPr lang="en-US" sz="1913" dirty="0"/>
          </a:p>
        </p:txBody>
      </p:sp>
      <p:sp>
        <p:nvSpPr>
          <p:cNvPr id="27" name="Text 25"/>
          <p:cNvSpPr/>
          <p:nvPr/>
        </p:nvSpPr>
        <p:spPr>
          <a:xfrm>
            <a:off x="4983435" y="1042095"/>
            <a:ext cx="66481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实时因子</a:t>
            </a:r>
            <a:endParaRPr lang="en-US" sz="844" dirty="0"/>
          </a:p>
          <a:p>
            <a:pPr algn="l" indent="0" marL="0">
              <a:lnSpc>
                <a:spcPts val="1266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CPU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6048301" y="956370"/>
            <a:ext cx="545604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≤1s</a:t>
            </a:r>
            <a:endParaRPr lang="en-US" sz="1913" dirty="0"/>
          </a:p>
        </p:txBody>
      </p:sp>
      <p:sp>
        <p:nvSpPr>
          <p:cNvPr id="29" name="Text 27"/>
          <p:cNvSpPr/>
          <p:nvPr/>
        </p:nvSpPr>
        <p:spPr>
          <a:xfrm>
            <a:off x="6475028" y="1042095"/>
            <a:ext cx="557213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判决时延</a:t>
            </a:r>
            <a:endParaRPr lang="en-US" sz="844" dirty="0"/>
          </a:p>
          <a:p>
            <a:pPr algn="l" indent="0" marL="0">
              <a:lnSpc>
                <a:spcPts val="1266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窗口步进主导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60772" y="1546622"/>
            <a:ext cx="3936206" cy="2693194"/>
          </a:xfrm>
          <a:prstGeom prst="rect">
            <a:avLst/>
          </a:prstGeom>
          <a:solidFill>
            <a:srgbClr val="FFFFFF"/>
          </a:solidFill>
          <a:ln w="7144">
            <a:solidFill>
              <a:srgbClr val="D8D2C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0" descr="/tmp/h2p-fit-1793161152941-3954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47" y="1621631"/>
            <a:ext cx="3037656" cy="254306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4314825"/>
            <a:ext cx="394335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逐文件整段合成置信度：自然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n=5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（左）与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合成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n=20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（右），宽带信道</a:t>
            </a:r>
            <a:endParaRPr lang="en-US" sz="703" dirty="0"/>
          </a:p>
        </p:txBody>
      </p:sp>
      <p:sp>
        <p:nvSpPr>
          <p:cNvPr id="33" name="Text 30"/>
          <p:cNvSpPr/>
          <p:nvPr/>
        </p:nvSpPr>
        <p:spPr>
          <a:xfrm>
            <a:off x="4657725" y="1543050"/>
            <a:ext cx="4486275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两条如实标注的边界</a:t>
            </a:r>
            <a:endParaRPr lang="en-US" sz="1069" dirty="0"/>
          </a:p>
        </p:txBody>
      </p:sp>
      <p:sp>
        <p:nvSpPr>
          <p:cNvPr id="34" name="Text 31"/>
          <p:cNvSpPr/>
          <p:nvPr/>
        </p:nvSpPr>
        <p:spPr>
          <a:xfrm>
            <a:off x="4657725" y="1848557"/>
            <a:ext cx="84260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B14A3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16/20</a:t>
            </a:r>
            <a:endParaRPr lang="en-US" sz="1688" dirty="0"/>
          </a:p>
        </p:txBody>
      </p:sp>
      <p:sp>
        <p:nvSpPr>
          <p:cNvPr id="35" name="Text 32"/>
          <p:cNvSpPr/>
          <p:nvPr/>
        </p:nvSpPr>
        <p:spPr>
          <a:xfrm>
            <a:off x="5284366" y="1884276"/>
            <a:ext cx="34024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窄带检出率</a:t>
            </a:r>
            <a:endParaRPr lang="en-US" sz="984" dirty="0"/>
          </a:p>
        </p:txBody>
      </p:sp>
      <p:sp>
        <p:nvSpPr>
          <p:cNvPr id="36" name="Text 33"/>
          <p:cNvSpPr/>
          <p:nvPr/>
        </p:nvSpPr>
        <p:spPr>
          <a:xfrm>
            <a:off x="4657725" y="2129619"/>
            <a:ext cx="4351401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300–3400Hz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带宽直接抹掉高频信息——退化如实标注，不藏着。</a:t>
            </a:r>
            <a:endParaRPr lang="en-US" sz="844" dirty="0"/>
          </a:p>
        </p:txBody>
      </p:sp>
      <p:sp>
        <p:nvSpPr>
          <p:cNvPr id="37" name="Shape 34"/>
          <p:cNvSpPr/>
          <p:nvPr/>
        </p:nvSpPr>
        <p:spPr>
          <a:xfrm>
            <a:off x="4657725" y="2410011"/>
            <a:ext cx="4029075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7725" y="2513595"/>
            <a:ext cx="84260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B14A3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10/50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5284366" y="2549314"/>
            <a:ext cx="34024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有声书误判</a:t>
            </a:r>
            <a:endParaRPr lang="en-US" sz="984" dirty="0"/>
          </a:p>
        </p:txBody>
      </p:sp>
      <p:sp>
        <p:nvSpPr>
          <p:cNvPr id="40" name="Text 37"/>
          <p:cNvSpPr/>
          <p:nvPr/>
        </p:nvSpPr>
        <p:spPr>
          <a:xfrm>
            <a:off x="4657725" y="2794657"/>
            <a:ext cx="4029075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录音棚级自然音的「生产洁净度」与轻量特征耦合——正是启动深度引擎的直接动机，而非调参掩盖。</a:t>
            </a:r>
            <a:endParaRPr lang="en-US" sz="844" dirty="0"/>
          </a:p>
        </p:txBody>
      </p:sp>
      <p:sp>
        <p:nvSpPr>
          <p:cNvPr id="41" name="Shape 38"/>
          <p:cNvSpPr/>
          <p:nvPr/>
        </p:nvSpPr>
        <p:spPr>
          <a:xfrm>
            <a:off x="4657725" y="3251857"/>
            <a:ext cx="4029075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57725" y="3348298"/>
            <a:ext cx="4029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评测口径三层齐备：权威基准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/ t-DCF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（深度引擎阶段）· 本阶段实测 · 业务端到端全流程通过</a:t>
            </a:r>
            <a:endParaRPr lang="en-US" sz="844" dirty="0"/>
          </a:p>
        </p:txBody>
      </p:sp>
      <p:sp>
        <p:nvSpPr>
          <p:cNvPr id="43" name="Shape 40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" y="4684179"/>
            <a:ext cx="8229600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扩展测试集：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105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 × 双信道 =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条判决 · 宽带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0.876 / F1 0.917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单窗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P99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9.15ms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详见《系统测试报告》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60502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3" name="Text 11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5623471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21494"/>
            <a:ext cx="4554141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最想说的一个：把检测搬进通话里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4214813" y="685800"/>
            <a:ext cx="4471988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500188"/>
            <a:ext cx="4057650" cy="53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从离线文件检测，</a:t>
            </a:r>
            <a:endParaRPr lang="en-US" sz="1294" dirty="0"/>
          </a:p>
          <a:p>
            <a:pPr algn="l" indent="0" marL="0">
              <a:lnSpc>
                <a:spcPts val="1941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到通话级实时流式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457200" y="2107406"/>
            <a:ext cx="4057650" cy="73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既有研究与同方向获奖作品，做的都是「事后检测一段文件」。声盾的滑窗流式管线， 边通话、边判决、检出即告警——</a:t>
            </a:r>
            <a:pPr algn="l" indent="0" marL="0">
              <a:lnSpc>
                <a:spcPts val="1792"/>
              </a:lnSpc>
              <a:buNone/>
            </a:pPr>
            <a:r>
              <a:rPr lang="en-US" sz="98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提前一分钟的告警，可能就直接拦下一笔转账。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381968" y="4041577"/>
            <a:ext cx="149349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RTF&lt;0.015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4313039"/>
            <a:ext cx="1229707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，普通终端可部署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1708696" y="4041577"/>
            <a:ext cx="192778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2s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窗 /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步进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49338" y="4313039"/>
            <a:ext cx="179822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逐窗置信度实时刷新</a:t>
            </a:r>
            <a:endParaRPr lang="en-US" sz="703" dirty="0"/>
          </a:p>
        </p:txBody>
      </p:sp>
      <p:sp>
        <p:nvSpPr>
          <p:cNvPr id="28" name="Shape 26"/>
          <p:cNvSpPr/>
          <p:nvPr/>
        </p:nvSpPr>
        <p:spPr>
          <a:xfrm>
            <a:off x="4972050" y="1503759"/>
            <a:ext cx="371475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2050" y="1621631"/>
            <a:ext cx="371475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可解释引擎 + 数据校准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4972050" y="1898563"/>
            <a:ext cx="3714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判决可展开为八维特征对自然先验的偏离；校准流程主动证伪无效特征，可随样本扩展重拟合。</a:t>
            </a:r>
            <a:endParaRPr lang="en-US" sz="844" dirty="0"/>
          </a:p>
        </p:txBody>
      </p:sp>
      <p:sp>
        <p:nvSpPr>
          <p:cNvPr id="31" name="Shape 29"/>
          <p:cNvSpPr/>
          <p:nvPr/>
        </p:nvSpPr>
        <p:spPr>
          <a:xfrm>
            <a:off x="4972050" y="2601106"/>
            <a:ext cx="371475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2050" y="2718978"/>
            <a:ext cx="371475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检测—告警—存证—报告闭环</a:t>
            </a:r>
            <a:endParaRPr lang="en-US" sz="1069" dirty="0"/>
          </a:p>
        </p:txBody>
      </p:sp>
      <p:sp>
        <p:nvSpPr>
          <p:cNvPr id="33" name="Text 31"/>
          <p:cNvSpPr/>
          <p:nvPr/>
        </p:nvSpPr>
        <p:spPr>
          <a:xfrm>
            <a:off x="4972050" y="2995910"/>
            <a:ext cx="3714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四级风险分级、可疑片段时间轴、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证据链、案件编号与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核验报告——结论无须二次加工即可进入举报协查。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4972050" y="3698453"/>
            <a:ext cx="371475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2050" y="3816325"/>
            <a:ext cx="371475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现场自证的双哈希锚定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4972050" y="4093257"/>
            <a:ext cx="3714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合成挑战把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原始输出与分析副本分别哈希入库——「这份音频确由平台现场生成」无法事后构造。</a:t>
            </a:r>
            <a:endParaRPr lang="en-US" sz="844" dirty="0"/>
          </a:p>
        </p:txBody>
      </p:sp>
      <p:sp>
        <p:nvSpPr>
          <p:cNvPr id="37" name="Shape 35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C8D5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84179"/>
            <a:ext cx="833932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三个副点各服务主点：可解释让结论</a:t>
            </a:r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，闭环让结论</a:t>
            </a:r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，锚定让演示</a:t>
            </a:r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90753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6327577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07206"/>
            <a:ext cx="3946922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待会儿的现场演示，就这三步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3729038" y="671513"/>
            <a:ext cx="495776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1332309"/>
            <a:ext cx="8222456" cy="2150269"/>
          </a:xfrm>
          <a:prstGeom prst="rect">
            <a:avLst/>
          </a:prstGeom>
          <a:solidFill>
            <a:srgbClr val="FFFFFF"/>
          </a:solidFill>
          <a:ln w="7144">
            <a:solidFill>
              <a:srgbClr val="D8D2C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/tmp/h2p-fit-1793161169323-x5v2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335881"/>
            <a:ext cx="8215313" cy="214312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3557588"/>
            <a:ext cx="82296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5D6D7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声盾单页工作台：实时鉴听 / 文件检测 / 合成挑战三种模式，全程零跳转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57200" y="3790764"/>
            <a:ext cx="187412" cy="658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913" dirty="0"/>
          </a:p>
        </p:txBody>
      </p:sp>
      <p:sp>
        <p:nvSpPr>
          <p:cNvPr id="26" name="Text 23"/>
          <p:cNvSpPr/>
          <p:nvPr/>
        </p:nvSpPr>
        <p:spPr>
          <a:xfrm>
            <a:off x="708906" y="3790764"/>
            <a:ext cx="2841641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现场合成挑战</a:t>
            </a:r>
            <a:endParaRPr lang="en-US" sz="1069" dirty="0"/>
          </a:p>
        </p:txBody>
      </p:sp>
      <p:sp>
        <p:nvSpPr>
          <p:cNvPr id="27" name="Text 24"/>
          <p:cNvSpPr/>
          <p:nvPr/>
        </p:nvSpPr>
        <p:spPr>
          <a:xfrm>
            <a:off x="708906" y="4053408"/>
            <a:ext cx="2220032" cy="37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评委任意输入文本，服务端当场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合成诈骗话术语音</a:t>
            </a:r>
            <a:endParaRPr lang="en-US" sz="844" dirty="0"/>
          </a:p>
        </p:txBody>
      </p:sp>
      <p:sp>
        <p:nvSpPr>
          <p:cNvPr id="28" name="Shape 25"/>
          <p:cNvSpPr/>
          <p:nvPr/>
        </p:nvSpPr>
        <p:spPr>
          <a:xfrm>
            <a:off x="3132534" y="3790764"/>
            <a:ext cx="0" cy="609786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36131" y="3790764"/>
            <a:ext cx="187412" cy="60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913" dirty="0"/>
          </a:p>
        </p:txBody>
      </p:sp>
      <p:sp>
        <p:nvSpPr>
          <p:cNvPr id="30" name="Text 27"/>
          <p:cNvSpPr/>
          <p:nvPr/>
        </p:nvSpPr>
        <p:spPr>
          <a:xfrm>
            <a:off x="3587837" y="3790764"/>
            <a:ext cx="2220032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实时鉴听</a:t>
            </a:r>
            <a:endParaRPr lang="en-US" sz="1069" dirty="0"/>
          </a:p>
        </p:txBody>
      </p:sp>
      <p:sp>
        <p:nvSpPr>
          <p:cNvPr id="31" name="Text 28"/>
          <p:cNvSpPr/>
          <p:nvPr/>
        </p:nvSpPr>
        <p:spPr>
          <a:xfrm>
            <a:off x="3587837" y="4053408"/>
            <a:ext cx="2220032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外放同时开启鉴听：波形滚动、逐窗置信度刷新、高置信片段红色告警与提示音</a:t>
            </a:r>
            <a:endParaRPr lang="en-US" sz="844" dirty="0"/>
          </a:p>
        </p:txBody>
      </p:sp>
      <p:sp>
        <p:nvSpPr>
          <p:cNvPr id="32" name="Shape 29"/>
          <p:cNvSpPr/>
          <p:nvPr/>
        </p:nvSpPr>
        <p:spPr>
          <a:xfrm>
            <a:off x="6011466" y="3790764"/>
            <a:ext cx="0" cy="609786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5063" y="3790764"/>
            <a:ext cx="187412" cy="60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913" dirty="0"/>
          </a:p>
        </p:txBody>
      </p:sp>
      <p:sp>
        <p:nvSpPr>
          <p:cNvPr id="34" name="Text 31"/>
          <p:cNvSpPr/>
          <p:nvPr/>
        </p:nvSpPr>
        <p:spPr>
          <a:xfrm>
            <a:off x="6466768" y="3790764"/>
            <a:ext cx="2220032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存证与报告</a:t>
            </a:r>
            <a:endParaRPr lang="en-US" sz="1069" dirty="0"/>
          </a:p>
        </p:txBody>
      </p:sp>
      <p:sp>
        <p:nvSpPr>
          <p:cNvPr id="35" name="Text 32"/>
          <p:cNvSpPr/>
          <p:nvPr/>
        </p:nvSpPr>
        <p:spPr>
          <a:xfrm>
            <a:off x="6466768" y="4053408"/>
            <a:ext cx="2220032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自动固定、生成案件编号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-日期-序号、导出含时间轴与逐窗明细的核验报告</a:t>
            </a:r>
            <a:endParaRPr lang="en-US" sz="844" dirty="0"/>
          </a:p>
        </p:txBody>
      </p:sp>
      <p:sp>
        <p:nvSpPr>
          <p:cNvPr id="36" name="Shape 33"/>
          <p:cNvSpPr/>
          <p:nvPr/>
        </p:nvSpPr>
        <p:spPr>
          <a:xfrm>
            <a:off x="457200" y="4534384"/>
            <a:ext cx="8229600" cy="0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680831"/>
            <a:ext cx="6321884" cy="17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不依赖任何预置素材——文本是评委给的，音频是现场生成的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6921959" y="4637968"/>
            <a:ext cx="1764841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欢迎各位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亲手输入文本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验证。</a:t>
            </a:r>
            <a:endParaRPr lang="en-US" sz="10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90753" y="0"/>
            <a:ext cx="1830251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7031682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07206"/>
            <a:ext cx="6375797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同一道题，我们选择先解决「通话中的那几秒」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5672138" y="671513"/>
            <a:ext cx="301466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899220"/>
            <a:ext cx="7286625" cy="234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谛听、白泽都是值得尊敬的作品——差异不在高下，在切入点：它们做「事后的文件」，声盾做「进行中的通话」。</a:t>
            </a:r>
            <a:endParaRPr lang="en-US" sz="984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00213"/>
          <a:ext cx="8229600" cy="914400"/>
        </p:xfrm>
        <a:graphic>
          <a:graphicData uri="http://schemas.openxmlformats.org/drawingml/2006/table">
            <a:tbl>
              <a:tblPr/>
              <a:tblGrid>
                <a:gridCol w="1152041"/>
                <a:gridCol w="2386571"/>
                <a:gridCol w="2139665"/>
                <a:gridCol w="255132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对照维度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5725" marR="142875" marT="142875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谛听 2023 · 国三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5725" marR="142875" marT="142875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白泽 2022 · 国二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5725" marR="142875" marT="142875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声盾 本作品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5725" marR="142875" marT="142875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5D6D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检测对象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离线音频文件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深度伪造视频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B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实时通话语音流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5D6D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技术核心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RawGAT-ST + AASIST + SE-Res2Net 三网络集成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联邦学习训练范式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B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可解释轻量引擎 + 流式滑窗 + 双端复核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5D6D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业务形态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事后检测，无业务闭环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训练隐私保护视角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B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 → 告警 → 存证 → 报告闭环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5D6D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0.063%（ASVspoof 2019 LA）</a:t>
                      </a:r>
                      <a:endParaRPr lang="en-US" sz="844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论文级指标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B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RTF 实测 + 校准集检出率 + EER 路线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5D6D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部署要求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 GPU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223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多方训练环境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B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 CPU，浏览器即可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2869" marR="142875" marT="142875" marB="9286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E2D2B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684179"/>
            <a:ext cx="7750969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深度引擎（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）已列入十二周计划——站在这些作品的肩膀上，而非替代它们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8175575" y="4712754"/>
            <a:ext cx="558105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详见路线页</a:t>
            </a:r>
            <a:endParaRPr lang="en-US" sz="70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21004" y="0"/>
            <a:ext cx="1823107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7735788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21494"/>
            <a:ext cx="485775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先想清楚一位具体用户：家里的老人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4457700" y="685800"/>
            <a:ext cx="42291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500188"/>
            <a:ext cx="3914775" cy="915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5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王阿姨接到「儿子」的电话，</a:t>
            </a:r>
            <a:endParaRPr lang="en-US" sz="1294" dirty="0"/>
          </a:p>
          <a:p>
            <a:pPr algn="l" indent="0" marL="0">
              <a:lnSpc>
                <a:spcPts val="2225"/>
              </a:lnSpc>
              <a:buNone/>
            </a:pPr>
            <a:r>
              <a:rPr lang="en-US" sz="1294" b="1" dirty="0">
                <a:solidFill>
                  <a:srgbClr val="1B3A5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声音一模一样，开口就要钱。</a:t>
            </a:r>
            <a:endParaRPr lang="en-US" sz="1294" dirty="0"/>
          </a:p>
          <a:p>
            <a:pPr algn="l" indent="0" marL="0">
              <a:lnSpc>
                <a:spcPts val="2225"/>
              </a:lnSpc>
              <a:buNone/>
            </a:pPr>
            <a:r>
              <a:rPr lang="en-US" sz="1294" b="1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如果她的手机里装着声盾——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457200" y="2476314"/>
            <a:ext cx="3914775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接通后几秒，界面亮起黄色提示「存在可疑片段」；她挂断前， 证据已固定、编号已生成、报告可一键转发给子女或反诈专线。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57200" y="3026383"/>
            <a:ext cx="3914775" cy="4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适老化不是缩小版：大字号、高对比、语音播报提示；子女可为父母预装，异常时收到提醒。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857750" y="1500188"/>
            <a:ext cx="428625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机构侧 · 三个具体接入位</a:t>
            </a:r>
            <a:endParaRPr lang="en-US" sz="1069" dirty="0"/>
          </a:p>
        </p:txBody>
      </p:sp>
      <p:sp>
        <p:nvSpPr>
          <p:cNvPr id="26" name="Shape 24"/>
          <p:cNvSpPr/>
          <p:nvPr/>
        </p:nvSpPr>
        <p:spPr>
          <a:xfrm>
            <a:off x="4857750" y="1780691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1848557"/>
            <a:ext cx="38290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支付机构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电话渠道大额转账的附加风控信号，高风险通话触发人工复核或延迟到账</a:t>
            </a:r>
            <a:endParaRPr lang="en-US" sz="844" dirty="0"/>
          </a:p>
        </p:txBody>
      </p:sp>
      <p:sp>
        <p:nvSpPr>
          <p:cNvPr id="28" name="Shape 26"/>
          <p:cNvSpPr/>
          <p:nvPr/>
        </p:nvSpPr>
        <p:spPr>
          <a:xfrm>
            <a:off x="4857750" y="2263564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7750" y="2331430"/>
            <a:ext cx="393877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反诈中心 / 派出所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核验报告的哈希证据链，作为群众举报材料的标准化载体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857750" y="2572866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7750" y="2640732"/>
            <a:ext cx="393877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内容平台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流式形态嵌入语音弹幕、语音评论的实时审核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857750" y="3007184"/>
            <a:ext cx="428625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治理侧 · 三条对应关系</a:t>
            </a:r>
            <a:endParaRPr lang="en-US" sz="1069" dirty="0"/>
          </a:p>
        </p:txBody>
      </p:sp>
      <p:sp>
        <p:nvSpPr>
          <p:cNvPr id="33" name="Shape 31"/>
          <p:cNvSpPr/>
          <p:nvPr/>
        </p:nvSpPr>
        <p:spPr>
          <a:xfrm>
            <a:off x="4857750" y="3287688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7750" y="3355553"/>
            <a:ext cx="393877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《反电信网络诈骗法》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全民反诈框架下的普惠工具落地</a:t>
            </a:r>
            <a:endParaRPr lang="en-US" sz="844" dirty="0"/>
          </a:p>
        </p:txBody>
      </p:sp>
      <p:sp>
        <p:nvSpPr>
          <p:cNvPr id="35" name="Shape 33"/>
          <p:cNvSpPr/>
          <p:nvPr/>
        </p:nvSpPr>
        <p:spPr>
          <a:xfrm>
            <a:off x="4857750" y="3596990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7750" y="3664855"/>
            <a:ext cx="3938778" cy="173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《深度合成管理规定》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内容治理的可审计检测实践</a:t>
            </a:r>
            <a:endParaRPr lang="en-US" sz="844" dirty="0"/>
          </a:p>
        </p:txBody>
      </p:sp>
      <p:sp>
        <p:nvSpPr>
          <p:cNvPr id="37" name="Shape 35"/>
          <p:cNvSpPr/>
          <p:nvPr/>
        </p:nvSpPr>
        <p:spPr>
          <a:xfrm>
            <a:off x="4857750" y="3906292"/>
            <a:ext cx="382905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7750" y="3974157"/>
            <a:ext cx="382905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证据链设计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为涉诈电子材料规范化提供参考</a:t>
            </a:r>
            <a:endParaRPr lang="en-US" sz="844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75584"/>
            <a:ext cx="82296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说清楚边界：声盾定位</a:t>
            </a:r>
            <a:pPr algn="l" indent="0" marL="0">
              <a:lnSpc>
                <a:spcPts val="1434"/>
              </a:lnSpc>
              <a:buNone/>
            </a:pPr>
            <a:r>
              <a:rPr lang="en-US" sz="844" b="1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辅助验真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，结论附带置信度与不确定性说明，不构成执法结论；演示音频均为平台现场合成或公有领域样本。</a:t>
            </a:r>
            <a:endParaRPr lang="en-US" sz="8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问题与定位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5611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系统与引擎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17936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5862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评测与创新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48187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8FA0B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21004" y="0"/>
            <a:ext cx="1823107" cy="278606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前景与计划</a:t>
            </a:r>
            <a:endParaRPr lang="en-US" sz="759" dirty="0"/>
          </a:p>
        </p:txBody>
      </p:sp>
      <p:sp>
        <p:nvSpPr>
          <p:cNvPr id="18" name="Text 16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285750"/>
            <a:ext cx="8439894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521494"/>
            <a:ext cx="4554141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十二周，从轻量引擎走到深度集成</a:t>
            </a:r>
            <a:endParaRPr lang="en-US" sz="1913" dirty="0"/>
          </a:p>
        </p:txBody>
      </p:sp>
      <p:sp>
        <p:nvSpPr>
          <p:cNvPr id="21" name="Text 19"/>
          <p:cNvSpPr/>
          <p:nvPr/>
        </p:nvSpPr>
        <p:spPr>
          <a:xfrm>
            <a:off x="4214813" y="685800"/>
            <a:ext cx="4471988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8A6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927795"/>
            <a:ext cx="7000875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98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轻量可解释引擎是第一阶段的诚实交付；深度引擎不是推翻它，而是把「有声书误判、窄带退化」这两个已知边界补上——每一阶段都有可检验的交付物。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3091346"/>
            <a:ext cx="8229600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3212790"/>
            <a:ext cx="19748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7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W01–02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67719" y="3212790"/>
            <a:ext cx="19748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7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W03–05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78238" y="3212790"/>
            <a:ext cx="19748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7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W06–07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88757" y="3212790"/>
            <a:ext cx="1787277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7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W10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11753" y="3212790"/>
            <a:ext cx="513176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70" kern="0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W11–12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443176"/>
            <a:ext cx="1624653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基线复现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457200" y="3705820"/>
            <a:ext cx="1469396" cy="551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按官方流程在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2019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训练评测，工程正确性的锚点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57200" y="4284464"/>
            <a:ext cx="162465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同量级基线</a:t>
            </a:r>
            <a:endParaRPr lang="en-US" sz="703" dirty="0"/>
          </a:p>
        </p:txBody>
      </p:sp>
      <p:sp>
        <p:nvSpPr>
          <p:cNvPr id="32" name="Shape 30"/>
          <p:cNvSpPr/>
          <p:nvPr/>
        </p:nvSpPr>
        <p:spPr>
          <a:xfrm>
            <a:off x="2047019" y="3443176"/>
            <a:ext cx="0" cy="98594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0616" y="3443176"/>
            <a:ext cx="1320143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双网络融合</a:t>
            </a:r>
            <a:endParaRPr lang="en-US" sz="1069" dirty="0"/>
          </a:p>
        </p:txBody>
      </p:sp>
      <p:sp>
        <p:nvSpPr>
          <p:cNvPr id="34" name="Text 32"/>
          <p:cNvSpPr/>
          <p:nvPr/>
        </p:nvSpPr>
        <p:spPr>
          <a:xfrm>
            <a:off x="2250616" y="3705820"/>
            <a:ext cx="132014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 + 软投票集成 + 消融实验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2250616" y="4113014"/>
            <a:ext cx="132014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消融表</a:t>
            </a:r>
            <a:endParaRPr lang="en-US" sz="703" dirty="0"/>
          </a:p>
        </p:txBody>
      </p:sp>
      <p:sp>
        <p:nvSpPr>
          <p:cNvPr id="36" name="Shape 34"/>
          <p:cNvSpPr/>
          <p:nvPr/>
        </p:nvSpPr>
        <p:spPr>
          <a:xfrm>
            <a:off x="3774356" y="3443176"/>
            <a:ext cx="0" cy="98594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953" y="3443176"/>
            <a:ext cx="1320143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轻量化</a:t>
            </a:r>
            <a:endParaRPr lang="en-US" sz="1069" dirty="0"/>
          </a:p>
        </p:txBody>
      </p:sp>
      <p:sp>
        <p:nvSpPr>
          <p:cNvPr id="38" name="Text 36"/>
          <p:cNvSpPr/>
          <p:nvPr/>
        </p:nvSpPr>
        <p:spPr>
          <a:xfrm>
            <a:off x="3977953" y="3705820"/>
            <a:ext cx="132014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动态量化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推理，蒸馏兜底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3977953" y="4113014"/>
            <a:ext cx="132014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RTF&lt;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实测</a:t>
            </a:r>
            <a:endParaRPr lang="en-US" sz="703" dirty="0"/>
          </a:p>
        </p:txBody>
      </p:sp>
      <p:sp>
        <p:nvSpPr>
          <p:cNvPr id="40" name="Shape 38"/>
          <p:cNvSpPr/>
          <p:nvPr/>
        </p:nvSpPr>
        <p:spPr>
          <a:xfrm>
            <a:off x="5501692" y="3443176"/>
            <a:ext cx="0" cy="98594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289" y="3443176"/>
            <a:ext cx="1320143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跨信道评测</a:t>
            </a:r>
            <a:endParaRPr lang="en-US" sz="1069" dirty="0"/>
          </a:p>
        </p:txBody>
      </p:sp>
      <p:sp>
        <p:nvSpPr>
          <p:cNvPr id="42" name="Text 40"/>
          <p:cNvSpPr/>
          <p:nvPr/>
        </p:nvSpPr>
        <p:spPr>
          <a:xfrm>
            <a:off x="5705289" y="3705820"/>
            <a:ext cx="139935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2021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自建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8kHz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窄带子集 +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Rawboost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5705289" y="4113014"/>
            <a:ext cx="132014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8kHz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窄带子集</a:t>
            </a:r>
            <a:endParaRPr lang="en-US" sz="703" dirty="0"/>
          </a:p>
        </p:txBody>
      </p:sp>
      <p:sp>
        <p:nvSpPr>
          <p:cNvPr id="44" name="Shape 42"/>
          <p:cNvSpPr/>
          <p:nvPr/>
        </p:nvSpPr>
        <p:spPr>
          <a:xfrm>
            <a:off x="7229029" y="3443176"/>
            <a:ext cx="0" cy="985949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2625" y="3443176"/>
            <a:ext cx="1254175" cy="235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联调与答辩</a:t>
            </a:r>
            <a:endParaRPr lang="en-US" sz="1069" dirty="0"/>
          </a:p>
        </p:txBody>
      </p:sp>
      <p:sp>
        <p:nvSpPr>
          <p:cNvPr id="46" name="Text 44"/>
          <p:cNvSpPr/>
          <p:nvPr/>
        </p:nvSpPr>
        <p:spPr>
          <a:xfrm>
            <a:off x="7432625" y="3705820"/>
            <a:ext cx="12541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演示排练、测试数据、报告与视频定稿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7432625" y="4113014"/>
            <a:ext cx="12541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A6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定稿材料</a:t>
            </a:r>
            <a:endParaRPr lang="en-US" sz="703" dirty="0"/>
          </a:p>
        </p:txBody>
      </p:sp>
      <p:sp>
        <p:nvSpPr>
          <p:cNvPr id="48" name="Shape 46"/>
          <p:cNvSpPr/>
          <p:nvPr/>
        </p:nvSpPr>
        <p:spPr>
          <a:xfrm>
            <a:off x="457200" y="4580595"/>
            <a:ext cx="8229600" cy="0"/>
          </a:xfrm>
          <a:prstGeom prst="line">
            <a:avLst/>
          </a:prstGeom>
          <a:noFill/>
          <a:ln w="7144">
            <a:solidFill>
              <a:srgbClr val="D8D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05610"/>
            <a:ext cx="6002982" cy="15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开源底座：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clovaai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asvspoof-challenge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Rawboost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6603057" y="4684179"/>
            <a:ext cx="208374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架构已预留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替换接口，业务层零改动</a:t>
            </a:r>
            <a:endParaRPr lang="en-US" sz="8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964" y="3614738"/>
            <a:ext cx="4404036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0"/>
              </a:lnSpc>
              <a:buNone/>
            </a:pPr>
            <a:r>
              <a:rPr lang="en-US" sz="19125" dirty="0">
                <a:solidFill>
                  <a:srgbClr val="C9A227">
                    <a:alpha val="9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</a:t>
            </a:r>
            <a:endParaRPr lang="en-US" sz="191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072188" y="0"/>
            <a:ext cx="3071813" cy="1214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72188" y="0"/>
            <a:ext cx="3071813" cy="12144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14350" y="1200150"/>
            <a:ext cx="7760646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SHIELDEAR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1530548"/>
            <a:ext cx="5429250" cy="162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2475" b="1" dirty="0">
                <a:solidFill>
                  <a:srgbClr val="F2EFE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下一次接到「熟人」来电，</a:t>
            </a:r>
            <a:endParaRPr lang="en-US" sz="2475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75" b="1" dirty="0">
                <a:solidFill>
                  <a:srgbClr val="F2EFE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希望几秒钟后，你手里</a:t>
            </a:r>
            <a:endParaRPr lang="en-US" sz="2475" dirty="0"/>
          </a:p>
          <a:p>
            <a:pPr algn="l" indent="0" marL="0">
              <a:lnSpc>
                <a:spcPts val="3960"/>
              </a:lnSpc>
              <a:buNone/>
            </a:pPr>
            <a:r>
              <a:rPr lang="en-US" sz="2475" b="1" dirty="0">
                <a:solidFill>
                  <a:srgbClr val="F2EFE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能有一个</a:t>
            </a:r>
            <a:pPr algn="l" indent="0" marL="0">
              <a:lnSpc>
                <a:spcPts val="3960"/>
              </a:lnSpc>
              <a:buNone/>
            </a:pPr>
            <a:r>
              <a:rPr lang="en-US" sz="2475" b="1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可以相信的答案</a:t>
            </a:r>
            <a:pPr algn="l" indent="0" marL="0">
              <a:lnSpc>
                <a:spcPts val="3960"/>
              </a:lnSpc>
              <a:buNone/>
            </a:pPr>
            <a:r>
              <a:rPr lang="en-US" sz="2475" b="1" dirty="0">
                <a:solidFill>
                  <a:srgbClr val="F2EFE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。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6760202" y="1071563"/>
            <a:ext cx="1869448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120" kern="0" dirty="0">
                <a:solidFill>
                  <a:srgbClr val="EFEBD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案例库 · 随时可查</a:t>
            </a:r>
            <a:endParaRPr lang="en-US" sz="703" dirty="0"/>
          </a:p>
        </p:txBody>
      </p:sp>
      <p:sp>
        <p:nvSpPr>
          <p:cNvPr id="8" name="Text 5"/>
          <p:cNvSpPr/>
          <p:nvPr/>
        </p:nvSpPr>
        <p:spPr>
          <a:xfrm>
            <a:off x="7166967" y="1287661"/>
            <a:ext cx="1462683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EFEBDD">
                    <a:alpha val="85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SS-20261028-0003</a:t>
            </a:r>
            <a:endParaRPr lang="en-US" sz="1069" dirty="0"/>
          </a:p>
        </p:txBody>
      </p:sp>
      <p:sp>
        <p:nvSpPr>
          <p:cNvPr id="9" name="Text 6"/>
          <p:cNvSpPr/>
          <p:nvPr/>
        </p:nvSpPr>
        <p:spPr>
          <a:xfrm>
            <a:off x="7236619" y="1571737"/>
            <a:ext cx="1393031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EFEBDD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现场合成 · 当场检出 · 双哈希入库</a:t>
            </a:r>
            <a:endParaRPr lang="en-US" sz="703" dirty="0"/>
          </a:p>
          <a:p>
            <a:pPr algn="r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EFEBDD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答辩中生成的每一件证据都可复核</a:t>
            </a:r>
            <a:endParaRPr lang="en-US" sz="703" dirty="0"/>
          </a:p>
        </p:txBody>
      </p:sp>
      <p:sp>
        <p:nvSpPr>
          <p:cNvPr id="10" name="Shape 7"/>
          <p:cNvSpPr/>
          <p:nvPr/>
        </p:nvSpPr>
        <p:spPr>
          <a:xfrm>
            <a:off x="5772150" y="3239691"/>
            <a:ext cx="2857500" cy="0"/>
          </a:xfrm>
          <a:prstGeom prst="line">
            <a:avLst/>
          </a:prstGeom>
          <a:noFill/>
          <a:ln w="7144">
            <a:solidFill>
              <a:srgbClr val="2E4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2150" y="3314700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FEBDD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现场演示就绪 · 评审可任意出题</a:t>
            </a:r>
            <a:endParaRPr lang="en-US" sz="844" dirty="0"/>
          </a:p>
        </p:txBody>
      </p:sp>
      <p:sp>
        <p:nvSpPr>
          <p:cNvPr id="12" name="Shape 9"/>
          <p:cNvSpPr/>
          <p:nvPr/>
        </p:nvSpPr>
        <p:spPr>
          <a:xfrm>
            <a:off x="5772150" y="3561159"/>
            <a:ext cx="2857500" cy="0"/>
          </a:xfrm>
          <a:prstGeom prst="line">
            <a:avLst/>
          </a:prstGeom>
          <a:noFill/>
          <a:ln w="7144">
            <a:solidFill>
              <a:srgbClr val="2E4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2150" y="3636169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FEBDD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证据链与案件库可当场复核</a:t>
            </a:r>
            <a:endParaRPr lang="en-US" sz="844" dirty="0"/>
          </a:p>
        </p:txBody>
      </p:sp>
      <p:sp>
        <p:nvSpPr>
          <p:cNvPr id="14" name="Shape 11"/>
          <p:cNvSpPr/>
          <p:nvPr/>
        </p:nvSpPr>
        <p:spPr>
          <a:xfrm>
            <a:off x="5772150" y="3882628"/>
            <a:ext cx="2857500" cy="0"/>
          </a:xfrm>
          <a:prstGeom prst="line">
            <a:avLst/>
          </a:prstGeom>
          <a:noFill/>
          <a:ln w="7144">
            <a:solidFill>
              <a:srgbClr val="2E4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72150" y="3957638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FEBDD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引擎与测试代码随作品提交</a:t>
            </a:r>
            <a:endParaRPr lang="en-US" sz="844" dirty="0"/>
          </a:p>
        </p:txBody>
      </p:sp>
      <p:sp>
        <p:nvSpPr>
          <p:cNvPr id="16" name="Shape 13"/>
          <p:cNvSpPr/>
          <p:nvPr/>
        </p:nvSpPr>
        <p:spPr>
          <a:xfrm>
            <a:off x="514350" y="4484377"/>
            <a:ext cx="8115300" cy="0"/>
          </a:xfrm>
          <a:prstGeom prst="line">
            <a:avLst/>
          </a:prstGeom>
          <a:noFill/>
          <a:ln w="7144">
            <a:solidFill>
              <a:srgbClr val="2E4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350" y="4609393"/>
            <a:ext cx="6271654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2EFE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谢谢聆听，恳请各位评委批评指正</a:t>
            </a:r>
            <a:endParaRPr lang="en-US" sz="1069" dirty="0"/>
          </a:p>
        </p:txBody>
      </p:sp>
      <p:sp>
        <p:nvSpPr>
          <p:cNvPr id="18" name="Text 15"/>
          <p:cNvSpPr/>
          <p:nvPr/>
        </p:nvSpPr>
        <p:spPr>
          <a:xfrm>
            <a:off x="6800292" y="4652256"/>
            <a:ext cx="1829358" cy="176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EFEBDD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【团队名称】 · 大连理工大学 ·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EFEBDD">
                    <a:alpha val="60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2026.10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2026-10-28T04:19:31Z</dcterms:created>
  <dcterms:modified xsi:type="dcterms:W3CDTF">2026-10-28T04:19:31Z</dcterms:modified>
</cp:coreProperties>
</file>